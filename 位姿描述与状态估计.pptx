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8" r:id="rId3"/>
    <p:sldId id="303" r:id="rId4"/>
    <p:sldId id="304" r:id="rId6"/>
    <p:sldId id="305" r:id="rId7"/>
    <p:sldId id="262" r:id="rId8"/>
    <p:sldId id="277" r:id="rId9"/>
    <p:sldId id="307" r:id="rId10"/>
    <p:sldId id="308" r:id="rId11"/>
    <p:sldId id="310" r:id="rId12"/>
    <p:sldId id="311" r:id="rId13"/>
    <p:sldId id="259" r:id="rId14"/>
    <p:sldId id="260" r:id="rId15"/>
    <p:sldId id="263" r:id="rId16"/>
    <p:sldId id="266" r:id="rId17"/>
    <p:sldId id="269" r:id="rId18"/>
    <p:sldId id="312" r:id="rId19"/>
    <p:sldId id="313" r:id="rId20"/>
    <p:sldId id="314" r:id="rId21"/>
    <p:sldId id="275" r:id="rId22"/>
    <p:sldId id="316" r:id="rId23"/>
    <p:sldId id="276" r:id="rId24"/>
    <p:sldId id="274" r:id="rId25"/>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gs" Target="tags/tag5.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我们要做的就是让机器人精确地，自动地完成任务</a:t>
            </a:r>
            <a:endParaRPr lang="zh-CN" altLang="en-US"/>
          </a:p>
          <a:p>
            <a:r>
              <a:rPr lang="zh-CN" altLang="en-US"/>
              <a:t>一：首先清楚自己的状态</a:t>
            </a:r>
            <a:endParaRPr lang="zh-CN" altLang="en-US"/>
          </a:p>
          <a:p>
            <a:pPr indent="457200"/>
            <a:r>
              <a:rPr lang="zh-CN" altLang="en-US"/>
              <a:t>且不说不清楚自己朝着那个方向，要求远超人类，比如知道抬头仰角的具体角度</a:t>
            </a:r>
            <a:endParaRPr lang="zh-CN" altLang="en-US"/>
          </a:p>
          <a:p>
            <a:pPr indent="457200"/>
            <a:r>
              <a:rPr lang="zh-CN" altLang="en-US"/>
              <a:t>之后讲机器人的状态描述</a:t>
            </a:r>
            <a:endParaRPr lang="zh-CN" altLang="en-US"/>
          </a:p>
          <a:p>
            <a:pPr indent="0"/>
            <a:r>
              <a:rPr lang="zh-CN" altLang="en-US"/>
              <a:t>二：动态感知环境</a:t>
            </a:r>
            <a:endParaRPr lang="zh-CN" altLang="en-US"/>
          </a:p>
          <a:p>
            <a:pPr indent="457200"/>
            <a:r>
              <a:rPr lang="zh-CN" altLang="en-US"/>
              <a:t>不能自然语言描述，纳入数学语言</a:t>
            </a:r>
            <a:endParaRPr lang="zh-CN" altLang="en-US"/>
          </a:p>
          <a:p>
            <a:pPr indent="457200"/>
            <a:r>
              <a:rPr lang="zh-CN" altLang="en-US"/>
              <a:t>如何感知：三维重建</a:t>
            </a:r>
            <a:endParaRPr lang="zh-CN" altLang="en-US"/>
          </a:p>
          <a:p>
            <a:pPr indent="457200"/>
            <a:r>
              <a:rPr lang="zh-CN" altLang="en-US"/>
              <a:t>不同来源的数据，怎么融合</a:t>
            </a:r>
            <a:endParaRPr lang="zh-CN" altLang="en-US"/>
          </a:p>
          <a:p>
            <a:pPr marL="457200" lvl="1" indent="457200"/>
            <a:r>
              <a:rPr lang="zh-CN" altLang="en-US"/>
              <a:t>陀螺仪、加速度计、视觉里程计等</a:t>
            </a:r>
            <a:endParaRPr lang="zh-CN" altLang="en-US"/>
          </a:p>
          <a:p>
            <a:pPr indent="0"/>
            <a:r>
              <a:rPr lang="zh-CN" altLang="en-US"/>
              <a:t>两个问题：</a:t>
            </a:r>
            <a:endParaRPr lang="zh-CN" altLang="en-US"/>
          </a:p>
          <a:p>
            <a:pPr indent="0"/>
            <a:r>
              <a:rPr lang="zh-CN" altLang="en-US"/>
              <a:t>一：噪声和异常信息</a:t>
            </a:r>
            <a:endParaRPr lang="zh-CN" altLang="en-US"/>
          </a:p>
          <a:p>
            <a:pPr indent="457200"/>
            <a:r>
              <a:rPr lang="zh-CN" altLang="en-US"/>
              <a:t>异常信息：机器人死板，影响大</a:t>
            </a:r>
            <a:endParaRPr lang="zh-CN" altLang="en-US"/>
          </a:p>
          <a:p>
            <a:pPr indent="457200"/>
            <a:r>
              <a:rPr lang="zh-CN" altLang="en-US"/>
              <a:t>对线性处理不友好：差分大，甩飞</a:t>
            </a:r>
            <a:endParaRPr lang="zh-CN" altLang="en-US"/>
          </a:p>
          <a:p>
            <a:pPr indent="457200"/>
            <a:r>
              <a:rPr lang="zh-CN" altLang="en-US"/>
              <a:t>不可控</a:t>
            </a:r>
            <a:endParaRPr lang="zh-CN" altLang="en-US"/>
          </a:p>
          <a:p>
            <a:pPr indent="0"/>
            <a:r>
              <a:rPr lang="zh-CN" altLang="en-US"/>
              <a:t>二：不止于识别，更是理解和预测</a:t>
            </a:r>
            <a:endParaRPr lang="zh-CN" altLang="en-US"/>
          </a:p>
          <a:p>
            <a:pPr indent="457200"/>
            <a:r>
              <a:rPr lang="zh-CN" altLang="en-US"/>
              <a:t>跟踪和跟随的区别，跟随永远慢人一步</a:t>
            </a:r>
            <a:endParaRPr lang="zh-CN" altLang="en-US"/>
          </a:p>
          <a:p>
            <a:pPr indent="457200"/>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两个例子：</a:t>
            </a:r>
            <a:endParaRPr lang="zh-CN" altLang="en-US"/>
          </a:p>
          <a:p>
            <a:pPr indent="457200"/>
            <a:r>
              <a:rPr lang="zh-CN" altLang="en-US"/>
              <a:t>自瞄的全流程</a:t>
            </a:r>
            <a:endParaRPr lang="zh-CN" altLang="en-US"/>
          </a:p>
          <a:p>
            <a:pPr indent="457200"/>
            <a:r>
              <a:rPr lang="zh-CN" altLang="en-US"/>
              <a:t>导航也对应上面说的：</a:t>
            </a:r>
            <a:endParaRPr lang="zh-CN" altLang="en-US"/>
          </a:p>
          <a:p>
            <a:pPr marL="457200" lvl="1" indent="457200"/>
            <a:r>
              <a:rPr lang="zh-CN" altLang="en-US"/>
              <a:t>精确感知环境</a:t>
            </a:r>
            <a:endParaRPr lang="zh-CN" altLang="en-US"/>
          </a:p>
          <a:p>
            <a:pPr marL="457200" lvl="1" indent="457200"/>
            <a:r>
              <a:rPr lang="zh-CN" altLang="en-US"/>
              <a:t>自身位姿：跑偏，特殊情况：上坡，过洞</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回归正题：</a:t>
            </a:r>
            <a:endParaRPr lang="zh-CN" altLang="en-US"/>
          </a:p>
          <a:p>
            <a:pPr indent="0"/>
            <a:r>
              <a:rPr lang="zh-CN" altLang="en-US"/>
              <a:t>如何描述自身姿态</a:t>
            </a:r>
            <a:endParaRPr lang="zh-CN" altLang="en-US"/>
          </a:p>
          <a:p>
            <a:pPr indent="457200"/>
            <a:r>
              <a:rPr lang="zh-CN" altLang="en-US"/>
              <a:t>对机器人归纳总结：连杆、关节、自由度，和人一样</a:t>
            </a:r>
            <a:endParaRPr lang="zh-CN" altLang="en-US"/>
          </a:p>
          <a:p>
            <a:pPr indent="457200"/>
            <a:r>
              <a:rPr lang="zh-CN" altLang="en-US"/>
              <a:t>选取一个坐标系为基准，以平移和旋转量化每个关节</a:t>
            </a:r>
            <a:endParaRPr lang="zh-CN" altLang="en-US"/>
          </a:p>
          <a:p>
            <a:pPr indent="0"/>
            <a:r>
              <a:rPr lang="zh-CN" altLang="en-US"/>
              <a:t>那么在机器人特别是</a:t>
            </a:r>
            <a:r>
              <a:rPr lang="en-US" altLang="zh-CN"/>
              <a:t>slam</a:t>
            </a:r>
            <a:r>
              <a:rPr lang="zh-CN" altLang="en-US"/>
              <a:t>领域有几个常见约定：</a:t>
            </a:r>
            <a:endParaRPr lang="zh-CN" altLang="en-US"/>
          </a:p>
          <a:p>
            <a:pPr indent="457200"/>
            <a:r>
              <a:rPr lang="en-US" altLang="zh-CN"/>
              <a:t>map</a:t>
            </a:r>
            <a:r>
              <a:rPr lang="zh-CN" altLang="en-US"/>
              <a:t>地面坐标系</a:t>
            </a:r>
            <a:r>
              <a:rPr lang="en-US" altLang="zh-CN"/>
              <a:t>,</a:t>
            </a:r>
            <a:r>
              <a:rPr lang="zh-CN" altLang="en-US"/>
              <a:t>地面，是不变的</a:t>
            </a:r>
            <a:endParaRPr lang="zh-CN" altLang="en-US"/>
          </a:p>
          <a:p>
            <a:pPr indent="457200"/>
            <a:r>
              <a:rPr lang="en-US" altLang="zh-CN"/>
              <a:t>base_link</a:t>
            </a:r>
            <a:r>
              <a:rPr lang="zh-CN" altLang="en-US"/>
              <a:t>机器人本体坐标系，和机器人中心重合</a:t>
            </a:r>
            <a:endParaRPr lang="zh-CN" altLang="en-US"/>
          </a:p>
          <a:p>
            <a:pPr indent="457200"/>
            <a:r>
              <a:rPr lang="en-US" altLang="zh-CN"/>
              <a:t>odom</a:t>
            </a:r>
            <a:r>
              <a:rPr lang="zh-CN" altLang="en-US"/>
              <a:t>里程计坐标系，里程计的记录相当于机器人本体在</a:t>
            </a:r>
            <a:r>
              <a:rPr lang="en-US" altLang="zh-CN"/>
              <a:t>map</a:t>
            </a:r>
            <a:r>
              <a:rPr lang="zh-CN" altLang="en-US"/>
              <a:t>的位移</a:t>
            </a:r>
            <a:endParaRPr lang="zh-CN" altLang="en-US"/>
          </a:p>
          <a:p>
            <a:pPr marL="457200" lvl="1" indent="457200"/>
            <a:r>
              <a:rPr lang="zh-CN" altLang="en-US"/>
              <a:t>但里程计有误差，从机器人本体反解出和</a:t>
            </a:r>
            <a:r>
              <a:rPr lang="en-US" altLang="zh-CN"/>
              <a:t>map</a:t>
            </a:r>
            <a:r>
              <a:rPr lang="zh-CN" altLang="en-US"/>
              <a:t>差不多的坐标系</a:t>
            </a:r>
            <a:endParaRPr lang="zh-CN" altLang="en-US"/>
          </a:p>
          <a:p>
            <a:pPr indent="457200"/>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现在正式给出位姿描述的约定：</a:t>
            </a:r>
            <a:endParaRPr lang="zh-CN" altLang="en-US"/>
          </a:p>
          <a:p>
            <a:pPr indent="457200"/>
            <a:r>
              <a:rPr lang="zh-CN" altLang="en-US"/>
              <a:t>首先是基本元素点和坐标系：</a:t>
            </a:r>
            <a:endParaRPr lang="zh-CN" altLang="en-US"/>
          </a:p>
          <a:p>
            <a:pPr marL="457200" lvl="1" indent="457200"/>
            <a:r>
              <a:rPr lang="zh-CN" altLang="en-US"/>
              <a:t>任意点的位置由他的坐标系描述</a:t>
            </a:r>
            <a:endParaRPr lang="zh-CN" altLang="en-US"/>
          </a:p>
          <a:p>
            <a:pPr marL="457200" lvl="1" indent="457200"/>
            <a:r>
              <a:rPr lang="zh-CN" altLang="en-US"/>
              <a:t>同时有了向量，表示平移</a:t>
            </a:r>
            <a:endParaRPr lang="zh-CN" altLang="en-US"/>
          </a:p>
          <a:p>
            <a:pPr marL="457200" lvl="1" indent="0"/>
            <a:r>
              <a:rPr lang="zh-CN" altLang="en-US"/>
              <a:t>然后是刚体，他有自身的固定状态和位姿：</a:t>
            </a:r>
            <a:endParaRPr lang="zh-CN" altLang="en-US"/>
          </a:p>
          <a:p>
            <a:pPr marL="457200" lvl="1" indent="457200"/>
            <a:r>
              <a:rPr lang="zh-CN" altLang="en-US"/>
              <a:t>我们将刚体和一个坐标系绑定</a:t>
            </a:r>
            <a:endParaRPr lang="zh-CN" altLang="en-US"/>
          </a:p>
          <a:p>
            <a:pPr marL="914400" lvl="2" indent="457200"/>
            <a:r>
              <a:rPr lang="zh-CN" altLang="en-US"/>
              <a:t>一是方便描述他自己的固有状态，比如他的左上角是什么等等</a:t>
            </a:r>
            <a:endParaRPr lang="zh-CN" altLang="en-US"/>
          </a:p>
          <a:p>
            <a:pPr marL="914400" lvl="2" indent="457200"/>
            <a:r>
              <a:rPr lang="zh-CN" altLang="en-US"/>
              <a:t>二、和其他刚体通过关节相连，方便描述位姿变换的传递</a:t>
            </a:r>
            <a:endParaRPr lang="zh-CN" altLang="en-US"/>
          </a:p>
          <a:p>
            <a:pPr marL="457200" lvl="1" indent="0"/>
            <a:r>
              <a:rPr lang="zh-CN" altLang="en-US"/>
              <a:t>那么平移有了，怎么表示旋转</a:t>
            </a:r>
            <a:endParaRPr lang="zh-CN" altLang="en-US"/>
          </a:p>
          <a:p>
            <a:pPr marL="457200" lvl="1" indent="457200"/>
            <a:r>
              <a:rPr lang="zh-CN" altLang="en-US"/>
              <a:t>旋转是线性变换，线性变换可以用矩阵乘法描述</a:t>
            </a:r>
            <a:endParaRPr lang="zh-CN" altLang="en-US"/>
          </a:p>
          <a:p>
            <a:pPr marL="914400" lvl="2" indent="457200"/>
            <a:r>
              <a:rPr lang="zh-CN" altLang="en-US"/>
              <a:t>和这里与刚体绑定的坐标系变换相吻合，是基的变换</a:t>
            </a:r>
            <a:endParaRPr lang="zh-CN" altLang="en-US"/>
          </a:p>
          <a:p>
            <a:pPr marL="914400" lvl="2" indent="0"/>
            <a:r>
              <a:rPr lang="zh-CN" altLang="en-US"/>
              <a:t>只要左乘一个矩阵就行了</a:t>
            </a:r>
            <a:endParaRPr lang="zh-CN" altLang="en-US"/>
          </a:p>
          <a:p>
            <a:pPr marL="914400" lvl="2" indent="0"/>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位姿可以这样表示：</a:t>
            </a:r>
            <a:endParaRPr lang="zh-CN" altLang="en-US"/>
          </a:p>
          <a:p>
            <a:pPr indent="457200"/>
            <a:r>
              <a:rPr lang="zh-CN" altLang="en-US"/>
              <a:t>旋转加平移</a:t>
            </a:r>
            <a:endParaRPr lang="zh-CN" altLang="en-US"/>
          </a:p>
          <a:p>
            <a:pPr indent="457200"/>
            <a:r>
              <a:rPr lang="zh-CN" altLang="en-US"/>
              <a:t>但他多次变换就变成了递推的形式，不方便表达，不是线性变换</a:t>
            </a:r>
            <a:endParaRPr lang="zh-CN" altLang="en-US"/>
          </a:p>
          <a:p>
            <a:pPr indent="0"/>
            <a:r>
              <a:rPr lang="zh-CN" altLang="en-US"/>
              <a:t>于是我们加一个维度</a:t>
            </a:r>
            <a:endParaRPr lang="zh-CN" altLang="en-US"/>
          </a:p>
          <a:p>
            <a:pPr indent="457200"/>
            <a:r>
              <a:rPr lang="zh-CN" altLang="en-US"/>
              <a:t>对于</a:t>
            </a:r>
            <a:r>
              <a:rPr lang="en-US" altLang="zh-CN"/>
              <a:t>a</a:t>
            </a:r>
            <a:r>
              <a:rPr lang="zh-CN" altLang="en-US"/>
              <a:t>来说确实是旋转加平移</a:t>
            </a:r>
            <a:endParaRPr lang="zh-CN" altLang="en-US"/>
          </a:p>
          <a:p>
            <a:pPr indent="457200"/>
            <a:r>
              <a:rPr lang="zh-CN" altLang="en-US"/>
              <a:t>只是改变了形式而已</a:t>
            </a:r>
            <a:endParaRPr lang="zh-CN" altLang="en-US"/>
          </a:p>
          <a:p>
            <a:pPr indent="457200"/>
            <a:r>
              <a:rPr lang="zh-CN" altLang="en-US"/>
              <a:t>要用的时候只要取</a:t>
            </a:r>
            <a:r>
              <a:rPr lang="en-US" altLang="zh-CN"/>
              <a:t>a</a:t>
            </a:r>
            <a:r>
              <a:rPr lang="zh-CN" altLang="en-US"/>
              <a:t>的值就好</a:t>
            </a:r>
            <a:endParaRPr lang="zh-CN" altLang="en-US"/>
          </a:p>
          <a:p>
            <a:pPr indent="0"/>
            <a:r>
              <a:rPr lang="zh-CN" altLang="en-US"/>
              <a:t>他这种形式有个名字，可以来看一下</a:t>
            </a:r>
            <a:endParaRPr lang="zh-CN" altLang="en-US"/>
          </a:p>
          <a:p>
            <a:pPr indent="457200"/>
            <a:r>
              <a:rPr lang="zh-CN" altLang="en-US"/>
              <a:t>不过影响不大</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如果就形式深入一些，是齐次坐标</a:t>
            </a:r>
            <a:endParaRPr lang="zh-CN" altLang="en-US"/>
          </a:p>
          <a:p>
            <a:pPr indent="457200"/>
            <a:r>
              <a:rPr lang="zh-CN" altLang="en-US"/>
              <a:t>表示投影关系</a:t>
            </a:r>
            <a:endParaRPr lang="zh-CN" altLang="en-US"/>
          </a:p>
          <a:p>
            <a:pPr indent="457200"/>
            <a:r>
              <a:rPr lang="zh-CN" altLang="en-US"/>
              <a:t>因为等比例缩放</a:t>
            </a:r>
            <a:endParaRPr lang="zh-CN" altLang="en-US"/>
          </a:p>
          <a:p>
            <a:pPr indent="457200"/>
            <a:r>
              <a:rPr lang="zh-CN" altLang="en-US"/>
              <a:t>这样同样投影下来，是齐次坐标意义下相等的</a:t>
            </a:r>
            <a:endParaRPr lang="zh-CN" altLang="en-US"/>
          </a:p>
          <a:p>
            <a:pPr indent="0"/>
            <a:r>
              <a:rPr lang="zh-CN" altLang="en-US"/>
              <a:t>他这个有什么用呢，可以来看个例子</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讲到了齐次座标，正好复习下相机模型</a:t>
            </a:r>
            <a:endParaRPr lang="zh-CN" altLang="en-US"/>
          </a:p>
          <a:p>
            <a:pPr indent="457200"/>
            <a:r>
              <a:rPr lang="zh-CN" altLang="en-US"/>
              <a:t>我们想进行三维重建，首先要把看到的表示出来</a:t>
            </a:r>
            <a:endParaRPr lang="zh-CN" altLang="en-US"/>
          </a:p>
          <a:p>
            <a:pPr indent="457200"/>
            <a:r>
              <a:rPr lang="zh-CN" altLang="en-US"/>
              <a:t>上上次课稍微讲了一点，我们再复习下</a:t>
            </a:r>
            <a:endParaRPr lang="zh-CN" altLang="en-US"/>
          </a:p>
          <a:p>
            <a:pPr indent="457200"/>
            <a:r>
              <a:rPr lang="zh-CN" altLang="en-US"/>
              <a:t>首先是小孔成像模型</a:t>
            </a:r>
            <a:endParaRPr lang="zh-CN" altLang="en-US"/>
          </a:p>
          <a:p>
            <a:pPr indent="457200"/>
            <a:r>
              <a:rPr lang="zh-CN" altLang="en-US"/>
              <a:t>然后经历了多次变换</a:t>
            </a:r>
            <a:endParaRPr lang="zh-CN" altLang="en-US"/>
          </a:p>
          <a:p>
            <a:pPr indent="457200"/>
            <a:r>
              <a:rPr lang="zh-CN" altLang="en-US"/>
              <a:t>怎么利用刚才的知识来描述</a:t>
            </a:r>
            <a:endParaRPr lang="zh-CN" altLang="en-US"/>
          </a:p>
          <a:p>
            <a:pPr indent="457200"/>
            <a:endParaRPr lang="zh-CN" altLang="en-US"/>
          </a:p>
          <a:p>
            <a:pPr indent="0"/>
            <a:r>
              <a:rPr lang="zh-CN" altLang="en-US"/>
              <a:t>有了这个变换之后还不够，因为他只是二维的信息</a:t>
            </a:r>
            <a:endParaRPr lang="zh-CN" altLang="en-US"/>
          </a:p>
          <a:p>
            <a:pPr indent="0"/>
            <a:r>
              <a:rPr lang="zh-CN" altLang="en-US"/>
              <a:t>而我们想要三维重建。且不说用深度学习进行深度估计之类的</a:t>
            </a:r>
            <a:endParaRPr lang="zh-CN" altLang="en-US"/>
          </a:p>
          <a:p>
            <a:pPr indent="0"/>
            <a:r>
              <a:rPr lang="zh-CN" altLang="en-US"/>
              <a:t>从几何上有一个方法，正好有一个机会</a:t>
            </a:r>
            <a:endParaRPr lang="zh-CN" altLang="en-US"/>
          </a:p>
          <a:p>
            <a:pPr indent="457200"/>
            <a:r>
              <a:rPr lang="zh-CN" altLang="en-US"/>
              <a:t>就是</a:t>
            </a:r>
            <a:r>
              <a:rPr lang="en-US" altLang="zh-CN"/>
              <a:t>pnp</a:t>
            </a:r>
            <a:r>
              <a:rPr lang="zh-CN" altLang="en-US"/>
              <a:t>算法</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就是</a:t>
            </a:r>
            <a:r>
              <a:rPr lang="en-US" altLang="zh-CN"/>
              <a:t>pnp</a:t>
            </a:r>
            <a:r>
              <a:rPr lang="zh-CN" altLang="en-US"/>
              <a:t>算法</a:t>
            </a:r>
            <a:endParaRPr lang="zh-CN" altLang="en-US"/>
          </a:p>
          <a:p>
            <a:r>
              <a:rPr lang="zh-CN" altLang="en-US"/>
              <a:t>可以有几何上的概念，先看下一张图</a:t>
            </a:r>
            <a:endParaRPr lang="zh-CN" altLang="en-US"/>
          </a:p>
          <a:p>
            <a:r>
              <a:rPr lang="zh-CN" altLang="en-US">
                <a:solidFill>
                  <a:sysClr val="window" lastClr="FFFFFF"/>
                </a:solidFill>
                <a:latin typeface="Calibri" panose="020F0502020204030204" charset="0"/>
                <a:ea typeface="宋体" pitchFamily="2" charset="-122"/>
                <a:sym typeface="+mn-ea"/>
              </a:rPr>
              <a:t>虽然我们丢失了深度信息，但这个投影过程是一个几何约束</a:t>
            </a:r>
            <a:endParaRPr lang="zh-CN" altLang="en-US">
              <a:solidFill>
                <a:sysClr val="window" lastClr="FFFFFF"/>
              </a:solidFill>
              <a:latin typeface="Calibri" panose="020F0502020204030204" charset="0"/>
              <a:ea typeface="宋体" pitchFamily="2" charset="-122"/>
              <a:sym typeface="+mn-ea"/>
            </a:endParaRPr>
          </a:p>
          <a:p>
            <a:r>
              <a:rPr lang="zh-CN" altLang="en-US"/>
              <a:t>就是我们这里给出的整个变换矩阵</a:t>
            </a:r>
            <a:endParaRPr lang="zh-CN" altLang="en-US"/>
          </a:p>
          <a:p>
            <a:r>
              <a:rPr lang="zh-CN" altLang="en-US"/>
              <a:t>这样在几何上划定了一个范围</a:t>
            </a:r>
            <a:endParaRPr lang="zh-CN" altLang="en-US"/>
          </a:p>
          <a:p>
            <a:pPr indent="457200"/>
            <a:r>
              <a:rPr lang="zh-CN" altLang="en-US"/>
              <a:t>而我们对物体有先验的认识，就是说，知道他长宽多少，大概什么样</a:t>
            </a:r>
            <a:endParaRPr lang="zh-CN" altLang="en-US"/>
          </a:p>
          <a:p>
            <a:pPr indent="457200"/>
            <a:r>
              <a:rPr lang="zh-CN" altLang="en-US"/>
              <a:t>这样又是一个约束</a:t>
            </a:r>
            <a:endParaRPr lang="zh-CN" altLang="en-US"/>
          </a:p>
          <a:p>
            <a:pPr indent="457200"/>
            <a:r>
              <a:rPr lang="zh-CN" altLang="en-US"/>
              <a:t>两个约束一相交，就得到了他在三维中的状态</a:t>
            </a:r>
            <a:endParaRPr lang="zh-CN" altLang="en-US"/>
          </a:p>
          <a:p>
            <a:pPr indent="0"/>
            <a:r>
              <a:rPr lang="zh-CN" altLang="en-US"/>
              <a:t>所以说要利用这个算法：</a:t>
            </a:r>
            <a:endParaRPr lang="zh-CN" altLang="en-US"/>
          </a:p>
          <a:p>
            <a:pPr indent="457200"/>
            <a:r>
              <a:rPr lang="zh-CN" altLang="en-US"/>
              <a:t>要知道的已知量是</a:t>
            </a:r>
            <a:endParaRPr lang="zh-CN" altLang="en-US"/>
          </a:p>
          <a:p>
            <a:pPr indent="457200"/>
            <a:r>
              <a:rPr lang="zh-CN" altLang="en-US"/>
              <a:t>他们的先验知识：参考的</a:t>
            </a:r>
            <a:r>
              <a:rPr lang="en-US" altLang="zh-CN"/>
              <a:t>3d</a:t>
            </a:r>
            <a:r>
              <a:rPr lang="zh-CN" altLang="en-US"/>
              <a:t>坐标系</a:t>
            </a:r>
            <a:endParaRPr lang="zh-CN" altLang="en-US"/>
          </a:p>
          <a:p>
            <a:pPr indent="457200"/>
            <a:r>
              <a:rPr lang="zh-CN" altLang="en-US"/>
              <a:t>在相机图像坐标系上的投影</a:t>
            </a:r>
            <a:endParaRPr lang="zh-CN" altLang="en-US"/>
          </a:p>
          <a:p>
            <a:pPr indent="457200"/>
            <a:r>
              <a:rPr lang="zh-CN" altLang="en-US"/>
              <a:t>能求得他相对我们的位姿变换</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那么大概就是这样，他其实是一个纯数学问题</a:t>
            </a:r>
            <a:endParaRPr lang="zh-CN" altLang="en-US"/>
          </a:p>
          <a:p>
            <a:r>
              <a:rPr lang="zh-CN" altLang="en-US"/>
              <a:t>这个例子结束了，再返回来</a:t>
            </a:r>
            <a:endParaRPr lang="zh-CN" altLang="en-US"/>
          </a:p>
          <a:p>
            <a:pPr indent="457200"/>
            <a:r>
              <a:rPr lang="zh-CN" altLang="en-US"/>
              <a:t>回到位姿描述</a:t>
            </a:r>
            <a:endParaRPr lang="zh-CN" altLang="en-US"/>
          </a:p>
          <a:p>
            <a:pPr indent="457200"/>
            <a:r>
              <a:rPr lang="zh-CN" altLang="en-US"/>
              <a:t>我们要再讲一些形式</a:t>
            </a:r>
            <a:endParaRPr lang="zh-CN" altLang="en-US"/>
          </a:p>
          <a:p>
            <a:pPr indent="457200"/>
            <a:r>
              <a:rPr lang="zh-CN" altLang="en-US"/>
              <a:t>因为现在的还不够好</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之前的描述方式还有很多问题</a:t>
            </a:r>
            <a:endParaRPr lang="zh-CN" altLang="en-US"/>
          </a:p>
          <a:p>
            <a:endParaRPr lang="zh-CN" altLang="en-US"/>
          </a:p>
          <a:p>
            <a:r>
              <a:rPr lang="zh-CN" altLang="en-US"/>
              <a:t>那么我们可以给出一些新的定义</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这些也就是一些形式的改变，我们来看实际的</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那么以上位姿描述部分结束了，</a:t>
            </a:r>
            <a:endParaRPr lang="zh-CN" altLang="en-US"/>
          </a:p>
          <a:p>
            <a:pPr indent="457200"/>
            <a:r>
              <a:rPr lang="zh-CN" altLang="en-US"/>
              <a:t>我们之前说要去除噪声和异常信息</a:t>
            </a:r>
            <a:endParaRPr lang="zh-CN" altLang="en-US"/>
          </a:p>
          <a:p>
            <a:pPr indent="457200"/>
            <a:r>
              <a:rPr lang="zh-CN" altLang="en-US"/>
              <a:t>得到目标的真实状态，进行跟踪和预测</a:t>
            </a:r>
            <a:endParaRPr lang="zh-CN" altLang="en-US"/>
          </a:p>
          <a:p>
            <a:pPr indent="457200"/>
            <a:r>
              <a:rPr lang="zh-CN" altLang="en-US"/>
              <a:t>那么就是给出了这样的需求</a:t>
            </a:r>
            <a:endParaRPr lang="zh-CN" altLang="en-US"/>
          </a:p>
          <a:p>
            <a:pPr indent="457200"/>
            <a:endParaRPr lang="zh-CN" altLang="en-US"/>
          </a:p>
          <a:p>
            <a:pPr indent="0"/>
            <a:r>
              <a:rPr lang="zh-CN" altLang="en-US"/>
              <a:t>我们这里先不讲为什么选择了卡尔曼滤波这个方法</a:t>
            </a:r>
            <a:endParaRPr lang="zh-CN" altLang="en-US"/>
          </a:p>
          <a:p>
            <a:pPr indent="0"/>
            <a:r>
              <a:rPr lang="zh-CN" altLang="en-US"/>
              <a:t>因为推导起来有点难，而如果只要应用的话，也确实能直接给出方法</a:t>
            </a:r>
            <a:endParaRPr lang="zh-CN" altLang="en-US"/>
          </a:p>
          <a:p>
            <a:pPr indent="0"/>
            <a:r>
              <a:rPr lang="zh-CN" altLang="en-US"/>
              <a:t>不过当然，我们肯定也是期望技术能不断进步的</a:t>
            </a:r>
            <a:endParaRPr lang="zh-CN" altLang="en-US"/>
          </a:p>
          <a:p>
            <a:pPr indent="0"/>
            <a:r>
              <a:rPr lang="zh-CN" altLang="en-US"/>
              <a:t>之后也会稍微推导一下</a:t>
            </a:r>
            <a:endParaRPr lang="zh-CN" altLang="en-US"/>
          </a:p>
          <a:p>
            <a:pPr indent="0"/>
            <a:r>
              <a:rPr lang="zh-CN" altLang="en-US"/>
              <a:t>可以先来看个例程感受下</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随机信号就是：</a:t>
            </a:r>
            <a:endParaRPr lang="zh-CN" altLang="en-US"/>
          </a:p>
          <a:p>
            <a:pPr indent="457200"/>
            <a:r>
              <a:rPr lang="zh-CN" altLang="en-US"/>
              <a:t>我们来讲一下怎么来看待这件事</a:t>
            </a:r>
            <a:endParaRPr lang="zh-CN" altLang="en-US"/>
          </a:p>
          <a:p>
            <a:pPr indent="457200"/>
            <a:r>
              <a:rPr lang="zh-CN" altLang="en-US"/>
              <a:t>他整体是在概率与统计框架下的</a:t>
            </a:r>
            <a:endParaRPr lang="zh-CN" altLang="en-US"/>
          </a:p>
          <a:p>
            <a:pPr indent="457200"/>
            <a:endParaRPr lang="zh-CN" altLang="en-US"/>
          </a:p>
          <a:p>
            <a:pPr indent="0"/>
            <a:r>
              <a:rPr lang="zh-CN" altLang="en-US"/>
              <a:t>我们这里是采集到真实的数据，认为他是服从某种模型，也就是概率分布，比如高斯分布等</a:t>
            </a:r>
            <a:endParaRPr lang="zh-CN" altLang="en-US"/>
          </a:p>
          <a:p>
            <a:pPr indent="0"/>
            <a:r>
              <a:rPr lang="zh-CN" altLang="en-US"/>
              <a:t>那么这一个数据可抽象为一个随机信号</a:t>
            </a:r>
            <a:endParaRPr lang="zh-CN" altLang="en-US"/>
          </a:p>
          <a:p>
            <a:pPr indent="0"/>
            <a:r>
              <a:rPr lang="zh-CN" altLang="en-US"/>
              <a:t>而我们这里都数学化了，是将他放在了某种线性空间中</a:t>
            </a:r>
            <a:endParaRPr lang="zh-CN" altLang="en-US"/>
          </a:p>
          <a:p>
            <a:pPr indent="0"/>
            <a:r>
              <a:rPr lang="zh-CN" altLang="en-US"/>
              <a:t>那么线性空间中有什么呢</a:t>
            </a:r>
            <a:endParaRPr lang="zh-CN" altLang="en-US"/>
          </a:p>
          <a:p>
            <a:pPr indent="457200"/>
            <a:r>
              <a:rPr lang="zh-CN" altLang="en-US"/>
              <a:t>除了最简单的叠加等，还有一个是内积</a:t>
            </a:r>
            <a:endParaRPr lang="zh-CN" altLang="en-US"/>
          </a:p>
          <a:p>
            <a:pPr indent="457200"/>
            <a:r>
              <a:rPr lang="zh-CN" altLang="en-US"/>
              <a:t>高中向量的点乘可以用来求向量间的夹角</a:t>
            </a:r>
            <a:endParaRPr lang="zh-CN" altLang="en-US"/>
          </a:p>
          <a:p>
            <a:pPr indent="457200"/>
            <a:r>
              <a:rPr lang="zh-CN" altLang="en-US"/>
              <a:t>那么在这里也是一样的</a:t>
            </a:r>
            <a:endParaRPr lang="zh-CN" altLang="en-US"/>
          </a:p>
          <a:p>
            <a:pPr indent="457200"/>
            <a:r>
              <a:rPr lang="zh-CN" altLang="en-US"/>
              <a:t>我们学过独立的随机变量</a:t>
            </a:r>
            <a:endParaRPr lang="zh-CN" altLang="en-US"/>
          </a:p>
          <a:p>
            <a:pPr marL="457200" lvl="1" indent="457200"/>
            <a:r>
              <a:rPr lang="zh-CN" altLang="en-US"/>
              <a:t>可以认为是一个变量，他有几个维度的信息，不相关就是他在另一个维度上</a:t>
            </a:r>
            <a:endParaRPr lang="zh-CN" altLang="en-US"/>
          </a:p>
          <a:p>
            <a:pPr marL="457200" lvl="1" indent="0"/>
            <a:r>
              <a:rPr lang="zh-CN" altLang="en-US"/>
              <a:t>所以向量的正交，也就是垂直，同样可以引到这里</a:t>
            </a:r>
            <a:endParaRPr lang="zh-CN" altLang="en-US"/>
          </a:p>
          <a:p>
            <a:pPr marL="457200" lvl="1" indent="0"/>
            <a:r>
              <a:rPr lang="zh-CN" altLang="en-US"/>
              <a:t>这大概是正交性假设</a:t>
            </a:r>
            <a:endParaRPr lang="zh-CN" altLang="en-US"/>
          </a:p>
          <a:p>
            <a:pPr marL="457200" lvl="1" indent="0"/>
            <a:r>
              <a:rPr lang="zh-CN" altLang="en-US"/>
              <a:t>白噪声假设是：</a:t>
            </a:r>
            <a:endParaRPr lang="zh-CN" altLang="en-US"/>
          </a:p>
          <a:p>
            <a:pPr marL="457200" lvl="1" indent="457200"/>
            <a:r>
              <a:rPr lang="zh-CN" altLang="en-US"/>
              <a:t>只是噪声，他们符合高斯分布，均值为</a:t>
            </a:r>
            <a:r>
              <a:rPr lang="en-US" altLang="zh-CN"/>
              <a:t>0</a:t>
            </a:r>
            <a:endParaRPr lang="en-US" altLang="zh-CN"/>
          </a:p>
          <a:p>
            <a:pPr marL="457200" lvl="1" indent="457200"/>
            <a:r>
              <a:rPr lang="zh-CN" altLang="en-US"/>
              <a:t>只有在同时发生时，才有一定的相关性，否则内积为</a:t>
            </a:r>
            <a:r>
              <a:rPr lang="en-US" altLang="zh-CN"/>
              <a:t>0</a:t>
            </a:r>
            <a:endParaRPr lang="en-US" altLang="zh-CN"/>
          </a:p>
          <a:p>
            <a:pPr marL="0" lvl="0" indent="0"/>
            <a:r>
              <a:rPr lang="zh-CN" altLang="en-US"/>
              <a:t>那么尝试推导一下</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采样这个是后话了</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要给出变化的局部状态</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solidFill>
                  <a:schemeClr val="bg1"/>
                </a:solidFill>
                <a:latin typeface="宋体" pitchFamily="2" charset="-122"/>
                <a:ea typeface="宋体" pitchFamily="2" charset="-122"/>
              </a:defRPr>
            </a:lvl1pPr>
          </a:lstStyle>
          <a:p>
            <a:r>
              <a:rPr lang="en-US" altLang="zh-CN"/>
              <a:t>1</a:t>
            </a:r>
            <a:endParaRPr lang="en-US" altLang="zh-CN"/>
          </a:p>
        </p:txBody>
      </p:sp>
      <p:sp>
        <p:nvSpPr>
          <p:cNvPr id="4" name="日期占位符 3"/>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6D0A9B-4E31-4502-A18B-776CAED3EF7A}" type="slidenum">
              <a:rPr lang="zh-CN" altLang="en-US" smtClean="0"/>
            </a:fld>
            <a:endParaRPr lang="zh-CN" altLang="en-US"/>
          </a:p>
        </p:txBody>
      </p:sp>
      <p:sp>
        <p:nvSpPr>
          <p:cNvPr id="8" name="标题 1"/>
          <p:cNvSpPr>
            <a:spLocks noGrp="1"/>
          </p:cNvSpPr>
          <p:nvPr userDrawn="1"/>
        </p:nvSpPr>
        <p:spPr>
          <a:xfrm>
            <a:off x="928370" y="2103120"/>
            <a:ext cx="10515600" cy="3438525"/>
          </a:xfrm>
          <a:prstGeom prst="rect">
            <a:avLst/>
          </a:prstGeom>
        </p:spPr>
        <p:txBody>
          <a:bodyPr vert="horz" lIns="91440" tIns="45720" rIns="91440" bIns="45720" rtlCol="0" anchor="ctr">
            <a:normAutofit/>
          </a:bodyPr>
          <a:lstStyle>
            <a:lvl1pPr>
              <a:defRPr>
                <a:solidFill>
                  <a:schemeClr val="bg1"/>
                </a:solidFill>
                <a:latin typeface="宋体" pitchFamily="2" charset="-122"/>
                <a:ea typeface="宋体" pitchFamily="2" charset="-122"/>
              </a:defRPr>
            </a:lvl1pPr>
          </a:lstStyle>
          <a:p>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DED5A1-067F-47A8-A42C-2965B0A49BE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6D0A9B-4E31-4502-A18B-776CAED3EF7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tags" Target="../tags/tag1.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xml"/><Relationship Id="rId7" Type="http://schemas.openxmlformats.org/officeDocument/2006/relationships/image" Target="../media/image13.png"/><Relationship Id="rId6" Type="http://schemas.openxmlformats.org/officeDocument/2006/relationships/image" Target="../media/image19.png"/><Relationship Id="rId5" Type="http://schemas.openxmlformats.org/officeDocument/2006/relationships/tags" Target="../tags/tag3.xml"/><Relationship Id="rId4" Type="http://schemas.openxmlformats.org/officeDocument/2006/relationships/image" Target="../media/image18.png"/><Relationship Id="rId3" Type="http://schemas.openxmlformats.org/officeDocument/2006/relationships/tags" Target="../tags/tag2.xml"/><Relationship Id="rId2" Type="http://schemas.openxmlformats.org/officeDocument/2006/relationships/image" Target="../media/image17.pn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20.png"/><Relationship Id="rId3" Type="http://schemas.openxmlformats.org/officeDocument/2006/relationships/tags" Target="../tags/tag4.xml"/><Relationship Id="rId2" Type="http://schemas.openxmlformats.org/officeDocument/2006/relationships/image" Target="../media/image17.png"/><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hyperlink" Target="https://www.bilibili.com/video/BV1Nr4y1j7kn/" TargetMode="Externa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zh-CN" altLang="en-US"/>
              <a:t>位姿描述与</a:t>
            </a:r>
            <a:r>
              <a:rPr lang="zh-CN" altLang="en-US"/>
              <a:t>状态估计</a:t>
            </a:r>
            <a:endParaRPr lang="zh-CN" altLang="en-US"/>
          </a:p>
        </p:txBody>
      </p:sp>
      <p:sp>
        <p:nvSpPr>
          <p:cNvPr id="3" name="副标题 2"/>
          <p:cNvSpPr>
            <a:spLocks noGrp="1"/>
          </p:cNvSpPr>
          <p:nvPr>
            <p:ph type="subTitle" idx="1"/>
          </p:nvPr>
        </p:nvSpPr>
        <p:spPr/>
        <p:txBody>
          <a:bodyPr/>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我们要做什么</a:t>
            </a:r>
            <a:endParaRPr lang="zh-CN" altLang="en-US"/>
          </a:p>
        </p:txBody>
      </p:sp>
      <p:sp>
        <p:nvSpPr>
          <p:cNvPr id="4" name="文本框 3"/>
          <p:cNvSpPr txBox="1"/>
          <p:nvPr/>
        </p:nvSpPr>
        <p:spPr>
          <a:xfrm>
            <a:off x="563245" y="1604645"/>
            <a:ext cx="9759315" cy="4351655"/>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令机器人精确地、自动地完成任务</a:t>
            </a: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了解自身姿态</a:t>
            </a: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动态感知周围的环境</a:t>
            </a:r>
            <a:endParaRPr lang="zh-CN" altLang="en-US" sz="28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描述自身和目标的位姿</a:t>
            </a:r>
            <a:endParaRPr lang="zh-CN" altLang="en-US" sz="2800" kern="1200">
              <a:solidFill>
                <a:sysClr val="window" lastClr="FFFFFF"/>
              </a:solidFill>
              <a:latin typeface="Calibri" panose="020F0502020204030204" charset="0"/>
              <a:ea typeface="宋体" pitchFamily="2" charset="-122"/>
            </a:endParaRPr>
          </a:p>
          <a:p>
            <a:pPr marL="1143000" lvl="2"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纳入数学语言</a:t>
            </a:r>
            <a:endParaRPr lang="zh-CN" altLang="en-US" sz="28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从视觉、雷达的二维、一维信息中重建出三维整体的环境</a:t>
            </a:r>
            <a:endParaRPr lang="zh-CN" altLang="en-US" sz="28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去除各种噪声与异常信息</a:t>
            </a:r>
            <a:endParaRPr lang="zh-CN" altLang="en-US" sz="28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不止是识别，更是理解和预测</a:t>
            </a:r>
            <a:endParaRPr lang="zh-CN" altLang="en-US" sz="2800" kern="1200">
              <a:solidFill>
                <a:sysClr val="window" lastClr="FFFFFF"/>
              </a:solidFill>
              <a:latin typeface="Calibri" panose="020F0502020204030204" charset="0"/>
              <a:ea typeface="宋体"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例如</a:t>
            </a:r>
            <a:endParaRPr lang="zh-CN" altLang="en-US"/>
          </a:p>
        </p:txBody>
      </p:sp>
      <p:pic>
        <p:nvPicPr>
          <p:cNvPr id="3" name="图片 2"/>
          <p:cNvPicPr>
            <a:picLocks noChangeAspect="1"/>
          </p:cNvPicPr>
          <p:nvPr/>
        </p:nvPicPr>
        <p:blipFill>
          <a:blip r:embed="rId1"/>
          <a:stretch>
            <a:fillRect/>
          </a:stretch>
        </p:blipFill>
        <p:spPr>
          <a:xfrm>
            <a:off x="658495" y="2154555"/>
            <a:ext cx="4657725" cy="3262630"/>
          </a:xfrm>
          <a:prstGeom prst="rect">
            <a:avLst/>
          </a:prstGeom>
        </p:spPr>
      </p:pic>
      <p:pic>
        <p:nvPicPr>
          <p:cNvPr id="4" name="图片 3"/>
          <p:cNvPicPr>
            <a:picLocks noChangeAspect="1"/>
          </p:cNvPicPr>
          <p:nvPr/>
        </p:nvPicPr>
        <p:blipFill>
          <a:blip r:embed="rId2"/>
          <a:stretch>
            <a:fillRect/>
          </a:stretch>
        </p:blipFill>
        <p:spPr>
          <a:xfrm>
            <a:off x="5942965" y="2154555"/>
            <a:ext cx="5302250" cy="34163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对于机器人：</a:t>
            </a:r>
            <a:endParaRPr lang="zh-CN" altLang="en-US"/>
          </a:p>
        </p:txBody>
      </p:sp>
      <p:sp>
        <p:nvSpPr>
          <p:cNvPr id="4" name="文本框 3"/>
          <p:cNvSpPr txBox="1"/>
          <p:nvPr/>
        </p:nvSpPr>
        <p:spPr>
          <a:xfrm>
            <a:off x="563245" y="1604645"/>
            <a:ext cx="9759315" cy="4351655"/>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如何描述：</a:t>
            </a:r>
            <a:endParaRPr lang="zh-CN" altLang="en-US" sz="28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连杆，关节，自由度</a:t>
            </a:r>
            <a:endParaRPr lang="zh-CN" altLang="en-US" sz="28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线性变换</a:t>
            </a:r>
            <a:endParaRPr lang="zh-CN" altLang="en-US" sz="28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纳入数学框架</a:t>
            </a:r>
            <a:endParaRPr lang="zh-CN" altLang="en-US" sz="2800" kern="1200">
              <a:solidFill>
                <a:sysClr val="window" lastClr="FFFFFF"/>
              </a:solidFill>
              <a:latin typeface="Calibri" panose="020F0502020204030204" charset="0"/>
              <a:ea typeface="宋体" pitchFamily="2" charset="-122"/>
            </a:endParaRPr>
          </a:p>
          <a:p>
            <a:pPr marL="228600" lvl="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一些基本坐标系：</a:t>
            </a:r>
            <a:endParaRPr lang="zh-CN" altLang="en-US" sz="28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en-US" altLang="zh-CN" sz="2800" kern="1200">
                <a:solidFill>
                  <a:sysClr val="window" lastClr="FFFFFF"/>
                </a:solidFill>
                <a:latin typeface="Calibri" panose="020F0502020204030204" charset="0"/>
                <a:ea typeface="宋体" pitchFamily="2" charset="-122"/>
              </a:rPr>
              <a:t>map</a:t>
            </a:r>
            <a:endParaRPr lang="en-US" altLang="zh-CN" sz="28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en-US" altLang="zh-CN" sz="2800" kern="1200">
                <a:solidFill>
                  <a:sysClr val="window" lastClr="FFFFFF"/>
                </a:solidFill>
                <a:latin typeface="Calibri" panose="020F0502020204030204" charset="0"/>
                <a:ea typeface="宋体" pitchFamily="2" charset="-122"/>
              </a:rPr>
              <a:t>base_link</a:t>
            </a:r>
            <a:endParaRPr lang="en-US" altLang="zh-CN" sz="28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en-US" altLang="zh-CN" sz="2800" kern="1200">
                <a:solidFill>
                  <a:sysClr val="window" lastClr="FFFFFF"/>
                </a:solidFill>
                <a:latin typeface="Calibri" panose="020F0502020204030204" charset="0"/>
                <a:ea typeface="宋体" pitchFamily="2" charset="-122"/>
              </a:rPr>
              <a:t>odom</a:t>
            </a:r>
            <a:endParaRPr lang="zh-CN" altLang="en-US" sz="28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endParaRPr lang="zh-CN" altLang="en-US" sz="2800" kern="1200">
              <a:solidFill>
                <a:sysClr val="window" lastClr="FFFFFF"/>
              </a:solidFill>
              <a:latin typeface="Calibri" panose="020F0502020204030204" charset="0"/>
              <a:ea typeface="宋体" pitchFamily="2" charset="-122"/>
            </a:endParaRPr>
          </a:p>
          <a:p>
            <a:pPr marL="228600" lvl="0" indent="-228600" algn="l" defTabSz="914400" rtl="0" eaLnBrk="1" latinLnBrk="0" hangingPunct="1">
              <a:lnSpc>
                <a:spcPct val="90000"/>
              </a:lnSpc>
              <a:spcBef>
                <a:spcPts val="1000"/>
              </a:spcBef>
              <a:buFont typeface="Arial" panose="020B0604020202020204" pitchFamily="34" charset="0"/>
              <a:buChar char="•"/>
            </a:pPr>
            <a:endParaRPr lang="zh-CN" altLang="en-US" sz="2800" kern="1200">
              <a:solidFill>
                <a:sysClr val="window" lastClr="FFFFFF"/>
              </a:solidFill>
              <a:latin typeface="Calibri" panose="020F0502020204030204" charset="0"/>
              <a:ea typeface="宋体" pitchFamily="2" charset="-122"/>
            </a:endParaRPr>
          </a:p>
        </p:txBody>
      </p:sp>
      <p:pic>
        <p:nvPicPr>
          <p:cNvPr id="5" name="图片 4"/>
          <p:cNvPicPr>
            <a:picLocks noChangeAspect="1"/>
          </p:cNvPicPr>
          <p:nvPr/>
        </p:nvPicPr>
        <p:blipFill>
          <a:blip r:embed="rId1"/>
          <a:stretch>
            <a:fillRect/>
          </a:stretch>
        </p:blipFill>
        <p:spPr>
          <a:xfrm>
            <a:off x="6078855" y="1604645"/>
            <a:ext cx="5519420" cy="27927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三维空间</a:t>
            </a:r>
            <a:r>
              <a:rPr lang="zh-CN" altLang="en-US"/>
              <a:t>刚体运动</a:t>
            </a:r>
            <a:endParaRPr lang="zh-CN" altLang="en-US"/>
          </a:p>
        </p:txBody>
      </p:sp>
      <p:sp>
        <p:nvSpPr>
          <p:cNvPr id="3" name="文本框 2"/>
          <p:cNvSpPr txBox="1"/>
          <p:nvPr/>
        </p:nvSpPr>
        <p:spPr>
          <a:xfrm>
            <a:off x="755650" y="1565910"/>
            <a:ext cx="4231640" cy="4827905"/>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a:solidFill>
                  <a:sysClr val="window" lastClr="FFFFFF"/>
                </a:solidFill>
                <a:latin typeface="Calibri" panose="020F0502020204030204" charset="0"/>
                <a:ea typeface="宋体" pitchFamily="2" charset="-122"/>
                <a:sym typeface="+mn-ea"/>
              </a:rPr>
              <a:t>从点和坐标系开始</a:t>
            </a: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旋转和</a:t>
            </a:r>
            <a:r>
              <a:rPr lang="zh-CN" altLang="en-US" sz="2800" kern="1200">
                <a:solidFill>
                  <a:sysClr val="window" lastClr="FFFFFF"/>
                </a:solidFill>
                <a:latin typeface="Calibri" panose="020F0502020204030204" charset="0"/>
                <a:ea typeface="宋体" pitchFamily="2" charset="-122"/>
              </a:rPr>
              <a:t>平移</a:t>
            </a: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旋转矩阵：正交阵，可以看作对坐标系（基）进行变换，达到旋转的</a:t>
            </a:r>
            <a:r>
              <a:rPr lang="zh-CN" altLang="en-US" sz="2800" kern="1200">
                <a:solidFill>
                  <a:sysClr val="window" lastClr="FFFFFF"/>
                </a:solidFill>
                <a:latin typeface="Calibri" panose="020F0502020204030204" charset="0"/>
                <a:ea typeface="宋体" pitchFamily="2" charset="-122"/>
              </a:rPr>
              <a:t>效果</a:t>
            </a: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800" kern="1200">
              <a:solidFill>
                <a:sysClr val="window" lastClr="FFFFFF"/>
              </a:solidFill>
              <a:latin typeface="Calibri" panose="020F0502020204030204" charset="0"/>
              <a:ea typeface="宋体" pitchFamily="2" charset="-122"/>
            </a:endParaRPr>
          </a:p>
        </p:txBody>
      </p:sp>
      <p:pic>
        <p:nvPicPr>
          <p:cNvPr id="4" name="图片 3"/>
          <p:cNvPicPr>
            <a:picLocks noChangeAspect="1"/>
          </p:cNvPicPr>
          <p:nvPr/>
        </p:nvPicPr>
        <p:blipFill>
          <a:blip r:embed="rId1"/>
          <a:stretch>
            <a:fillRect/>
          </a:stretch>
        </p:blipFill>
        <p:spPr>
          <a:xfrm>
            <a:off x="5686425" y="3831590"/>
            <a:ext cx="4748530" cy="2849245"/>
          </a:xfrm>
          <a:prstGeom prst="rect">
            <a:avLst/>
          </a:prstGeom>
        </p:spPr>
      </p:pic>
      <p:pic>
        <p:nvPicPr>
          <p:cNvPr id="5" name="图片 4"/>
          <p:cNvPicPr>
            <a:picLocks noChangeAspect="1"/>
          </p:cNvPicPr>
          <p:nvPr/>
        </p:nvPicPr>
        <p:blipFill>
          <a:blip r:embed="rId2"/>
          <a:stretch>
            <a:fillRect/>
          </a:stretch>
        </p:blipFill>
        <p:spPr>
          <a:xfrm>
            <a:off x="5563235" y="1243330"/>
            <a:ext cx="5944870" cy="24225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688975" y="773430"/>
            <a:ext cx="4897755" cy="5756275"/>
          </a:xfrm>
          <a:prstGeom prst="rect">
            <a:avLst/>
          </a:prstGeom>
        </p:spPr>
        <p:txBody>
          <a:bodyPr vert="horz" lIns="91440" tIns="45720" rIns="91440" bIns="45720" rtlCol="0">
            <a:normAutofit lnSpcReduction="10000"/>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一个刚体的位姿可以这样表示：</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en-US" altLang="zh-CN"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en-US" altLang="zh-CN"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但多次？</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改写</a:t>
            </a:r>
            <a:endParaRPr lang="zh-CN" altLang="en-US" sz="2400" kern="1200">
              <a:solidFill>
                <a:sysClr val="window" lastClr="FFFFFF"/>
              </a:solidFill>
              <a:latin typeface="Calibri" panose="020F0502020204030204" charset="0"/>
              <a:ea typeface="宋体" pitchFamily="2" charset="-122"/>
            </a:endParaRPr>
          </a:p>
        </p:txBody>
      </p:sp>
      <p:pic>
        <p:nvPicPr>
          <p:cNvPr id="8" name="图片 7"/>
          <p:cNvPicPr>
            <a:picLocks noChangeAspect="1"/>
          </p:cNvPicPr>
          <p:nvPr/>
        </p:nvPicPr>
        <p:blipFill>
          <a:blip r:embed="rId1"/>
          <a:stretch>
            <a:fillRect/>
          </a:stretch>
        </p:blipFill>
        <p:spPr>
          <a:xfrm>
            <a:off x="6085205" y="773430"/>
            <a:ext cx="4157345" cy="793115"/>
          </a:xfrm>
          <a:prstGeom prst="rect">
            <a:avLst/>
          </a:prstGeom>
        </p:spPr>
      </p:pic>
      <p:pic>
        <p:nvPicPr>
          <p:cNvPr id="9" name="图片 8"/>
          <p:cNvPicPr>
            <a:picLocks noChangeAspect="1"/>
          </p:cNvPicPr>
          <p:nvPr/>
        </p:nvPicPr>
        <p:blipFill>
          <a:blip r:embed="rId2"/>
          <a:stretch>
            <a:fillRect/>
          </a:stretch>
        </p:blipFill>
        <p:spPr>
          <a:xfrm>
            <a:off x="6085205" y="2071370"/>
            <a:ext cx="4581525" cy="817245"/>
          </a:xfrm>
          <a:prstGeom prst="rect">
            <a:avLst/>
          </a:prstGeom>
        </p:spPr>
      </p:pic>
      <p:pic>
        <p:nvPicPr>
          <p:cNvPr id="10" name="图片 9"/>
          <p:cNvPicPr>
            <a:picLocks noChangeAspect="1"/>
          </p:cNvPicPr>
          <p:nvPr/>
        </p:nvPicPr>
        <p:blipFill>
          <a:blip r:embed="rId3"/>
          <a:stretch>
            <a:fillRect/>
          </a:stretch>
        </p:blipFill>
        <p:spPr>
          <a:xfrm>
            <a:off x="6079490" y="3429000"/>
            <a:ext cx="4643120" cy="17030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688975" y="519430"/>
            <a:ext cx="4897755" cy="6010275"/>
          </a:xfrm>
          <a:prstGeom prst="rect">
            <a:avLst/>
          </a:prstGeom>
        </p:spPr>
        <p:txBody>
          <a:bodyPr vert="horz" lIns="91440" tIns="45720" rIns="91440" bIns="45720" rtlCol="0">
            <a:normAutofit lnSpcReduction="10000"/>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齐次坐标</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坐标数多于坐标系数，表示一个投影关系：例如</a:t>
            </a:r>
            <a:r>
              <a:rPr lang="en-US" altLang="zh-CN" sz="2400" kern="1200">
                <a:solidFill>
                  <a:sysClr val="window" lastClr="FFFFFF"/>
                </a:solidFill>
                <a:latin typeface="Calibri" panose="020F0502020204030204" charset="0"/>
                <a:ea typeface="宋体" pitchFamily="2" charset="-122"/>
              </a:rPr>
              <a:t>sp</a:t>
            </a:r>
            <a:r>
              <a:rPr lang="zh-CN" altLang="en-US" sz="2400" kern="1200">
                <a:solidFill>
                  <a:sysClr val="window" lastClr="FFFFFF"/>
                </a:solidFill>
                <a:latin typeface="Calibri" panose="020F0502020204030204" charset="0"/>
                <a:ea typeface="宋体" pitchFamily="2" charset="-122"/>
              </a:rPr>
              <a:t>和</a:t>
            </a:r>
            <a:r>
              <a:rPr lang="en-US" altLang="zh-CN" sz="2400" kern="1200">
                <a:solidFill>
                  <a:sysClr val="window" lastClr="FFFFFF"/>
                </a:solidFill>
                <a:latin typeface="Calibri" panose="020F0502020204030204" charset="0"/>
                <a:ea typeface="宋体" pitchFamily="2" charset="-122"/>
              </a:rPr>
              <a:t>p</a:t>
            </a:r>
            <a:r>
              <a:rPr lang="zh-CN" altLang="en-US" sz="2400" kern="1200">
                <a:solidFill>
                  <a:sysClr val="window" lastClr="FFFFFF"/>
                </a:solidFill>
                <a:latin typeface="Calibri" panose="020F0502020204030204" charset="0"/>
                <a:ea typeface="宋体" pitchFamily="2" charset="-122"/>
              </a:rPr>
              <a:t>成投影关系，他们在齐次坐标的意义下是相等的</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能方便地表达点在直线或平面上、无穷远等，但主要是：简洁地表达空间变换，</a:t>
            </a:r>
            <a:r>
              <a:rPr lang="en-US" altLang="zh-CN" sz="2400" kern="1200">
                <a:solidFill>
                  <a:sysClr val="window" lastClr="FFFFFF"/>
                </a:solidFill>
                <a:latin typeface="Calibri" panose="020F0502020204030204" charset="0"/>
                <a:ea typeface="宋体" pitchFamily="2" charset="-122"/>
              </a:rPr>
              <a:t>eg:</a:t>
            </a:r>
            <a:endParaRPr lang="en-US" altLang="zh-CN"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en-US" altLang="zh-CN"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en-US" altLang="zh-CN"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en-US" altLang="zh-CN"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en-US" altLang="zh-CN"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或是我们学过的：相机投影模型</a:t>
            </a:r>
            <a:endParaRPr lang="zh-CN" altLang="en-US" sz="2400" kern="1200">
              <a:solidFill>
                <a:sysClr val="window" lastClr="FFFFFF"/>
              </a:solidFill>
              <a:latin typeface="Calibri" panose="020F0502020204030204" charset="0"/>
              <a:ea typeface="宋体" pitchFamily="2" charset="-122"/>
            </a:endParaRPr>
          </a:p>
        </p:txBody>
      </p:sp>
      <p:pic>
        <p:nvPicPr>
          <p:cNvPr id="4" name="图片 3"/>
          <p:cNvPicPr>
            <a:picLocks noChangeAspect="1"/>
          </p:cNvPicPr>
          <p:nvPr/>
        </p:nvPicPr>
        <p:blipFill>
          <a:blip r:embed="rId1"/>
          <a:stretch>
            <a:fillRect/>
          </a:stretch>
        </p:blipFill>
        <p:spPr>
          <a:xfrm>
            <a:off x="7272020" y="1692275"/>
            <a:ext cx="3693160" cy="3088005"/>
          </a:xfrm>
          <a:prstGeom prst="rect">
            <a:avLst/>
          </a:prstGeom>
        </p:spPr>
      </p:pic>
      <p:pic>
        <p:nvPicPr>
          <p:cNvPr id="5" name="图片 4"/>
          <p:cNvPicPr>
            <a:picLocks noChangeAspect="1"/>
          </p:cNvPicPr>
          <p:nvPr/>
        </p:nvPicPr>
        <p:blipFill>
          <a:blip r:embed="rId2"/>
          <a:stretch>
            <a:fillRect/>
          </a:stretch>
        </p:blipFill>
        <p:spPr>
          <a:xfrm>
            <a:off x="2423160" y="3832225"/>
            <a:ext cx="1943100" cy="409575"/>
          </a:xfrm>
          <a:prstGeom prst="rect">
            <a:avLst/>
          </a:prstGeom>
        </p:spPr>
      </p:pic>
      <p:pic>
        <p:nvPicPr>
          <p:cNvPr id="6" name="图片 5"/>
          <p:cNvPicPr>
            <a:picLocks noChangeAspect="1"/>
          </p:cNvPicPr>
          <p:nvPr/>
        </p:nvPicPr>
        <p:blipFill>
          <a:blip r:embed="rId3"/>
          <a:stretch>
            <a:fillRect/>
          </a:stretch>
        </p:blipFill>
        <p:spPr>
          <a:xfrm>
            <a:off x="2661285" y="4421505"/>
            <a:ext cx="1704975" cy="8001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688975" y="3428365"/>
            <a:ext cx="4897755" cy="3101340"/>
          </a:xfrm>
          <a:prstGeom prst="rect">
            <a:avLst/>
          </a:prstGeom>
        </p:spPr>
        <p:txBody>
          <a:bodyPr vert="horz" lIns="91440" tIns="45720" rIns="91440" bIns="45720" rtlCol="0">
            <a:normAutofit lnSpcReduction="10000"/>
            <a:extLst>
              <a:ext uri="{4A0BC546-FE56-4ADE-93B0-CB8AF2F6F144}">
                <wpsdc:textFrameExt xmlns:wpsdc="http://www.wps.cn/officeDocument/2022/drawingmlCustomData" type="text"/>
              </a:ext>
            </a:extLst>
          </a:bodyPr>
          <a:p>
            <a:pPr indent="0" algn="l" defTabSz="914400" rtl="0" eaLnBrk="1" latinLnBrk="0" hangingPunct="1">
              <a:lnSpc>
                <a:spcPct val="90000"/>
              </a:lnSpc>
              <a:spcBef>
                <a:spcPts val="1000"/>
              </a:spcBef>
              <a:buFont typeface="Arial" panose="020B0604020202020204" pitchFamily="34" charset="0"/>
              <a:buNone/>
            </a:pPr>
            <a:r>
              <a:rPr lang="zh-CN" altLang="en-US" sz="2400" kern="1200">
                <a:solidFill>
                  <a:sysClr val="window" lastClr="FFFFFF"/>
                </a:solidFill>
                <a:latin typeface="Calibri" panose="020F0502020204030204" charset="0"/>
                <a:ea typeface="宋体" pitchFamily="2" charset="-122"/>
              </a:rPr>
              <a:t>相机的小孔成像模型</a:t>
            </a:r>
            <a:endParaRPr lang="zh-CN" altLang="en-US" sz="2400" kern="1200">
              <a:solidFill>
                <a:sysClr val="window" lastClr="FFFFFF"/>
              </a:solidFill>
              <a:latin typeface="Calibri" panose="020F0502020204030204" charset="0"/>
              <a:ea typeface="宋体" pitchFamily="2" charset="-122"/>
            </a:endParaRPr>
          </a:p>
          <a:p>
            <a:pPr indent="0" algn="l" defTabSz="914400" rtl="0" eaLnBrk="1" latinLnBrk="0" hangingPunct="1">
              <a:lnSpc>
                <a:spcPct val="90000"/>
              </a:lnSpc>
              <a:spcBef>
                <a:spcPts val="1000"/>
              </a:spcBef>
              <a:buFont typeface="Arial" panose="020B0604020202020204" pitchFamily="34" charset="0"/>
              <a:buNone/>
            </a:pPr>
            <a:endParaRPr lang="zh-CN" altLang="en-US" sz="2400" kern="1200">
              <a:solidFill>
                <a:sysClr val="window" lastClr="FFFFFF"/>
              </a:solidFill>
              <a:latin typeface="Calibri" panose="020F0502020204030204" charset="0"/>
              <a:ea typeface="宋体" pitchFamily="2" charset="-122"/>
            </a:endParaRPr>
          </a:p>
          <a:p>
            <a:pPr indent="0" algn="l" defTabSz="914400" rtl="0" eaLnBrk="1" latinLnBrk="0" hangingPunct="1">
              <a:lnSpc>
                <a:spcPct val="90000"/>
              </a:lnSpc>
              <a:spcBef>
                <a:spcPts val="1000"/>
              </a:spcBef>
              <a:buFont typeface="Arial" panose="020B0604020202020204" pitchFamily="34" charset="0"/>
              <a:buNone/>
            </a:pPr>
            <a:r>
              <a:rPr lang="zh-CN" altLang="en-US" sz="2400" kern="1200">
                <a:solidFill>
                  <a:sysClr val="window" lastClr="FFFFFF"/>
                </a:solidFill>
                <a:latin typeface="Calibri" panose="020F0502020204030204" charset="0"/>
                <a:ea typeface="宋体" pitchFamily="2" charset="-122"/>
              </a:rPr>
              <a:t>这里用数学表达全面的变换</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p:txBody>
      </p:sp>
      <p:pic>
        <p:nvPicPr>
          <p:cNvPr id="2" name="图片 1"/>
          <p:cNvPicPr>
            <a:picLocks noChangeAspect="1"/>
          </p:cNvPicPr>
          <p:nvPr/>
        </p:nvPicPr>
        <p:blipFill>
          <a:blip r:embed="rId1"/>
          <a:stretch>
            <a:fillRect/>
          </a:stretch>
        </p:blipFill>
        <p:spPr>
          <a:xfrm>
            <a:off x="5869305" y="3941445"/>
            <a:ext cx="6322695" cy="2916555"/>
          </a:xfrm>
          <a:prstGeom prst="rect">
            <a:avLst/>
          </a:prstGeom>
        </p:spPr>
      </p:pic>
      <p:pic>
        <p:nvPicPr>
          <p:cNvPr id="7" name="图片 6"/>
          <p:cNvPicPr>
            <a:picLocks noChangeAspect="1"/>
          </p:cNvPicPr>
          <p:nvPr>
            <p:custDataLst>
              <p:tags r:id="rId2"/>
            </p:custDataLst>
          </p:nvPr>
        </p:nvPicPr>
        <p:blipFill>
          <a:blip r:embed="rId3"/>
          <a:stretch>
            <a:fillRect/>
          </a:stretch>
        </p:blipFill>
        <p:spPr>
          <a:xfrm>
            <a:off x="5869305" y="180340"/>
            <a:ext cx="6133465" cy="3761105"/>
          </a:xfrm>
          <a:prstGeom prst="rect">
            <a:avLst/>
          </a:prstGeom>
        </p:spPr>
      </p:pic>
      <p:pic>
        <p:nvPicPr>
          <p:cNvPr id="8" name="图片 7"/>
          <p:cNvPicPr>
            <a:picLocks noChangeAspect="1"/>
          </p:cNvPicPr>
          <p:nvPr/>
        </p:nvPicPr>
        <p:blipFill>
          <a:blip r:embed="rId4"/>
          <a:stretch>
            <a:fillRect/>
          </a:stretch>
        </p:blipFill>
        <p:spPr>
          <a:xfrm>
            <a:off x="220980" y="439420"/>
            <a:ext cx="5431790" cy="25495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956310" y="828675"/>
            <a:ext cx="5605780" cy="583565"/>
          </a:xfrm>
          <a:prstGeom prst="rect">
            <a:avLst/>
          </a:prstGeom>
          <a:noFill/>
        </p:spPr>
        <p:txBody>
          <a:bodyPr wrap="square" rtlCol="0">
            <a:spAutoFit/>
          </a:bodyPr>
          <a:p>
            <a:r>
              <a:rPr lang="zh-CN" altLang="en-US" sz="3200">
                <a:solidFill>
                  <a:schemeClr val="bg1"/>
                </a:solidFill>
              </a:rPr>
              <a:t> PnP需要知道的已知量</a:t>
            </a:r>
            <a:endParaRPr lang="zh-CN" altLang="en-US" sz="3200">
              <a:solidFill>
                <a:schemeClr val="bg1"/>
              </a:solidFill>
            </a:endParaRPr>
          </a:p>
        </p:txBody>
      </p:sp>
      <p:pic>
        <p:nvPicPr>
          <p:cNvPr id="4" name="图片 3"/>
          <p:cNvPicPr>
            <a:picLocks noChangeAspect="1"/>
          </p:cNvPicPr>
          <p:nvPr>
            <p:custDataLst>
              <p:tags r:id="rId3"/>
            </p:custDataLst>
          </p:nvPr>
        </p:nvPicPr>
        <p:blipFill>
          <a:blip r:embed="rId4"/>
          <a:stretch>
            <a:fillRect/>
          </a:stretch>
        </p:blipFill>
        <p:spPr>
          <a:xfrm>
            <a:off x="720725" y="1412240"/>
            <a:ext cx="6076950" cy="1924050"/>
          </a:xfrm>
          <a:prstGeom prst="rect">
            <a:avLst/>
          </a:prstGeom>
        </p:spPr>
      </p:pic>
      <p:sp>
        <p:nvSpPr>
          <p:cNvPr id="6" name="文本框 5"/>
          <p:cNvSpPr txBox="1"/>
          <p:nvPr/>
        </p:nvSpPr>
        <p:spPr>
          <a:xfrm>
            <a:off x="7707630" y="890270"/>
            <a:ext cx="4064000" cy="583565"/>
          </a:xfrm>
          <a:prstGeom prst="rect">
            <a:avLst/>
          </a:prstGeom>
          <a:noFill/>
        </p:spPr>
        <p:txBody>
          <a:bodyPr wrap="square" rtlCol="0">
            <a:spAutoFit/>
          </a:bodyPr>
          <a:p>
            <a:r>
              <a:rPr lang="zh-CN" altLang="en-US" sz="3200">
                <a:solidFill>
                  <a:schemeClr val="bg1"/>
                </a:solidFill>
              </a:rPr>
              <a:t>PnP求</a:t>
            </a:r>
            <a:r>
              <a:rPr lang="zh-CN" altLang="en-US" sz="3200">
                <a:solidFill>
                  <a:schemeClr val="bg1"/>
                </a:solidFill>
              </a:rPr>
              <a:t>解的未知量</a:t>
            </a:r>
            <a:endParaRPr lang="zh-CN" altLang="en-US" sz="3200">
              <a:solidFill>
                <a:schemeClr val="bg1"/>
              </a:solidFill>
            </a:endParaRPr>
          </a:p>
        </p:txBody>
      </p:sp>
      <p:pic>
        <p:nvPicPr>
          <p:cNvPr id="8" name="图片 7"/>
          <p:cNvPicPr>
            <a:picLocks noChangeAspect="1"/>
          </p:cNvPicPr>
          <p:nvPr>
            <p:custDataLst>
              <p:tags r:id="rId5"/>
            </p:custDataLst>
          </p:nvPr>
        </p:nvPicPr>
        <p:blipFill>
          <a:blip r:embed="rId6"/>
          <a:stretch>
            <a:fillRect/>
          </a:stretch>
        </p:blipFill>
        <p:spPr>
          <a:xfrm>
            <a:off x="7167880" y="1780540"/>
            <a:ext cx="5143500" cy="1186815"/>
          </a:xfrm>
          <a:prstGeom prst="rect">
            <a:avLst/>
          </a:prstGeom>
        </p:spPr>
      </p:pic>
      <p:pic>
        <p:nvPicPr>
          <p:cNvPr id="3" name="图片 2"/>
          <p:cNvPicPr>
            <a:picLocks noChangeAspect="1"/>
          </p:cNvPicPr>
          <p:nvPr/>
        </p:nvPicPr>
        <p:blipFill>
          <a:blip r:embed="rId7"/>
          <a:stretch>
            <a:fillRect/>
          </a:stretch>
        </p:blipFill>
        <p:spPr>
          <a:xfrm>
            <a:off x="5510530" y="3729990"/>
            <a:ext cx="6322695" cy="2916555"/>
          </a:xfrm>
          <a:prstGeom prst="rect">
            <a:avLst/>
          </a:prstGeom>
        </p:spPr>
      </p:pic>
      <p:sp>
        <p:nvSpPr>
          <p:cNvPr id="12" name="文本框 11"/>
          <p:cNvSpPr txBox="1"/>
          <p:nvPr/>
        </p:nvSpPr>
        <p:spPr>
          <a:xfrm>
            <a:off x="308610" y="3562350"/>
            <a:ext cx="4917440" cy="2957195"/>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右图是三维物体投影到像素坐标系的全过程。虽然我们丢失了深度信息，但这个投影过程是一个几何约束，对物体的先验信息又是一个约束，所以能反推出深度，如下图</a:t>
            </a:r>
            <a:r>
              <a:rPr lang="zh-CN" altLang="en-US" sz="2400" kern="1200">
                <a:solidFill>
                  <a:sysClr val="window" lastClr="FFFFFF"/>
                </a:solidFill>
                <a:latin typeface="Calibri" panose="020F0502020204030204" charset="0"/>
                <a:ea typeface="宋体" pitchFamily="2" charset="-122"/>
              </a:rPr>
              <a:t>所示</a:t>
            </a:r>
            <a:endParaRPr lang="zh-CN" altLang="en-US" sz="2400" kern="1200">
              <a:solidFill>
                <a:sysClr val="window" lastClr="FFFFFF"/>
              </a:solidFill>
              <a:latin typeface="Calibri" panose="020F05020202040302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161540" y="4220210"/>
            <a:ext cx="7684770" cy="3044825"/>
          </a:xfrm>
          <a:prstGeom prst="rect">
            <a:avLst/>
          </a:prstGeom>
          <a:noFill/>
        </p:spPr>
        <p:txBody>
          <a:bodyPr wrap="square" rtlCol="0" anchor="t">
            <a:noAutofit/>
          </a:bodyPr>
          <a:p>
            <a:r>
              <a:rPr lang="zh-CN" altLang="en-US">
                <a:solidFill>
                  <a:schemeClr val="bg1"/>
                </a:solidFill>
              </a:rPr>
              <a:t>经典的P3P问题可以转化为一个四面体形状的确定问题，如图所示。即已知条件为知道控制点 A,B,C的位置以及在摄像机中的投影坐标求棱长边a,b,c的问题。通过余弦定理，再利用点云配准方法可以得到摄像机坐标系相对于世界坐标系的平移以及旋转。图中的P点相当于相机的光心，A,B,C相当于世界坐标系下已知相对位置关系的三个控制点，A’,B’,C’为图像坐标系中对应的三个点。PNP解决的是纯数学问题，数学证明在此处省略。</a:t>
            </a:r>
            <a:endParaRPr lang="zh-CN" altLang="en-US">
              <a:solidFill>
                <a:schemeClr val="bg1"/>
              </a:solidFill>
            </a:endParaRPr>
          </a:p>
          <a:p>
            <a:endParaRPr lang="zh-CN" altLang="en-US">
              <a:solidFill>
                <a:schemeClr val="bg1"/>
              </a:solidFill>
            </a:endParaRPr>
          </a:p>
        </p:txBody>
      </p:sp>
      <p:pic>
        <p:nvPicPr>
          <p:cNvPr id="3" name="图片 2"/>
          <p:cNvPicPr>
            <a:picLocks noChangeAspect="1"/>
          </p:cNvPicPr>
          <p:nvPr>
            <p:custDataLst>
              <p:tags r:id="rId3"/>
            </p:custDataLst>
          </p:nvPr>
        </p:nvPicPr>
        <p:blipFill>
          <a:blip r:embed="rId4"/>
          <a:stretch>
            <a:fillRect/>
          </a:stretch>
        </p:blipFill>
        <p:spPr>
          <a:xfrm>
            <a:off x="3355340" y="852170"/>
            <a:ext cx="4714240" cy="33693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更好</a:t>
            </a:r>
            <a:r>
              <a:rPr lang="zh-CN" altLang="en-US"/>
              <a:t>的位姿</a:t>
            </a:r>
            <a:r>
              <a:rPr lang="zh-CN" altLang="en-US"/>
              <a:t>描述</a:t>
            </a:r>
            <a:endParaRPr lang="zh-CN" altLang="en-US"/>
          </a:p>
        </p:txBody>
      </p:sp>
      <p:sp>
        <p:nvSpPr>
          <p:cNvPr id="3" name="文本框 2"/>
          <p:cNvSpPr txBox="1"/>
          <p:nvPr/>
        </p:nvSpPr>
        <p:spPr>
          <a:xfrm>
            <a:off x="688340" y="1418908"/>
            <a:ext cx="5676900" cy="4351655"/>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前情提要：</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在之前我们涉及到大量对变换的描述（相机四个坐标系之间的转换等），而为了满足比赛中的需求，需要对变换进行求解和</a:t>
            </a:r>
            <a:r>
              <a:rPr lang="zh-CN" altLang="en-US" sz="2400" kern="1200">
                <a:solidFill>
                  <a:sysClr val="window" lastClr="FFFFFF"/>
                </a:solidFill>
                <a:latin typeface="Calibri" panose="020F0502020204030204" charset="0"/>
                <a:ea typeface="宋体" pitchFamily="2" charset="-122"/>
              </a:rPr>
              <a:t>优化。</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之前我们将迭代的式子写在增加了维度的矩阵中，有了统一的表达，但仍面临以下问题：</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en-US" altLang="zh-CN" sz="2400" kern="1200">
                <a:solidFill>
                  <a:sysClr val="window" lastClr="FFFFFF"/>
                </a:solidFill>
                <a:latin typeface="Calibri" panose="020F0502020204030204" charset="0"/>
                <a:ea typeface="宋体" pitchFamily="2" charset="-122"/>
              </a:rPr>
              <a:t>1.</a:t>
            </a:r>
            <a:r>
              <a:rPr lang="zh-CN" altLang="en-US" sz="2400" kern="1200">
                <a:solidFill>
                  <a:sysClr val="window" lastClr="FFFFFF"/>
                </a:solidFill>
                <a:latin typeface="Calibri" panose="020F0502020204030204" charset="0"/>
                <a:ea typeface="宋体" pitchFamily="2" charset="-122"/>
              </a:rPr>
              <a:t>比如旋转矩阵，</a:t>
            </a:r>
            <a:r>
              <a:rPr lang="en-US" altLang="zh-CN" sz="2400" kern="1200">
                <a:solidFill>
                  <a:sysClr val="window" lastClr="FFFFFF"/>
                </a:solidFill>
                <a:latin typeface="Calibri" panose="020F0502020204030204" charset="0"/>
                <a:ea typeface="宋体" pitchFamily="2" charset="-122"/>
              </a:rPr>
              <a:t>9</a:t>
            </a:r>
            <a:r>
              <a:rPr lang="zh-CN" altLang="en-US" sz="2400" kern="1200">
                <a:solidFill>
                  <a:sysClr val="window" lastClr="FFFFFF"/>
                </a:solidFill>
                <a:latin typeface="Calibri" panose="020F0502020204030204" charset="0"/>
                <a:ea typeface="宋体" pitchFamily="2" charset="-122"/>
              </a:rPr>
              <a:t>个量只表示了三个自由度的变换</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en-US" altLang="zh-CN" sz="2400" kern="1200">
                <a:solidFill>
                  <a:sysClr val="window" lastClr="FFFFFF"/>
                </a:solidFill>
                <a:latin typeface="Calibri" panose="020F0502020204030204" charset="0"/>
                <a:ea typeface="宋体" pitchFamily="2" charset="-122"/>
              </a:rPr>
              <a:t>2.</a:t>
            </a:r>
            <a:r>
              <a:rPr lang="zh-CN" altLang="en-US" sz="2400" kern="1200">
                <a:solidFill>
                  <a:sysClr val="window" lastClr="FFFFFF"/>
                </a:solidFill>
                <a:latin typeface="Calibri" panose="020F0502020204030204" charset="0"/>
                <a:ea typeface="宋体" pitchFamily="2" charset="-122"/>
              </a:rPr>
              <a:t>有着必须是正交矩阵的</a:t>
            </a:r>
            <a:r>
              <a:rPr lang="zh-CN" altLang="en-US" sz="2400" kern="1200">
                <a:solidFill>
                  <a:sysClr val="window" lastClr="FFFFFF"/>
                </a:solidFill>
                <a:latin typeface="Calibri" panose="020F0502020204030204" charset="0"/>
                <a:ea typeface="宋体" pitchFamily="2" charset="-122"/>
              </a:rPr>
              <a:t>约束</a:t>
            </a:r>
            <a:endParaRPr lang="zh-CN" altLang="en-US" sz="2400" kern="1200">
              <a:solidFill>
                <a:sysClr val="window" lastClr="FFFFFF"/>
              </a:solidFill>
              <a:latin typeface="Calibri" panose="020F0502020204030204" charset="0"/>
              <a:ea typeface="宋体"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旋转向量、欧拉角与</a:t>
            </a:r>
            <a:r>
              <a:rPr lang="zh-CN" altLang="en-US"/>
              <a:t>四元数</a:t>
            </a:r>
            <a:endParaRPr lang="zh-CN" altLang="en-US"/>
          </a:p>
        </p:txBody>
      </p:sp>
      <p:sp>
        <p:nvSpPr>
          <p:cNvPr id="3" name="文本框 2"/>
          <p:cNvSpPr txBox="1"/>
          <p:nvPr/>
        </p:nvSpPr>
        <p:spPr>
          <a:xfrm>
            <a:off x="713105" y="1400810"/>
            <a:ext cx="5676900" cy="5250180"/>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en-US" altLang="zh-CN" sz="2400" kern="1200">
                <a:solidFill>
                  <a:sysClr val="window" lastClr="FFFFFF"/>
                </a:solidFill>
                <a:latin typeface="Calibri" panose="020F0502020204030204" charset="0"/>
                <a:ea typeface="宋体" pitchFamily="2" charset="-122"/>
              </a:rPr>
              <a:t>1.</a:t>
            </a:r>
            <a:r>
              <a:rPr lang="zh-CN" altLang="en-US" sz="2400" kern="1200">
                <a:solidFill>
                  <a:sysClr val="window" lastClr="FFFFFF"/>
                </a:solidFill>
                <a:latin typeface="Calibri" panose="020F0502020204030204" charset="0"/>
                <a:ea typeface="宋体" pitchFamily="2" charset="-122"/>
              </a:rPr>
              <a:t>旋转向量</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转轴和转角即可描述一个旋转，而将向量的方向作为转轴，长度作为转角则恰好得到这样的变换</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有罗德里格斯公式：</a:t>
            </a:r>
            <a:endParaRPr lang="zh-CN" altLang="en-US" sz="24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反推出旋转矩阵</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欧拉角：</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考虑飞机的位姿，俯仰、偏航、翻滚，能更直观地展示</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万向死锁问题参考：</a:t>
            </a:r>
            <a:r>
              <a:rPr lang="zh-CN" altLang="en-US" sz="2400" kern="1200">
                <a:solidFill>
                  <a:sysClr val="window" lastClr="FFFFFF"/>
                </a:solidFill>
                <a:latin typeface="Calibri" panose="020F0502020204030204" charset="0"/>
                <a:ea typeface="宋体" pitchFamily="2" charset="-122"/>
                <a:hlinkClick r:id="rId1" action="ppaction://hlinkfile"/>
              </a:rPr>
              <a:t>无伤理解万向死锁问题</a:t>
            </a:r>
            <a:r>
              <a:rPr lang="zh-CN" altLang="en-US" sz="2400" kern="1200">
                <a:solidFill>
                  <a:sysClr val="window" lastClr="FFFFFF"/>
                </a:solidFill>
                <a:latin typeface="Calibri" panose="020F0502020204030204" charset="0"/>
                <a:ea typeface="宋体" pitchFamily="2" charset="-122"/>
              </a:rPr>
              <a:t>，大概意思是：按固定的顺序对原始坐标系进行变换，因变换是不可交换的，添加了某种限制</a:t>
            </a:r>
            <a:endParaRPr lang="zh-CN" altLang="en-US" sz="2400" kern="1200">
              <a:solidFill>
                <a:sysClr val="window" lastClr="FFFFFF"/>
              </a:solidFill>
              <a:latin typeface="Calibri" panose="020F0502020204030204" charset="0"/>
              <a:ea typeface="宋体" pitchFamily="2" charset="-122"/>
            </a:endParaRPr>
          </a:p>
        </p:txBody>
      </p:sp>
      <p:pic>
        <p:nvPicPr>
          <p:cNvPr id="4" name="图片 3"/>
          <p:cNvPicPr>
            <a:picLocks noChangeAspect="1"/>
          </p:cNvPicPr>
          <p:nvPr/>
        </p:nvPicPr>
        <p:blipFill>
          <a:blip r:embed="rId2"/>
          <a:stretch>
            <a:fillRect/>
          </a:stretch>
        </p:blipFill>
        <p:spPr>
          <a:xfrm>
            <a:off x="4326255" y="2790825"/>
            <a:ext cx="6828790" cy="753110"/>
          </a:xfrm>
          <a:prstGeom prst="rect">
            <a:avLst/>
          </a:prstGeom>
        </p:spPr>
      </p:pic>
      <p:pic>
        <p:nvPicPr>
          <p:cNvPr id="5" name="图片 4"/>
          <p:cNvPicPr>
            <a:picLocks noChangeAspect="1"/>
          </p:cNvPicPr>
          <p:nvPr/>
        </p:nvPicPr>
        <p:blipFill>
          <a:blip r:embed="rId3"/>
          <a:stretch>
            <a:fillRect/>
          </a:stretch>
        </p:blipFill>
        <p:spPr>
          <a:xfrm>
            <a:off x="6713220" y="3622040"/>
            <a:ext cx="4441825" cy="30289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45440" y="313373"/>
            <a:ext cx="5676900" cy="4351655"/>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四元数</a:t>
            </a: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800" kern="1200">
              <a:solidFill>
                <a:sysClr val="window" lastClr="FFFFFF"/>
              </a:solidFill>
              <a:latin typeface="Calibri" panose="020F0502020204030204" charset="0"/>
              <a:ea typeface="宋体" pitchFamily="2" charset="-122"/>
            </a:endParaRPr>
          </a:p>
        </p:txBody>
      </p:sp>
      <p:sp>
        <p:nvSpPr>
          <p:cNvPr id="4" name="文本框 3"/>
          <p:cNvSpPr txBox="1"/>
          <p:nvPr/>
        </p:nvSpPr>
        <p:spPr>
          <a:xfrm>
            <a:off x="642620" y="896620"/>
            <a:ext cx="5676900" cy="5537835"/>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考虑拓展到四维，类似于复数的乘法能表示复平面上的</a:t>
            </a:r>
            <a:r>
              <a:rPr lang="zh-CN" altLang="en-US" sz="2400" kern="1200">
                <a:solidFill>
                  <a:sysClr val="window" lastClr="FFFFFF"/>
                </a:solidFill>
                <a:latin typeface="Calibri" panose="020F0502020204030204" charset="0"/>
                <a:ea typeface="宋体" pitchFamily="2" charset="-122"/>
              </a:rPr>
              <a:t>旋转</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优势：</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计算简便，精度高</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没有死锁问题</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便于球面差值</a:t>
            </a:r>
            <a:endParaRPr lang="zh-CN" altLang="en-US" sz="2400" kern="1200">
              <a:solidFill>
                <a:sysClr val="window" lastClr="FFFFFF"/>
              </a:solidFill>
              <a:latin typeface="Calibri" panose="020F0502020204030204" charset="0"/>
              <a:ea typeface="宋体" pitchFamily="2" charset="-122"/>
            </a:endParaRPr>
          </a:p>
        </p:txBody>
      </p:sp>
      <p:pic>
        <p:nvPicPr>
          <p:cNvPr id="2" name="图片 1"/>
          <p:cNvPicPr>
            <a:picLocks noChangeAspect="1"/>
          </p:cNvPicPr>
          <p:nvPr/>
        </p:nvPicPr>
        <p:blipFill>
          <a:blip r:embed="rId1"/>
          <a:stretch>
            <a:fillRect/>
          </a:stretch>
        </p:blipFill>
        <p:spPr>
          <a:xfrm>
            <a:off x="1940560" y="1879600"/>
            <a:ext cx="2486025" cy="457200"/>
          </a:xfrm>
          <a:prstGeom prst="rect">
            <a:avLst/>
          </a:prstGeom>
        </p:spPr>
      </p:pic>
      <p:pic>
        <p:nvPicPr>
          <p:cNvPr id="5" name="图片 4"/>
          <p:cNvPicPr>
            <a:picLocks noChangeAspect="1"/>
          </p:cNvPicPr>
          <p:nvPr/>
        </p:nvPicPr>
        <p:blipFill>
          <a:blip r:embed="rId2"/>
          <a:stretch>
            <a:fillRect/>
          </a:stretch>
        </p:blipFill>
        <p:spPr>
          <a:xfrm>
            <a:off x="2197735" y="2721610"/>
            <a:ext cx="1971675" cy="1600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状态估计</a:t>
            </a:r>
            <a:endParaRPr lang="zh-CN" altLang="en-US"/>
          </a:p>
        </p:txBody>
      </p:sp>
      <p:sp>
        <p:nvSpPr>
          <p:cNvPr id="3" name="文本框 2"/>
          <p:cNvSpPr txBox="1"/>
          <p:nvPr/>
        </p:nvSpPr>
        <p:spPr>
          <a:xfrm>
            <a:off x="667385" y="1381760"/>
            <a:ext cx="8267065" cy="4672330"/>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indent="0" algn="l" defTabSz="914400" rtl="0" eaLnBrk="1" latinLnBrk="0" hangingPunct="1">
              <a:lnSpc>
                <a:spcPct val="90000"/>
              </a:lnSpc>
              <a:spcBef>
                <a:spcPts val="1000"/>
              </a:spcBef>
              <a:buFont typeface="Arial" panose="020B0604020202020204" pitchFamily="34" charset="0"/>
              <a:buNone/>
            </a:pPr>
            <a:r>
              <a:rPr lang="zh-CN" altLang="en-US" sz="2400" kern="1200">
                <a:solidFill>
                  <a:sysClr val="window" lastClr="FFFFFF"/>
                </a:solidFill>
                <a:latin typeface="Calibri" panose="020F0502020204030204" charset="0"/>
                <a:ea typeface="宋体" pitchFamily="2" charset="-122"/>
              </a:rPr>
              <a:t>需求：</a:t>
            </a:r>
            <a:endParaRPr lang="zh-CN" altLang="en-US" sz="2400" kern="1200">
              <a:solidFill>
                <a:sysClr val="window" lastClr="FFFFFF"/>
              </a:solidFill>
              <a:latin typeface="Calibri" panose="020F0502020204030204" charset="0"/>
              <a:ea typeface="宋体" pitchFamily="2" charset="-122"/>
            </a:endParaRPr>
          </a:p>
          <a:p>
            <a:pPr indent="457200" algn="l" defTabSz="914400" rtl="0" eaLnBrk="1" latinLnBrk="0" hangingPunct="1">
              <a:lnSpc>
                <a:spcPct val="90000"/>
              </a:lnSpc>
              <a:spcBef>
                <a:spcPts val="1000"/>
              </a:spcBef>
              <a:buFont typeface="Arial" panose="020B0604020202020204" pitchFamily="34" charset="0"/>
              <a:buNone/>
            </a:pPr>
            <a:r>
              <a:rPr lang="zh-CN" altLang="en-US" sz="2400" kern="1200">
                <a:solidFill>
                  <a:sysClr val="window" lastClr="FFFFFF"/>
                </a:solidFill>
                <a:latin typeface="Calibri" panose="020F0502020204030204" charset="0"/>
                <a:ea typeface="宋体" pitchFamily="2" charset="-122"/>
              </a:rPr>
              <a:t>各种传感器噪声大</a:t>
            </a:r>
            <a:endParaRPr lang="zh-CN" altLang="en-US" sz="2400" kern="1200">
              <a:solidFill>
                <a:sysClr val="window" lastClr="FFFFFF"/>
              </a:solidFill>
              <a:latin typeface="Calibri" panose="020F0502020204030204" charset="0"/>
              <a:ea typeface="宋体" pitchFamily="2" charset="-122"/>
            </a:endParaRPr>
          </a:p>
          <a:p>
            <a:pPr indent="457200" algn="l" defTabSz="914400" rtl="0" eaLnBrk="1" latinLnBrk="0" hangingPunct="1">
              <a:lnSpc>
                <a:spcPct val="90000"/>
              </a:lnSpc>
              <a:spcBef>
                <a:spcPts val="1000"/>
              </a:spcBef>
              <a:buFont typeface="Arial" panose="020B0604020202020204" pitchFamily="34" charset="0"/>
              <a:buNone/>
            </a:pPr>
            <a:r>
              <a:rPr lang="zh-CN" altLang="en-US" sz="2400" kern="1200">
                <a:solidFill>
                  <a:sysClr val="window" lastClr="FFFFFF"/>
                </a:solidFill>
                <a:latin typeface="Calibri" panose="020F0502020204030204" charset="0"/>
                <a:ea typeface="宋体" pitchFamily="2" charset="-122"/>
              </a:rPr>
              <a:t>目标状态随机变化</a:t>
            </a:r>
            <a:endParaRPr lang="zh-CN" altLang="en-US" sz="2400" kern="1200">
              <a:solidFill>
                <a:sysClr val="window" lastClr="FFFFFF"/>
              </a:solidFill>
              <a:latin typeface="Calibri" panose="020F0502020204030204" charset="0"/>
              <a:ea typeface="宋体" pitchFamily="2" charset="-122"/>
            </a:endParaRPr>
          </a:p>
          <a:p>
            <a:pPr indent="457200" algn="l" defTabSz="914400" rtl="0" eaLnBrk="1" latinLnBrk="0" hangingPunct="1">
              <a:lnSpc>
                <a:spcPct val="90000"/>
              </a:lnSpc>
              <a:spcBef>
                <a:spcPts val="1000"/>
              </a:spcBef>
              <a:buFont typeface="Arial" panose="020B0604020202020204" pitchFamily="34" charset="0"/>
              <a:buNone/>
            </a:pPr>
            <a:r>
              <a:rPr lang="zh-CN" altLang="en-US" sz="2400" kern="1200">
                <a:solidFill>
                  <a:sysClr val="window" lastClr="FFFFFF"/>
                </a:solidFill>
                <a:latin typeface="Calibri" panose="020F0502020204030204" charset="0"/>
                <a:ea typeface="宋体" pitchFamily="2" charset="-122"/>
              </a:rPr>
              <a:t>目的是建模运动状态并预测</a:t>
            </a:r>
            <a:endParaRPr lang="zh-CN" altLang="en-US" sz="2400" kern="1200">
              <a:solidFill>
                <a:sysClr val="window" lastClr="FFFFFF"/>
              </a:solidFill>
              <a:latin typeface="Calibri" panose="020F0502020204030204" charset="0"/>
              <a:ea typeface="宋体" pitchFamily="2" charset="-122"/>
            </a:endParaRPr>
          </a:p>
          <a:p>
            <a:pPr indent="0" algn="l" defTabSz="914400" rtl="0" eaLnBrk="1" latinLnBrk="0" hangingPunct="1">
              <a:lnSpc>
                <a:spcPct val="90000"/>
              </a:lnSpc>
              <a:spcBef>
                <a:spcPts val="1000"/>
              </a:spcBef>
              <a:buFont typeface="Arial" panose="020B0604020202020204" pitchFamily="34" charset="0"/>
              <a:buNone/>
            </a:pPr>
            <a:r>
              <a:rPr lang="zh-CN" altLang="en-US" sz="2400" kern="1200">
                <a:solidFill>
                  <a:sysClr val="window" lastClr="FFFFFF"/>
                </a:solidFill>
                <a:latin typeface="Calibri" panose="020F0502020204030204" charset="0"/>
                <a:ea typeface="宋体" pitchFamily="2" charset="-122"/>
              </a:rPr>
              <a:t>直接给出：</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卡尔曼滤波器相关的</a:t>
            </a:r>
            <a:r>
              <a:rPr lang="zh-CN" altLang="en-US" sz="2400" kern="1200">
                <a:solidFill>
                  <a:sysClr val="window" lastClr="FFFFFF"/>
                </a:solidFill>
                <a:latin typeface="Calibri" panose="020F0502020204030204" charset="0"/>
                <a:ea typeface="宋体" pitchFamily="2" charset="-122"/>
              </a:rPr>
              <a:t>一系列技术</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先看一下</a:t>
            </a:r>
            <a:r>
              <a:rPr lang="zh-CN" altLang="en-US" sz="2400" kern="1200">
                <a:solidFill>
                  <a:sysClr val="window" lastClr="FFFFFF"/>
                </a:solidFill>
                <a:latin typeface="Calibri" panose="020F0502020204030204" charset="0"/>
                <a:ea typeface="宋体" pitchFamily="2" charset="-122"/>
              </a:rPr>
              <a:t>例程</a:t>
            </a:r>
            <a:endParaRPr lang="zh-CN" altLang="en-US" sz="2400" kern="1200">
              <a:solidFill>
                <a:sysClr val="window" lastClr="FFFFFF"/>
              </a:solidFill>
              <a:latin typeface="Calibri" panose="020F0502020204030204" charset="0"/>
              <a:ea typeface="宋体" pitchFamily="2" charset="-122"/>
            </a:endParaRPr>
          </a:p>
        </p:txBody>
      </p:sp>
      <p:pic>
        <p:nvPicPr>
          <p:cNvPr id="4" name="图片 3"/>
          <p:cNvPicPr>
            <a:picLocks noChangeAspect="1"/>
          </p:cNvPicPr>
          <p:nvPr/>
        </p:nvPicPr>
        <p:blipFill>
          <a:blip r:embed="rId1"/>
          <a:stretch>
            <a:fillRect/>
          </a:stretch>
        </p:blipFill>
        <p:spPr>
          <a:xfrm>
            <a:off x="5873115" y="576580"/>
            <a:ext cx="5627370" cy="2716530"/>
          </a:xfrm>
          <a:prstGeom prst="rect">
            <a:avLst/>
          </a:prstGeom>
        </p:spPr>
      </p:pic>
      <p:pic>
        <p:nvPicPr>
          <p:cNvPr id="5" name="图片 4"/>
          <p:cNvPicPr>
            <a:picLocks noChangeAspect="1"/>
          </p:cNvPicPr>
          <p:nvPr/>
        </p:nvPicPr>
        <p:blipFill>
          <a:blip r:embed="rId2"/>
          <a:stretch>
            <a:fillRect/>
          </a:stretch>
        </p:blipFill>
        <p:spPr>
          <a:xfrm>
            <a:off x="5873115" y="3686175"/>
            <a:ext cx="5334635" cy="25050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501015"/>
            <a:ext cx="2891790" cy="1420495"/>
          </a:xfrm>
        </p:spPr>
        <p:txBody>
          <a:bodyPr/>
          <a:p>
            <a:r>
              <a:rPr lang="zh-CN" altLang="en-US" sz="2000"/>
              <a:t>状态空间方程：</a:t>
            </a:r>
            <a:br>
              <a:rPr lang="zh-CN" altLang="en-US" sz="2000"/>
            </a:br>
            <a:r>
              <a:rPr lang="en-US" altLang="zh-CN" sz="2000"/>
              <a:t>Xn = FnXn-1 + Vn</a:t>
            </a:r>
            <a:br>
              <a:rPr lang="en-US" altLang="zh-CN" sz="2000"/>
            </a:br>
            <a:r>
              <a:rPr lang="en-US" altLang="zh-CN" sz="2000"/>
              <a:t>Yn = HnXn + Wn</a:t>
            </a:r>
            <a:endParaRPr lang="en-US" altLang="zh-CN" sz="2000"/>
          </a:p>
        </p:txBody>
      </p:sp>
      <p:sp>
        <p:nvSpPr>
          <p:cNvPr id="4" name="矩形 3"/>
          <p:cNvSpPr/>
          <p:nvPr/>
        </p:nvSpPr>
        <p:spPr>
          <a:xfrm>
            <a:off x="713740" y="2416175"/>
            <a:ext cx="1995170" cy="75692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t</a:t>
            </a:r>
            <a:r>
              <a:rPr lang="zh-CN" altLang="en-US"/>
              <a:t>时刻状态</a:t>
            </a:r>
            <a:endParaRPr lang="zh-CN" altLang="en-US"/>
          </a:p>
        </p:txBody>
      </p:sp>
      <p:sp>
        <p:nvSpPr>
          <p:cNvPr id="6" name="双括号 5"/>
          <p:cNvSpPr/>
          <p:nvPr/>
        </p:nvSpPr>
        <p:spPr>
          <a:xfrm>
            <a:off x="970915" y="3318510"/>
            <a:ext cx="1480820" cy="914400"/>
          </a:xfrm>
          <a:prstGeom prst="bracketPair">
            <a:avLst/>
          </a:prstGeom>
          <a:ln w="28575" cmpd="sng">
            <a:solidFill>
              <a:schemeClr val="bg1"/>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chemeClr val="bg1"/>
                </a:solidFill>
              </a:rPr>
              <a:t>对之前数据的充分总结</a:t>
            </a:r>
            <a:endParaRPr lang="zh-CN" altLang="en-US">
              <a:solidFill>
                <a:schemeClr val="bg1"/>
              </a:solidFill>
            </a:endParaRPr>
          </a:p>
        </p:txBody>
      </p:sp>
      <p:sp>
        <p:nvSpPr>
          <p:cNvPr id="8" name="矩形 7"/>
          <p:cNvSpPr/>
          <p:nvPr/>
        </p:nvSpPr>
        <p:spPr>
          <a:xfrm>
            <a:off x="9378950" y="2436495"/>
            <a:ext cx="1995170" cy="75692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t+1</a:t>
            </a:r>
            <a:r>
              <a:rPr lang="zh-CN" altLang="en-US"/>
              <a:t>时刻状态</a:t>
            </a:r>
            <a:endParaRPr lang="zh-CN" altLang="en-US"/>
          </a:p>
        </p:txBody>
      </p:sp>
      <p:sp>
        <p:nvSpPr>
          <p:cNvPr id="9" name="双括号 8"/>
          <p:cNvSpPr/>
          <p:nvPr/>
        </p:nvSpPr>
        <p:spPr>
          <a:xfrm>
            <a:off x="9493885" y="3338830"/>
            <a:ext cx="1880235" cy="787400"/>
          </a:xfrm>
          <a:prstGeom prst="bracketPair">
            <a:avLst/>
          </a:prstGeom>
          <a:ln w="28575" cmpd="sng">
            <a:solidFill>
              <a:schemeClr val="bg1"/>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chemeClr val="bg1"/>
                </a:solidFill>
              </a:rPr>
              <a:t>最优线性递推</a:t>
            </a:r>
            <a:endParaRPr lang="zh-CN" altLang="en-US">
              <a:solidFill>
                <a:schemeClr val="bg1"/>
              </a:solidFill>
            </a:endParaRPr>
          </a:p>
        </p:txBody>
      </p:sp>
      <p:cxnSp>
        <p:nvCxnSpPr>
          <p:cNvPr id="10" name="直接箭头连接符 9"/>
          <p:cNvCxnSpPr>
            <a:stCxn id="4" idx="3"/>
          </p:cNvCxnSpPr>
          <p:nvPr/>
        </p:nvCxnSpPr>
        <p:spPr>
          <a:xfrm flipV="1">
            <a:off x="2708910" y="2782570"/>
            <a:ext cx="487680" cy="12065"/>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sp>
        <p:nvSpPr>
          <p:cNvPr id="11" name="矩形 10"/>
          <p:cNvSpPr/>
          <p:nvPr/>
        </p:nvSpPr>
        <p:spPr>
          <a:xfrm>
            <a:off x="3196590" y="2416175"/>
            <a:ext cx="1449705" cy="75692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预测</a:t>
            </a:r>
            <a:endParaRPr lang="zh-CN" altLang="en-US"/>
          </a:p>
        </p:txBody>
      </p:sp>
      <p:sp>
        <p:nvSpPr>
          <p:cNvPr id="12" name="矩形 11"/>
          <p:cNvSpPr/>
          <p:nvPr/>
        </p:nvSpPr>
        <p:spPr>
          <a:xfrm>
            <a:off x="5898515" y="2436495"/>
            <a:ext cx="1339215" cy="7397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修正</a:t>
            </a:r>
            <a:endParaRPr lang="zh-CN" altLang="en-US"/>
          </a:p>
        </p:txBody>
      </p:sp>
      <p:sp>
        <p:nvSpPr>
          <p:cNvPr id="13" name="矩形 12"/>
          <p:cNvSpPr/>
          <p:nvPr/>
        </p:nvSpPr>
        <p:spPr>
          <a:xfrm>
            <a:off x="4165600" y="4846955"/>
            <a:ext cx="1607185" cy="7251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观测数据</a:t>
            </a:r>
            <a:endParaRPr lang="zh-CN" altLang="en-US"/>
          </a:p>
        </p:txBody>
      </p:sp>
      <p:cxnSp>
        <p:nvCxnSpPr>
          <p:cNvPr id="14" name="直接箭头连接符 13"/>
          <p:cNvCxnSpPr>
            <a:stCxn id="11" idx="3"/>
            <a:endCxn id="12" idx="1"/>
          </p:cNvCxnSpPr>
          <p:nvPr/>
        </p:nvCxnSpPr>
        <p:spPr>
          <a:xfrm>
            <a:off x="4646295" y="2794635"/>
            <a:ext cx="1252220" cy="12065"/>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cxnSp>
        <p:nvCxnSpPr>
          <p:cNvPr id="15" name="直接箭头连接符 14"/>
          <p:cNvCxnSpPr>
            <a:stCxn id="13" idx="0"/>
          </p:cNvCxnSpPr>
          <p:nvPr/>
        </p:nvCxnSpPr>
        <p:spPr>
          <a:xfrm flipH="1" flipV="1">
            <a:off x="4961255" y="2861310"/>
            <a:ext cx="8255" cy="1985645"/>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cxnSp>
        <p:nvCxnSpPr>
          <p:cNvPr id="16" name="肘形连接符 15"/>
          <p:cNvCxnSpPr/>
          <p:nvPr/>
        </p:nvCxnSpPr>
        <p:spPr>
          <a:xfrm rot="5400000">
            <a:off x="5426075" y="2727325"/>
            <a:ext cx="693420" cy="1591310"/>
          </a:xfrm>
          <a:prstGeom prst="bentConnector2">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sp>
        <p:nvSpPr>
          <p:cNvPr id="17" name="双括号 16"/>
          <p:cNvSpPr/>
          <p:nvPr/>
        </p:nvSpPr>
        <p:spPr>
          <a:xfrm>
            <a:off x="5772785" y="3869690"/>
            <a:ext cx="2723515" cy="834390"/>
          </a:xfrm>
          <a:prstGeom prst="bracketPair">
            <a:avLst/>
          </a:prstGeom>
          <a:ln>
            <a:solidFill>
              <a:schemeClr val="bg1"/>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chemeClr val="bg1"/>
                </a:solidFill>
              </a:rPr>
              <a:t>根据修正的结果和观测数据调整修正的增益</a:t>
            </a:r>
            <a:endParaRPr lang="zh-CN" altLang="en-US">
              <a:solidFill>
                <a:schemeClr val="bg1"/>
              </a:solidFill>
            </a:endParaRPr>
          </a:p>
        </p:txBody>
      </p:sp>
      <p:cxnSp>
        <p:nvCxnSpPr>
          <p:cNvPr id="18" name="直接箭头连接符 17"/>
          <p:cNvCxnSpPr>
            <a:stCxn id="12" idx="3"/>
            <a:endCxn id="8" idx="1"/>
          </p:cNvCxnSpPr>
          <p:nvPr/>
        </p:nvCxnSpPr>
        <p:spPr>
          <a:xfrm>
            <a:off x="7237730" y="2806700"/>
            <a:ext cx="2141220" cy="8255"/>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cxnSp>
        <p:nvCxnSpPr>
          <p:cNvPr id="20" name="肘形连接符 19"/>
          <p:cNvCxnSpPr>
            <a:stCxn id="8" idx="0"/>
            <a:endCxn id="4" idx="0"/>
          </p:cNvCxnSpPr>
          <p:nvPr/>
        </p:nvCxnSpPr>
        <p:spPr>
          <a:xfrm rot="16200000" flipV="1">
            <a:off x="6033770" y="-1906270"/>
            <a:ext cx="20320" cy="8665210"/>
          </a:xfrm>
          <a:prstGeom prst="bentConnector3">
            <a:avLst>
              <a:gd name="adj1" fmla="val 1271875"/>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1839595" y="463550"/>
            <a:ext cx="8040370" cy="59766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642620" y="660400"/>
            <a:ext cx="3981450" cy="5485130"/>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如何看待？</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其他方法</a:t>
            </a:r>
            <a:endParaRPr lang="zh-CN" altLang="en-US" sz="24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维纳滤波器</a:t>
            </a:r>
            <a:endParaRPr lang="zh-CN" altLang="en-US" sz="24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非线性优化</a:t>
            </a:r>
            <a:endParaRPr lang="zh-CN" altLang="en-US" sz="24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lvl="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递推减少计算量</a:t>
            </a:r>
            <a:endParaRPr lang="zh-CN" altLang="en-US" sz="2400" kern="1200">
              <a:solidFill>
                <a:sysClr val="window" lastClr="FFFFFF"/>
              </a:solidFill>
              <a:latin typeface="Calibri" panose="020F0502020204030204" charset="0"/>
              <a:ea typeface="宋体" pitchFamily="2" charset="-122"/>
            </a:endParaRPr>
          </a:p>
          <a:p>
            <a:pPr marL="228600" lvl="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利用先验知识</a:t>
            </a:r>
            <a:endParaRPr lang="zh-CN" altLang="en-US" sz="2400" kern="1200">
              <a:solidFill>
                <a:sysClr val="window" lastClr="FFFFFF"/>
              </a:solidFill>
              <a:latin typeface="Calibri" panose="020F0502020204030204" charset="0"/>
              <a:ea typeface="宋体" pitchFamily="2" charset="-122"/>
            </a:endParaRPr>
          </a:p>
          <a:p>
            <a:pPr marL="228600" lvl="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把观测和系统内部运动分开</a:t>
            </a:r>
            <a:endParaRPr lang="zh-CN" altLang="en-US" sz="2400" kern="1200">
              <a:solidFill>
                <a:sysClr val="window" lastClr="FFFFFF"/>
              </a:solidFill>
              <a:latin typeface="Calibri" panose="020F0502020204030204" charset="0"/>
              <a:ea typeface="宋体" pitchFamily="2" charset="-122"/>
            </a:endParaRPr>
          </a:p>
          <a:p>
            <a:pPr lvl="0" indent="0" algn="l" defTabSz="914400" rtl="0" eaLnBrk="1" latinLnBrk="0" hangingPunct="1">
              <a:lnSpc>
                <a:spcPct val="90000"/>
              </a:lnSpc>
              <a:spcBef>
                <a:spcPts val="1000"/>
              </a:spcBef>
              <a:buFont typeface="Arial" panose="020B0604020202020204" pitchFamily="34" charset="0"/>
              <a:buNone/>
            </a:pPr>
            <a:endParaRPr lang="zh-CN" altLang="en-US" sz="24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p:txBody>
      </p:sp>
      <p:sp>
        <p:nvSpPr>
          <p:cNvPr id="5" name="圆角矩形 4"/>
          <p:cNvSpPr/>
          <p:nvPr/>
        </p:nvSpPr>
        <p:spPr>
          <a:xfrm>
            <a:off x="6450965" y="1503045"/>
            <a:ext cx="1517650" cy="88963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黑箱</a:t>
            </a:r>
            <a:endParaRPr lang="zh-CN" altLang="en-US"/>
          </a:p>
        </p:txBody>
      </p:sp>
      <p:sp>
        <p:nvSpPr>
          <p:cNvPr id="6" name="矩形 5"/>
          <p:cNvSpPr/>
          <p:nvPr/>
        </p:nvSpPr>
        <p:spPr>
          <a:xfrm>
            <a:off x="4351655" y="1502410"/>
            <a:ext cx="1546860" cy="8902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数据</a:t>
            </a:r>
            <a:endParaRPr lang="zh-CN" altLang="en-US"/>
          </a:p>
        </p:txBody>
      </p:sp>
      <p:cxnSp>
        <p:nvCxnSpPr>
          <p:cNvPr id="7" name="直接箭头连接符 6"/>
          <p:cNvCxnSpPr>
            <a:stCxn id="6" idx="3"/>
            <a:endCxn id="5" idx="1"/>
          </p:cNvCxnSpPr>
          <p:nvPr/>
        </p:nvCxnSpPr>
        <p:spPr>
          <a:xfrm>
            <a:off x="5898515" y="1947545"/>
            <a:ext cx="552450" cy="635"/>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sp>
        <p:nvSpPr>
          <p:cNvPr id="8" name="矩形 7"/>
          <p:cNvSpPr/>
          <p:nvPr/>
        </p:nvSpPr>
        <p:spPr>
          <a:xfrm>
            <a:off x="10144125" y="1502410"/>
            <a:ext cx="1488440" cy="88963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预测</a:t>
            </a:r>
            <a:endParaRPr lang="zh-CN" altLang="en-US"/>
          </a:p>
        </p:txBody>
      </p:sp>
      <p:cxnSp>
        <p:nvCxnSpPr>
          <p:cNvPr id="9" name="直接箭头连接符 8"/>
          <p:cNvCxnSpPr>
            <a:stCxn id="5" idx="3"/>
            <a:endCxn id="8" idx="1"/>
          </p:cNvCxnSpPr>
          <p:nvPr/>
        </p:nvCxnSpPr>
        <p:spPr>
          <a:xfrm flipV="1">
            <a:off x="7968615" y="1947545"/>
            <a:ext cx="2175510" cy="635"/>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sp>
        <p:nvSpPr>
          <p:cNvPr id="10" name="双括号 9"/>
          <p:cNvSpPr/>
          <p:nvPr/>
        </p:nvSpPr>
        <p:spPr>
          <a:xfrm>
            <a:off x="8312150" y="1390650"/>
            <a:ext cx="1488440" cy="452755"/>
          </a:xfrm>
          <a:prstGeom prst="bracketPair">
            <a:avLst/>
          </a:prstGeom>
          <a:ln>
            <a:solidFill>
              <a:schemeClr val="bg1"/>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chemeClr val="bg1"/>
                </a:solidFill>
              </a:rPr>
              <a:t>线性优化</a:t>
            </a:r>
            <a:endParaRPr lang="zh-CN" altLang="en-US">
              <a:solidFill>
                <a:schemeClr val="bg1"/>
              </a:solidFill>
            </a:endParaRPr>
          </a:p>
        </p:txBody>
      </p:sp>
      <p:sp>
        <p:nvSpPr>
          <p:cNvPr id="13" name="标题 12"/>
          <p:cNvSpPr>
            <a:spLocks noGrp="1"/>
          </p:cNvSpPr>
          <p:nvPr>
            <p:ph type="title"/>
          </p:nvPr>
        </p:nvSpPr>
        <p:spPr>
          <a:xfrm>
            <a:off x="4351655" y="2685415"/>
            <a:ext cx="2891790" cy="1420495"/>
          </a:xfrm>
        </p:spPr>
        <p:txBody>
          <a:bodyPr/>
          <a:p>
            <a:r>
              <a:rPr lang="zh-CN" altLang="en-US" sz="2000"/>
              <a:t>状态空间方程：</a:t>
            </a:r>
            <a:br>
              <a:rPr lang="zh-CN" altLang="en-US" sz="2000"/>
            </a:br>
            <a:r>
              <a:rPr lang="en-US" altLang="zh-CN" sz="2000"/>
              <a:t>Xn = FnXn-1 + Vn</a:t>
            </a:r>
            <a:br>
              <a:rPr lang="en-US" altLang="zh-CN" sz="2000"/>
            </a:br>
            <a:r>
              <a:rPr lang="en-US" altLang="zh-CN" sz="2000"/>
              <a:t>Yn = HnXn + Wn</a:t>
            </a:r>
            <a:endParaRPr lang="en-US" altLang="zh-CN" sz="2000"/>
          </a:p>
        </p:txBody>
      </p:sp>
      <p:pic>
        <p:nvPicPr>
          <p:cNvPr id="30" name="图片 29"/>
          <p:cNvPicPr>
            <a:picLocks noChangeAspect="1"/>
          </p:cNvPicPr>
          <p:nvPr/>
        </p:nvPicPr>
        <p:blipFill>
          <a:blip r:embed="rId1"/>
          <a:stretch>
            <a:fillRect/>
          </a:stretch>
        </p:blipFill>
        <p:spPr>
          <a:xfrm>
            <a:off x="4351655" y="3914775"/>
            <a:ext cx="7571740" cy="2645410"/>
          </a:xfrm>
          <a:prstGeom prst="rect">
            <a:avLst/>
          </a:prstGeom>
        </p:spPr>
      </p:pic>
      <p:sp>
        <p:nvSpPr>
          <p:cNvPr id="29" name="圆角矩形 28"/>
          <p:cNvSpPr/>
          <p:nvPr/>
        </p:nvSpPr>
        <p:spPr>
          <a:xfrm>
            <a:off x="6319520" y="4297045"/>
            <a:ext cx="2335530" cy="117475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白箱，且一切可递推</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642620" y="660400"/>
            <a:ext cx="5772785" cy="5485130"/>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lvl="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适当地推导</a:t>
            </a:r>
            <a:endParaRPr lang="zh-CN" altLang="en-US" sz="2400" kern="1200">
              <a:solidFill>
                <a:sysClr val="window" lastClr="FFFFFF"/>
              </a:solidFill>
              <a:latin typeface="Calibri" panose="020F0502020204030204" charset="0"/>
              <a:ea typeface="宋体" pitchFamily="2" charset="-122"/>
            </a:endParaRPr>
          </a:p>
          <a:p>
            <a:pPr marL="228600" lvl="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我们在做什么</a:t>
            </a:r>
            <a:endParaRPr lang="zh-CN" altLang="en-US" sz="24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对随机信号的处理</a:t>
            </a:r>
            <a:endParaRPr lang="zh-CN" altLang="en-US" sz="24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白噪声假设</a:t>
            </a:r>
            <a:endParaRPr lang="zh-CN" altLang="en-US" sz="24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正交性假设</a:t>
            </a:r>
            <a:endParaRPr lang="zh-CN" altLang="en-US" sz="24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在卡尔曼的框架下进行最优估计</a:t>
            </a:r>
            <a:endParaRPr lang="zh-CN" altLang="en-US" sz="2400" kern="1200">
              <a:solidFill>
                <a:sysClr val="window" lastClr="FFFFFF"/>
              </a:solidFill>
              <a:latin typeface="Calibri" panose="020F0502020204030204" charset="0"/>
              <a:ea typeface="宋体" pitchFamily="2" charset="-122"/>
            </a:endParaRPr>
          </a:p>
        </p:txBody>
      </p:sp>
      <p:sp>
        <p:nvSpPr>
          <p:cNvPr id="3" name="圆角矩形 2"/>
          <p:cNvSpPr/>
          <p:nvPr/>
        </p:nvSpPr>
        <p:spPr>
          <a:xfrm>
            <a:off x="868680" y="3587115"/>
            <a:ext cx="1643380" cy="72644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不确定性</a:t>
            </a:r>
            <a:endParaRPr lang="zh-CN" altLang="en-US"/>
          </a:p>
        </p:txBody>
      </p:sp>
      <p:sp>
        <p:nvSpPr>
          <p:cNvPr id="5" name="圆角矩形 4"/>
          <p:cNvSpPr/>
          <p:nvPr/>
        </p:nvSpPr>
        <p:spPr>
          <a:xfrm>
            <a:off x="3053715" y="3491865"/>
            <a:ext cx="1390650" cy="82169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统计实验</a:t>
            </a:r>
            <a:endParaRPr lang="zh-CN" altLang="en-US"/>
          </a:p>
        </p:txBody>
      </p:sp>
      <p:sp>
        <p:nvSpPr>
          <p:cNvPr id="6" name="圆角矩形 5"/>
          <p:cNvSpPr/>
          <p:nvPr/>
        </p:nvSpPr>
        <p:spPr>
          <a:xfrm>
            <a:off x="4986020" y="3507105"/>
            <a:ext cx="1501140" cy="7112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样本点</a:t>
            </a:r>
            <a:endParaRPr lang="zh-CN" altLang="en-US"/>
          </a:p>
        </p:txBody>
      </p:sp>
      <p:sp>
        <p:nvSpPr>
          <p:cNvPr id="7" name="圆角矩形 6"/>
          <p:cNvSpPr/>
          <p:nvPr/>
        </p:nvSpPr>
        <p:spPr>
          <a:xfrm>
            <a:off x="7028180" y="3491865"/>
            <a:ext cx="1816100" cy="83756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样本空间中体现出可能性</a:t>
            </a:r>
            <a:endParaRPr lang="zh-CN" altLang="en-US"/>
          </a:p>
        </p:txBody>
      </p:sp>
      <p:sp>
        <p:nvSpPr>
          <p:cNvPr id="8" name="圆角矩形 7"/>
          <p:cNvSpPr/>
          <p:nvPr/>
        </p:nvSpPr>
        <p:spPr>
          <a:xfrm>
            <a:off x="9457055" y="3491865"/>
            <a:ext cx="1784985" cy="83756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概括为概率</a:t>
            </a:r>
            <a:endParaRPr lang="zh-CN" altLang="en-US"/>
          </a:p>
        </p:txBody>
      </p:sp>
      <p:sp>
        <p:nvSpPr>
          <p:cNvPr id="9" name="圆角矩形 8"/>
          <p:cNvSpPr/>
          <p:nvPr/>
        </p:nvSpPr>
        <p:spPr>
          <a:xfrm>
            <a:off x="2295525" y="4676140"/>
            <a:ext cx="1469390" cy="53721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数据</a:t>
            </a:r>
            <a:endParaRPr lang="zh-CN" altLang="en-US"/>
          </a:p>
        </p:txBody>
      </p:sp>
      <p:sp>
        <p:nvSpPr>
          <p:cNvPr id="10" name="圆角矩形 9"/>
          <p:cNvSpPr/>
          <p:nvPr/>
        </p:nvSpPr>
        <p:spPr>
          <a:xfrm>
            <a:off x="4986020" y="4612005"/>
            <a:ext cx="1549400" cy="60134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模型</a:t>
            </a:r>
            <a:endParaRPr lang="zh-CN" altLang="en-US"/>
          </a:p>
        </p:txBody>
      </p:sp>
      <p:sp>
        <p:nvSpPr>
          <p:cNvPr id="11" name="圆角矩形 10"/>
          <p:cNvSpPr/>
          <p:nvPr/>
        </p:nvSpPr>
        <p:spPr>
          <a:xfrm>
            <a:off x="8098155" y="4676140"/>
            <a:ext cx="1358900" cy="66421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决策</a:t>
            </a:r>
            <a:endParaRPr lang="zh-CN" altLang="en-US"/>
          </a:p>
        </p:txBody>
      </p:sp>
      <p:sp>
        <p:nvSpPr>
          <p:cNvPr id="12" name="双括号 11"/>
          <p:cNvSpPr/>
          <p:nvPr/>
        </p:nvSpPr>
        <p:spPr>
          <a:xfrm>
            <a:off x="3796665" y="5561330"/>
            <a:ext cx="1042670" cy="474345"/>
          </a:xfrm>
          <a:prstGeom prst="bracketPair">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chemeClr val="bg1"/>
                </a:solidFill>
              </a:rPr>
              <a:t>统计</a:t>
            </a:r>
            <a:endParaRPr lang="zh-CN" altLang="en-US">
              <a:solidFill>
                <a:schemeClr val="bg1"/>
              </a:solidFill>
            </a:endParaRPr>
          </a:p>
        </p:txBody>
      </p:sp>
      <p:sp>
        <p:nvSpPr>
          <p:cNvPr id="14" name="双括号 13"/>
          <p:cNvSpPr/>
          <p:nvPr/>
        </p:nvSpPr>
        <p:spPr>
          <a:xfrm>
            <a:off x="7028180" y="5640705"/>
            <a:ext cx="932180" cy="394970"/>
          </a:xfrm>
          <a:prstGeom prst="bracketPair">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a:solidFill>
                  <a:schemeClr val="bg1"/>
                </a:solidFill>
              </a:rPr>
              <a:t>概率</a:t>
            </a:r>
            <a:endParaRPr lang="zh-CN" altLang="en-US">
              <a:solidFill>
                <a:schemeClr val="bg1"/>
              </a:solidFill>
            </a:endParaRPr>
          </a:p>
        </p:txBody>
      </p:sp>
      <p:cxnSp>
        <p:nvCxnSpPr>
          <p:cNvPr id="15" name="直接箭头连接符 14"/>
          <p:cNvCxnSpPr>
            <a:stCxn id="3" idx="3"/>
            <a:endCxn id="5" idx="1"/>
          </p:cNvCxnSpPr>
          <p:nvPr/>
        </p:nvCxnSpPr>
        <p:spPr>
          <a:xfrm flipV="1">
            <a:off x="2512060" y="3902710"/>
            <a:ext cx="541655" cy="47625"/>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cxnSp>
        <p:nvCxnSpPr>
          <p:cNvPr id="16" name="直接箭头连接符 15"/>
          <p:cNvCxnSpPr>
            <a:stCxn id="5" idx="3"/>
            <a:endCxn id="6" idx="1"/>
          </p:cNvCxnSpPr>
          <p:nvPr/>
        </p:nvCxnSpPr>
        <p:spPr>
          <a:xfrm flipV="1">
            <a:off x="4444365" y="3862705"/>
            <a:ext cx="541655" cy="40005"/>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cxnSp>
        <p:nvCxnSpPr>
          <p:cNvPr id="17" name="直接箭头连接符 16"/>
          <p:cNvCxnSpPr>
            <a:stCxn id="6" idx="3"/>
            <a:endCxn id="7" idx="1"/>
          </p:cNvCxnSpPr>
          <p:nvPr/>
        </p:nvCxnSpPr>
        <p:spPr>
          <a:xfrm>
            <a:off x="6487160" y="3862705"/>
            <a:ext cx="541020" cy="48260"/>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cxnSp>
        <p:nvCxnSpPr>
          <p:cNvPr id="18" name="直接箭头连接符 17"/>
          <p:cNvCxnSpPr>
            <a:stCxn id="7" idx="3"/>
            <a:endCxn id="8" idx="1"/>
          </p:cNvCxnSpPr>
          <p:nvPr/>
        </p:nvCxnSpPr>
        <p:spPr>
          <a:xfrm>
            <a:off x="8844280" y="3910965"/>
            <a:ext cx="612775" cy="0"/>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cxnSp>
        <p:nvCxnSpPr>
          <p:cNvPr id="19" name="直接箭头连接符 18"/>
          <p:cNvCxnSpPr>
            <a:stCxn id="9" idx="3"/>
            <a:endCxn id="10" idx="1"/>
          </p:cNvCxnSpPr>
          <p:nvPr/>
        </p:nvCxnSpPr>
        <p:spPr>
          <a:xfrm flipV="1">
            <a:off x="3764915" y="4912995"/>
            <a:ext cx="1221105" cy="31750"/>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cxnSp>
        <p:nvCxnSpPr>
          <p:cNvPr id="20" name="直接箭头连接符 19"/>
          <p:cNvCxnSpPr>
            <a:stCxn id="10" idx="3"/>
            <a:endCxn id="11" idx="1"/>
          </p:cNvCxnSpPr>
          <p:nvPr/>
        </p:nvCxnSpPr>
        <p:spPr>
          <a:xfrm>
            <a:off x="6535420" y="4912995"/>
            <a:ext cx="1562735" cy="95250"/>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p:nvPr/>
        </p:nvCxnSpPr>
        <p:spPr>
          <a:xfrm flipV="1">
            <a:off x="4286250" y="4897755"/>
            <a:ext cx="15875" cy="489585"/>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cxnSp>
        <p:nvCxnSpPr>
          <p:cNvPr id="22" name="直接箭头连接符 21"/>
          <p:cNvCxnSpPr/>
          <p:nvPr/>
        </p:nvCxnSpPr>
        <p:spPr>
          <a:xfrm flipH="1" flipV="1">
            <a:off x="7414895" y="5008245"/>
            <a:ext cx="31750" cy="458470"/>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非线性模型</a:t>
            </a:r>
            <a:r>
              <a:rPr lang="zh-CN" altLang="en-US"/>
              <a:t>难以表示？</a:t>
            </a:r>
            <a:endParaRPr lang="zh-CN" altLang="en-US"/>
          </a:p>
        </p:txBody>
      </p:sp>
      <p:sp>
        <p:nvSpPr>
          <p:cNvPr id="3" name="文本框 2"/>
          <p:cNvSpPr txBox="1"/>
          <p:nvPr/>
        </p:nvSpPr>
        <p:spPr>
          <a:xfrm>
            <a:off x="838200" y="1298575"/>
            <a:ext cx="4674235" cy="5250180"/>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原来的假设：有固定的状态状态转移方程</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非线性程度高，采样？</a:t>
            </a:r>
            <a:endParaRPr lang="zh-CN" altLang="en-US" sz="2400" kern="1200">
              <a:solidFill>
                <a:sysClr val="window" lastClr="FFFFFF"/>
              </a:solidFill>
              <a:latin typeface="Calibri" panose="020F0502020204030204" charset="0"/>
              <a:ea typeface="宋体" pitchFamily="2" charset="-122"/>
            </a:endParaRPr>
          </a:p>
          <a:p>
            <a:pPr marL="685800" lvl="1"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奈奎斯特采样定理</a:t>
            </a:r>
            <a:endParaRPr lang="en-US" altLang="zh-CN"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en-US" altLang="zh-CN"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难以用矩阵表示</a:t>
            </a:r>
            <a:r>
              <a:rPr lang="en-US" altLang="zh-CN" sz="2400" kern="1200">
                <a:solidFill>
                  <a:sysClr val="window" lastClr="FFFFFF"/>
                </a:solidFill>
                <a:latin typeface="Calibri" panose="020F0502020204030204" charset="0"/>
                <a:ea typeface="宋体" pitchFamily="2" charset="-122"/>
              </a:rPr>
              <a:t>--&gt;</a:t>
            </a:r>
            <a:r>
              <a:rPr lang="zh-CN" altLang="en-US" sz="2400" kern="1200">
                <a:solidFill>
                  <a:sysClr val="window" lastClr="FFFFFF"/>
                </a:solidFill>
                <a:latin typeface="Calibri" panose="020F0502020204030204" charset="0"/>
                <a:ea typeface="宋体" pitchFamily="2" charset="-122"/>
              </a:rPr>
              <a:t>一阶泰勒展开</a:t>
            </a:r>
            <a:endParaRPr lang="zh-CN" altLang="en-US" sz="2400" kern="1200">
              <a:solidFill>
                <a:sysClr val="window" lastClr="FFFFFF"/>
              </a:solidFill>
              <a:latin typeface="Calibri" panose="020F0502020204030204" charset="0"/>
              <a:ea typeface="宋体" pitchFamily="2" charset="-122"/>
            </a:endParaRPr>
          </a:p>
          <a:p>
            <a:pPr indent="0" algn="l" defTabSz="914400" rtl="0" eaLnBrk="1" latinLnBrk="0" hangingPunct="1">
              <a:lnSpc>
                <a:spcPct val="90000"/>
              </a:lnSpc>
              <a:spcBef>
                <a:spcPts val="1000"/>
              </a:spcBef>
              <a:buFont typeface="Arial" panose="020B0604020202020204" pitchFamily="34" charset="0"/>
              <a:buNone/>
            </a:pPr>
            <a:endParaRPr lang="en-US" altLang="zh-CN"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列写状态向量和</a:t>
            </a:r>
            <a:r>
              <a:rPr lang="zh-CN" altLang="en-US" sz="2400" kern="1200">
                <a:solidFill>
                  <a:sysClr val="window" lastClr="FFFFFF"/>
                </a:solidFill>
                <a:latin typeface="Calibri" panose="020F0502020204030204" charset="0"/>
                <a:ea typeface="宋体" pitchFamily="2" charset="-122"/>
              </a:rPr>
              <a:t>转移方程</a:t>
            </a:r>
            <a:endParaRPr lang="zh-CN" altLang="en-US" sz="2400" kern="1200">
              <a:solidFill>
                <a:sysClr val="window" lastClr="FFFFFF"/>
              </a:solidFill>
              <a:latin typeface="Calibri" panose="020F0502020204030204" charset="0"/>
              <a:ea typeface="宋体" pitchFamily="2" charset="-122"/>
            </a:endParaRPr>
          </a:p>
        </p:txBody>
      </p:sp>
      <p:pic>
        <p:nvPicPr>
          <p:cNvPr id="4" name="图片 3"/>
          <p:cNvPicPr>
            <a:picLocks noChangeAspect="1"/>
          </p:cNvPicPr>
          <p:nvPr/>
        </p:nvPicPr>
        <p:blipFill>
          <a:blip r:embed="rId1"/>
          <a:stretch>
            <a:fillRect/>
          </a:stretch>
        </p:blipFill>
        <p:spPr>
          <a:xfrm>
            <a:off x="6096000" y="1371600"/>
            <a:ext cx="5567680" cy="15487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非线性模型</a:t>
            </a:r>
            <a:r>
              <a:rPr lang="zh-CN" altLang="en-US"/>
              <a:t>难以表示？</a:t>
            </a:r>
            <a:endParaRPr lang="zh-CN" altLang="en-US"/>
          </a:p>
        </p:txBody>
      </p:sp>
      <p:sp>
        <p:nvSpPr>
          <p:cNvPr id="3" name="文本框 2"/>
          <p:cNvSpPr txBox="1"/>
          <p:nvPr/>
        </p:nvSpPr>
        <p:spPr>
          <a:xfrm>
            <a:off x="741680" y="1298575"/>
            <a:ext cx="5676900" cy="5250180"/>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原来的假设：高斯分布在线性变换下仍是高斯分布，且可以精确计算均值和协方差（后世推导出的，随机变量满足一定的分布）</a:t>
            </a:r>
            <a:endParaRPr lang="en-US" altLang="zh-CN"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en-US" altLang="zh-CN"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难以用矩阵表示</a:t>
            </a:r>
            <a:r>
              <a:rPr lang="en-US" altLang="zh-CN" sz="2400" kern="1200">
                <a:solidFill>
                  <a:sysClr val="window" lastClr="FFFFFF"/>
                </a:solidFill>
                <a:latin typeface="Calibri" panose="020F0502020204030204" charset="0"/>
                <a:ea typeface="宋体" pitchFamily="2" charset="-122"/>
              </a:rPr>
              <a:t>--&gt;</a:t>
            </a:r>
            <a:r>
              <a:rPr lang="zh-CN" altLang="en-US" sz="2400" kern="1200">
                <a:solidFill>
                  <a:sysClr val="window" lastClr="FFFFFF"/>
                </a:solidFill>
                <a:latin typeface="Calibri" panose="020F0502020204030204" charset="0"/>
                <a:ea typeface="宋体" pitchFamily="2" charset="-122"/>
              </a:rPr>
              <a:t>一阶泰勒展开</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en-US" altLang="zh-CN" sz="2400" kern="1200">
                <a:solidFill>
                  <a:sysClr val="window" lastClr="FFFFFF"/>
                </a:solidFill>
                <a:latin typeface="Calibri" panose="020F0502020204030204" charset="0"/>
                <a:ea typeface="宋体" pitchFamily="2" charset="-122"/>
              </a:rPr>
              <a:t>eg:</a:t>
            </a:r>
            <a:endParaRPr lang="en-US" altLang="zh-CN"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en-US" altLang="zh-CN"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列写状态向量和</a:t>
            </a:r>
            <a:r>
              <a:rPr lang="zh-CN" altLang="en-US" sz="2400" kern="1200">
                <a:solidFill>
                  <a:sysClr val="window" lastClr="FFFFFF"/>
                </a:solidFill>
                <a:latin typeface="Calibri" panose="020F0502020204030204" charset="0"/>
                <a:ea typeface="宋体" pitchFamily="2" charset="-122"/>
              </a:rPr>
              <a:t>转移方程</a:t>
            </a:r>
            <a:endParaRPr lang="zh-CN" altLang="en-US" sz="2400" kern="1200">
              <a:solidFill>
                <a:sysClr val="window" lastClr="FFFFFF"/>
              </a:solidFill>
              <a:latin typeface="Calibri" panose="020F0502020204030204" charset="0"/>
              <a:ea typeface="宋体" pitchFamily="2" charset="-122"/>
            </a:endParaRPr>
          </a:p>
        </p:txBody>
      </p:sp>
      <p:pic>
        <p:nvPicPr>
          <p:cNvPr id="5" name="图片 4"/>
          <p:cNvPicPr>
            <a:picLocks noChangeAspect="1"/>
          </p:cNvPicPr>
          <p:nvPr/>
        </p:nvPicPr>
        <p:blipFill>
          <a:blip r:embed="rId1"/>
          <a:stretch>
            <a:fillRect/>
          </a:stretch>
        </p:blipFill>
        <p:spPr>
          <a:xfrm>
            <a:off x="1945005" y="3209925"/>
            <a:ext cx="1162050" cy="438150"/>
          </a:xfrm>
          <a:prstGeom prst="rect">
            <a:avLst/>
          </a:prstGeom>
        </p:spPr>
      </p:pic>
      <p:pic>
        <p:nvPicPr>
          <p:cNvPr id="6" name="图片 5"/>
          <p:cNvPicPr>
            <a:picLocks noChangeAspect="1"/>
          </p:cNvPicPr>
          <p:nvPr/>
        </p:nvPicPr>
        <p:blipFill>
          <a:blip r:embed="rId2"/>
          <a:stretch>
            <a:fillRect/>
          </a:stretch>
        </p:blipFill>
        <p:spPr>
          <a:xfrm>
            <a:off x="450215" y="5205095"/>
            <a:ext cx="1971675" cy="1419225"/>
          </a:xfrm>
          <a:prstGeom prst="rect">
            <a:avLst/>
          </a:prstGeom>
        </p:spPr>
      </p:pic>
      <p:pic>
        <p:nvPicPr>
          <p:cNvPr id="7" name="图片 6"/>
          <p:cNvPicPr>
            <a:picLocks noChangeAspect="1"/>
          </p:cNvPicPr>
          <p:nvPr/>
        </p:nvPicPr>
        <p:blipFill>
          <a:blip r:embed="rId3"/>
          <a:stretch>
            <a:fillRect/>
          </a:stretch>
        </p:blipFill>
        <p:spPr>
          <a:xfrm>
            <a:off x="3557905" y="5061585"/>
            <a:ext cx="2447925" cy="1714500"/>
          </a:xfrm>
          <a:prstGeom prst="rect">
            <a:avLst/>
          </a:prstGeom>
        </p:spPr>
      </p:pic>
      <p:sp>
        <p:nvSpPr>
          <p:cNvPr id="8" name="文本框 7"/>
          <p:cNvSpPr txBox="1"/>
          <p:nvPr/>
        </p:nvSpPr>
        <p:spPr>
          <a:xfrm>
            <a:off x="6196965" y="1400810"/>
            <a:ext cx="5788025" cy="4653280"/>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使用一阶泰勒展开</a:t>
            </a:r>
            <a:r>
              <a:rPr lang="zh-CN" altLang="en-US" sz="2400" kern="1200">
                <a:solidFill>
                  <a:sysClr val="window" lastClr="FFFFFF"/>
                </a:solidFill>
                <a:latin typeface="Calibri" panose="020F0502020204030204" charset="0"/>
                <a:ea typeface="宋体" pitchFamily="2" charset="-122"/>
              </a:rPr>
              <a:t>近似</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矩阵表示</a:t>
            </a:r>
            <a:r>
              <a:rPr lang="zh-CN" altLang="en-US" sz="2400" kern="1200">
                <a:solidFill>
                  <a:sysClr val="window" lastClr="FFFFFF"/>
                </a:solidFill>
                <a:latin typeface="Calibri" panose="020F0502020204030204" charset="0"/>
                <a:ea typeface="宋体" pitchFamily="2" charset="-122"/>
              </a:rPr>
              <a:t>转移</a:t>
            </a:r>
            <a:endParaRPr lang="zh-CN" altLang="en-US" sz="2400" kern="1200">
              <a:solidFill>
                <a:sysClr val="window" lastClr="FFFFFF"/>
              </a:solidFill>
              <a:latin typeface="Calibri" panose="020F0502020204030204" charset="0"/>
              <a:ea typeface="宋体" pitchFamily="2" charset="-122"/>
            </a:endParaRPr>
          </a:p>
        </p:txBody>
      </p:sp>
      <p:pic>
        <p:nvPicPr>
          <p:cNvPr id="9" name="图片 8"/>
          <p:cNvPicPr>
            <a:picLocks noChangeAspect="1"/>
          </p:cNvPicPr>
          <p:nvPr/>
        </p:nvPicPr>
        <p:blipFill>
          <a:blip r:embed="rId4"/>
          <a:stretch>
            <a:fillRect/>
          </a:stretch>
        </p:blipFill>
        <p:spPr>
          <a:xfrm>
            <a:off x="7038340" y="2057400"/>
            <a:ext cx="4562475" cy="1590675"/>
          </a:xfrm>
          <a:prstGeom prst="rect">
            <a:avLst/>
          </a:prstGeom>
        </p:spPr>
      </p:pic>
      <p:pic>
        <p:nvPicPr>
          <p:cNvPr id="10" name="图片 9"/>
          <p:cNvPicPr>
            <a:picLocks noChangeAspect="1"/>
          </p:cNvPicPr>
          <p:nvPr/>
        </p:nvPicPr>
        <p:blipFill>
          <a:blip r:embed="rId5"/>
          <a:stretch>
            <a:fillRect/>
          </a:stretch>
        </p:blipFill>
        <p:spPr>
          <a:xfrm>
            <a:off x="7038340" y="4279900"/>
            <a:ext cx="4238625" cy="19335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更多的</a:t>
            </a:r>
            <a:r>
              <a:rPr lang="zh-CN" altLang="en-US"/>
              <a:t>滤波器？</a:t>
            </a:r>
            <a:endParaRPr lang="zh-CN" altLang="en-US"/>
          </a:p>
        </p:txBody>
      </p:sp>
      <p:pic>
        <p:nvPicPr>
          <p:cNvPr id="3" name="图片 2"/>
          <p:cNvPicPr>
            <a:picLocks noChangeAspect="1"/>
          </p:cNvPicPr>
          <p:nvPr/>
        </p:nvPicPr>
        <p:blipFill>
          <a:blip r:embed="rId1"/>
          <a:stretch>
            <a:fillRect/>
          </a:stretch>
        </p:blipFill>
        <p:spPr>
          <a:xfrm>
            <a:off x="6507480" y="1887220"/>
            <a:ext cx="5349240" cy="4159250"/>
          </a:xfrm>
          <a:prstGeom prst="rect">
            <a:avLst/>
          </a:prstGeom>
        </p:spPr>
      </p:pic>
      <p:sp>
        <p:nvSpPr>
          <p:cNvPr id="4" name="文本框 3"/>
          <p:cNvSpPr txBox="1"/>
          <p:nvPr/>
        </p:nvSpPr>
        <p:spPr>
          <a:xfrm>
            <a:off x="494030" y="2004060"/>
            <a:ext cx="5640070" cy="4364990"/>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卡尔曼滤波器</a:t>
            </a:r>
            <a:r>
              <a:rPr lang="zh-CN" altLang="en-US" sz="2400" kern="1200">
                <a:solidFill>
                  <a:sysClr val="window" lastClr="FFFFFF"/>
                </a:solidFill>
                <a:latin typeface="Calibri" panose="020F0502020204030204" charset="0"/>
                <a:ea typeface="宋体" pitchFamily="2" charset="-122"/>
              </a:rPr>
              <a:t>缺点：</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要求时序和测量方程是线性</a:t>
            </a:r>
            <a:r>
              <a:rPr lang="zh-CN" altLang="en-US" sz="2400" kern="1200">
                <a:solidFill>
                  <a:sysClr val="window" lastClr="FFFFFF"/>
                </a:solidFill>
                <a:latin typeface="Calibri" panose="020F0502020204030204" charset="0"/>
                <a:ea typeface="宋体" pitchFamily="2" charset="-122"/>
              </a:rPr>
              <a:t>的</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假设边缘后验分布是单峰分布（对物体的位置等状态只能有</a:t>
            </a:r>
            <a:r>
              <a:rPr lang="zh-CN" altLang="en-US" sz="2400" kern="1200">
                <a:solidFill>
                  <a:sysClr val="window" lastClr="FFFFFF"/>
                </a:solidFill>
                <a:latin typeface="Calibri" panose="020F0502020204030204" charset="0"/>
                <a:ea typeface="宋体" pitchFamily="2" charset="-122"/>
              </a:rPr>
              <a:t>一个假设）</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拓展卡尔曼：</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只使用一阶泰勒展开，若非线性程度</a:t>
            </a:r>
            <a:r>
              <a:rPr lang="zh-CN" altLang="en-US" sz="2400" kern="1200">
                <a:solidFill>
                  <a:sysClr val="window" lastClr="FFFFFF"/>
                </a:solidFill>
                <a:latin typeface="Calibri" panose="020F0502020204030204" charset="0"/>
                <a:ea typeface="宋体" pitchFamily="2" charset="-122"/>
              </a:rPr>
              <a:t>高？</a:t>
            </a:r>
            <a:endParaRPr lang="zh-CN" altLang="en-US" sz="2400" kern="1200">
              <a:solidFill>
                <a:sysClr val="window" lastClr="FFFFFF"/>
              </a:solidFill>
              <a:latin typeface="Calibri" panose="020F0502020204030204" charset="0"/>
              <a:ea typeface="宋体"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735330" y="618490"/>
            <a:ext cx="5676900" cy="5250180"/>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无迹卡尔曼：</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对于卡尔曼的状态转移部分，在均值附近，沿协方差的主方向均匀选点，然后代入非线性函数</a:t>
            </a:r>
            <a:r>
              <a:rPr lang="zh-CN" altLang="en-US" sz="2400" kern="1200">
                <a:solidFill>
                  <a:sysClr val="window" lastClr="FFFFFF"/>
                </a:solidFill>
                <a:latin typeface="Calibri" panose="020F0502020204030204" charset="0"/>
                <a:ea typeface="宋体" pitchFamily="2" charset="-122"/>
              </a:rPr>
              <a:t>中</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粒子</a:t>
            </a:r>
            <a:r>
              <a:rPr lang="zh-CN" altLang="en-US" sz="2400" kern="1200">
                <a:solidFill>
                  <a:sysClr val="window" lastClr="FFFFFF"/>
                </a:solidFill>
                <a:latin typeface="Calibri" panose="020F0502020204030204" charset="0"/>
                <a:ea typeface="宋体" pitchFamily="2" charset="-122"/>
              </a:rPr>
              <a:t>滤波：</a:t>
            </a:r>
            <a:endParaRPr lang="zh-CN" altLang="en-US" sz="24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卡尔曼相当于维护了均值，协方差等参数，不断将最大后验估计和新的观测值融合。而粒子滤波在状态空间上维护许多设置的点，对所有点进行更新和维护，并进行重采样防止粒子被</a:t>
            </a:r>
            <a:r>
              <a:rPr lang="en-US" altLang="zh-CN" sz="2400" kern="1200">
                <a:solidFill>
                  <a:sysClr val="window" lastClr="FFFFFF"/>
                </a:solidFill>
                <a:latin typeface="Calibri" panose="020F0502020204030204" charset="0"/>
                <a:ea typeface="宋体" pitchFamily="2" charset="-122"/>
              </a:rPr>
              <a:t>“</a:t>
            </a:r>
            <a:r>
              <a:rPr lang="zh-CN" altLang="en-US" sz="2400" kern="1200">
                <a:solidFill>
                  <a:sysClr val="window" lastClr="FFFFFF"/>
                </a:solidFill>
                <a:latin typeface="Calibri" panose="020F0502020204030204" charset="0"/>
                <a:ea typeface="宋体" pitchFamily="2" charset="-122"/>
              </a:rPr>
              <a:t>稀释</a:t>
            </a:r>
            <a:r>
              <a:rPr lang="en-US" altLang="zh-CN" sz="2400" kern="1200">
                <a:solidFill>
                  <a:sysClr val="window" lastClr="FFFFFF"/>
                </a:solidFill>
                <a:latin typeface="Calibri" panose="020F0502020204030204" charset="0"/>
                <a:ea typeface="宋体" pitchFamily="2" charset="-122"/>
              </a:rPr>
              <a:t>”</a:t>
            </a:r>
            <a:r>
              <a:rPr lang="zh-CN" altLang="en-US" sz="2400" kern="1200">
                <a:solidFill>
                  <a:sysClr val="window" lastClr="FFFFFF"/>
                </a:solidFill>
                <a:latin typeface="Calibri" panose="020F0502020204030204" charset="0"/>
                <a:ea typeface="宋体" pitchFamily="2" charset="-122"/>
              </a:rPr>
              <a:t>（大量概率趋于</a:t>
            </a:r>
            <a:r>
              <a:rPr lang="en-US" altLang="zh-CN" sz="2400" kern="1200">
                <a:solidFill>
                  <a:sysClr val="window" lastClr="FFFFFF"/>
                </a:solidFill>
                <a:latin typeface="Calibri" panose="020F0502020204030204" charset="0"/>
                <a:ea typeface="宋体" pitchFamily="2" charset="-122"/>
              </a:rPr>
              <a:t>0</a:t>
            </a:r>
            <a:r>
              <a:rPr lang="zh-CN" altLang="en-US" sz="2400" kern="1200">
                <a:solidFill>
                  <a:sysClr val="window" lastClr="FFFFFF"/>
                </a:solidFill>
                <a:latin typeface="Calibri" panose="020F0502020204030204" charset="0"/>
                <a:ea typeface="宋体" pitchFamily="2" charset="-122"/>
              </a:rPr>
              <a:t>），能更好的维护全局状态，适应非线性</a:t>
            </a:r>
            <a:r>
              <a:rPr lang="zh-CN" altLang="en-US" sz="2400" kern="1200">
                <a:solidFill>
                  <a:sysClr val="window" lastClr="FFFFFF"/>
                </a:solidFill>
                <a:latin typeface="Calibri" panose="020F0502020204030204" charset="0"/>
                <a:ea typeface="宋体" pitchFamily="2" charset="-122"/>
              </a:rPr>
              <a:t>情况。</a:t>
            </a:r>
            <a:endParaRPr lang="zh-CN" altLang="en-US" sz="2400" kern="1200">
              <a:solidFill>
                <a:sysClr val="window" lastClr="FFFFFF"/>
              </a:solidFill>
              <a:latin typeface="Calibri" panose="020F0502020204030204" charset="0"/>
              <a:ea typeface="宋体" pitchFamily="2" charset="-122"/>
            </a:endParaRPr>
          </a:p>
        </p:txBody>
      </p:sp>
      <p:pic>
        <p:nvPicPr>
          <p:cNvPr id="4" name="图片 3"/>
          <p:cNvPicPr>
            <a:picLocks noChangeAspect="1"/>
          </p:cNvPicPr>
          <p:nvPr/>
        </p:nvPicPr>
        <p:blipFill>
          <a:blip r:embed="rId1"/>
          <a:stretch>
            <a:fillRect/>
          </a:stretch>
        </p:blipFill>
        <p:spPr>
          <a:xfrm>
            <a:off x="6567805" y="1417955"/>
            <a:ext cx="5255260" cy="3787140"/>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commondata" val="eyJoZGlkIjoiYTljMTgwNjNmYzFmZDA3MDZmYmJlMGJhOGQ2MzBjY2EifQ=="/>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1798</Words>
  <Application>WPS 演示</Application>
  <PresentationFormat>宽屏</PresentationFormat>
  <Paragraphs>227</Paragraphs>
  <Slides>22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Arial</vt:lpstr>
      <vt:lpstr>宋体</vt:lpstr>
      <vt:lpstr>Wingdings</vt:lpstr>
      <vt:lpstr>Noto Serif CJK SC</vt:lpstr>
      <vt:lpstr>Calibri</vt:lpstr>
      <vt:lpstr>Trebuchet MS</vt:lpstr>
      <vt:lpstr>Calibri Light</vt:lpstr>
      <vt:lpstr>微软雅黑</vt:lpstr>
      <vt:lpstr>宋体</vt:lpstr>
      <vt:lpstr>Arial Unicode MS</vt:lpstr>
      <vt:lpstr>1_Office 主题​​</vt:lpstr>
      <vt:lpstr>位姿描述与状态估计</vt:lpstr>
      <vt:lpstr>我们要做什么</vt:lpstr>
      <vt:lpstr>例如</vt:lpstr>
      <vt:lpstr>对于机器人：</vt:lpstr>
      <vt:lpstr>三维空间刚体运动</vt:lpstr>
      <vt:lpstr>PowerPoint 演示文稿</vt:lpstr>
      <vt:lpstr>PowerPoint 演示文稿</vt:lpstr>
      <vt:lpstr>PowerPoint 演示文稿</vt:lpstr>
      <vt:lpstr>PowerPoint 演示文稿</vt:lpstr>
      <vt:lpstr>PowerPoint 演示文稿</vt:lpstr>
      <vt:lpstr>更好的位姿描述</vt:lpstr>
      <vt:lpstr>旋转向量、欧拉角与四元数</vt:lpstr>
      <vt:lpstr>PowerPoint 演示文稿</vt:lpstr>
      <vt:lpstr>状态估计</vt:lpstr>
      <vt:lpstr>状态空间方程： Xn = FnXn-1 + Vn Yn = HnXn + Wn</vt:lpstr>
      <vt:lpstr>PowerPoint 演示文稿</vt:lpstr>
      <vt:lpstr>状态空间方程： Xn = FnXn-1 + Vn Yn = HnXn + Wn</vt:lpstr>
      <vt:lpstr>PowerPoint 演示文稿</vt:lpstr>
      <vt:lpstr>非线性模型难以表示？</vt:lpstr>
      <vt:lpstr>非线性模型难以表示？</vt:lpstr>
      <vt:lpstr>更多的滤波器？</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coffee</cp:lastModifiedBy>
  <cp:revision>19</cp:revision>
  <dcterms:created xsi:type="dcterms:W3CDTF">2025-11-07T15:47:30Z</dcterms:created>
  <dcterms:modified xsi:type="dcterms:W3CDTF">2025-11-07T15:47:30Z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2052-12.1.2.22571</vt:lpwstr>
  </property>
</Properties>
</file>