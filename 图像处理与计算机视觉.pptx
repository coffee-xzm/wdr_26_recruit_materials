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73" r:id="rId3"/>
    <p:sldId id="375" r:id="rId4"/>
    <p:sldId id="413" r:id="rId5"/>
    <p:sldId id="419" r:id="rId6"/>
    <p:sldId id="411" r:id="rId7"/>
    <p:sldId id="416" r:id="rId8"/>
    <p:sldId id="471" r:id="rId9"/>
    <p:sldId id="415" r:id="rId10"/>
    <p:sldId id="412" r:id="rId11"/>
    <p:sldId id="420" r:id="rId12"/>
    <p:sldId id="386" r:id="rId13"/>
    <p:sldId id="377" r:id="rId14"/>
    <p:sldId id="379" r:id="rId15"/>
    <p:sldId id="425" r:id="rId16"/>
    <p:sldId id="426" r:id="rId17"/>
    <p:sldId id="381" r:id="rId18"/>
    <p:sldId id="382" r:id="rId19"/>
    <p:sldId id="401" r:id="rId20"/>
    <p:sldId id="376" r:id="rId21"/>
    <p:sldId id="422" r:id="rId22"/>
    <p:sldId id="423" r:id="rId23"/>
    <p:sldId id="424" r:id="rId24"/>
    <p:sldId id="427" r:id="rId25"/>
    <p:sldId id="428"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70" r:id="rId39"/>
    <p:sldId id="447" r:id="rId40"/>
    <p:sldId id="448" r:id="rId41"/>
    <p:sldId id="449" r:id="rId42"/>
    <p:sldId id="450" r:id="rId43"/>
    <p:sldId id="451" r:id="rId44"/>
    <p:sldId id="452" r:id="rId45"/>
    <p:sldId id="453" r:id="rId46"/>
    <p:sldId id="454" r:id="rId47"/>
    <p:sldId id="456" r:id="rId48"/>
    <p:sldId id="457" r:id="rId49"/>
    <p:sldId id="378" r:id="rId50"/>
    <p:sldId id="441" r:id="rId51"/>
    <p:sldId id="442" r:id="rId52"/>
    <p:sldId id="443" r:id="rId53"/>
    <p:sldId id="444" r:id="rId54"/>
    <p:sldId id="445" r:id="rId55"/>
    <p:sldId id="446" r:id="rId56"/>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8" autoAdjust="0"/>
    <p:restoredTop sz="94660"/>
  </p:normalViewPr>
  <p:slideViewPr>
    <p:cSldViewPr snapToGrid="0" showGuides="1">
      <p:cViewPr varScale="1">
        <p:scale>
          <a:sx n="46" d="100"/>
          <a:sy n="46" d="100"/>
        </p:scale>
        <p:origin x="25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gs" Target="tags/tag85.xml"/><Relationship Id="rId6" Type="http://schemas.openxmlformats.org/officeDocument/2006/relationships/slide" Target="slides/slide4.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solidFill>
                  <a:schemeClr val="bg1"/>
                </a:solidFill>
                <a:latin typeface="宋体" pitchFamily="2" charset="-122"/>
                <a:ea typeface="宋体" pitchFamily="2" charset="-122"/>
              </a:defRPr>
            </a:lvl1pPr>
          </a:lstStyle>
          <a:p>
            <a:r>
              <a:rPr lang="en-US" altLang="zh-CN"/>
              <a:t>1</a:t>
            </a:r>
            <a:endParaRPr lang="en-US" altLang="zh-CN"/>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
        <p:nvSpPr>
          <p:cNvPr id="8" name="标题 1"/>
          <p:cNvSpPr>
            <a:spLocks noGrp="1"/>
          </p:cNvSpPr>
          <p:nvPr userDrawn="1"/>
        </p:nvSpPr>
        <p:spPr>
          <a:xfrm>
            <a:off x="928370" y="2103120"/>
            <a:ext cx="10515600" cy="3438525"/>
          </a:xfrm>
          <a:prstGeom prst="rect">
            <a:avLst/>
          </a:prstGeom>
        </p:spPr>
        <p:txBody>
          <a:bodyPr vert="horz" lIns="91440" tIns="45720" rIns="91440" bIns="45720" rtlCol="0" anchor="ctr">
            <a:normAutofit/>
          </a:bodyPr>
          <a:lstStyle>
            <a:lvl1pPr>
              <a:defRPr>
                <a:solidFill>
                  <a:schemeClr val="bg1"/>
                </a:solidFill>
                <a:latin typeface="宋体" pitchFamily="2" charset="-122"/>
                <a:ea typeface="宋体" pitchFamily="2" charset="-122"/>
              </a:defRPr>
            </a:lvl1pPr>
          </a:lstStyle>
          <a:p>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5DED5A1-067F-47A8-A42C-2965B0A49BE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6D0A9B-4E31-4502-A18B-776CAED3EF7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ED5A1-067F-47A8-A42C-2965B0A49BE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6D0A9B-4E31-4502-A18B-776CAED3EF7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4.png"/><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1" Type="http://schemas.openxmlformats.org/officeDocument/2006/relationships/slideLayout" Target="../slideLayouts/slideLayout1.xml"/><Relationship Id="rId10" Type="http://schemas.openxmlformats.org/officeDocument/2006/relationships/tags" Target="../tags/tag6.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tags" Target="../tags/tag10.xml"/><Relationship Id="rId7" Type="http://schemas.openxmlformats.org/officeDocument/2006/relationships/image" Target="../media/image27.png"/><Relationship Id="rId6" Type="http://schemas.openxmlformats.org/officeDocument/2006/relationships/tags" Target="../tags/tag9.xml"/><Relationship Id="rId5" Type="http://schemas.openxmlformats.org/officeDocument/2006/relationships/image" Target="../media/image26.png"/><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image" Target="../media/image3.png"/><Relationship Id="rId13" Type="http://schemas.openxmlformats.org/officeDocument/2006/relationships/slideLayout" Target="../slideLayouts/slideLayout1.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image" Target="../media/image35.png"/><Relationship Id="rId7" Type="http://schemas.openxmlformats.org/officeDocument/2006/relationships/tags" Target="../tags/tag1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tags" Target="../tags/tag14.xml"/><Relationship Id="rId2" Type="http://schemas.openxmlformats.org/officeDocument/2006/relationships/image" Target="../media/image3.png"/><Relationship Id="rId11" Type="http://schemas.openxmlformats.org/officeDocument/2006/relationships/slideLayout" Target="../slideLayouts/slideLayout1.xml"/><Relationship Id="rId10" Type="http://schemas.openxmlformats.org/officeDocument/2006/relationships/image" Target="../media/image36.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8.png"/><Relationship Id="rId7" Type="http://schemas.openxmlformats.org/officeDocument/2006/relationships/tags" Target="../tags/tag19.xml"/><Relationship Id="rId6" Type="http://schemas.openxmlformats.org/officeDocument/2006/relationships/image" Target="../media/image35.png"/><Relationship Id="rId5" Type="http://schemas.openxmlformats.org/officeDocument/2006/relationships/tags" Target="../tags/tag18.xml"/><Relationship Id="rId4" Type="http://schemas.openxmlformats.org/officeDocument/2006/relationships/image" Target="../media/image37.png"/><Relationship Id="rId3" Type="http://schemas.openxmlformats.org/officeDocument/2006/relationships/tags" Target="../tags/tag17.xml"/><Relationship Id="rId2" Type="http://schemas.openxmlformats.org/officeDocument/2006/relationships/image" Target="../media/image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2.png"/><Relationship Id="rId7" Type="http://schemas.openxmlformats.org/officeDocument/2006/relationships/tags" Target="../tags/tag21.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png"/><Relationship Id="rId3" Type="http://schemas.openxmlformats.org/officeDocument/2006/relationships/tags" Target="../tags/tag20.xml"/><Relationship Id="rId2" Type="http://schemas.openxmlformats.org/officeDocument/2006/relationships/image" Target="../media/image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4.png"/><Relationship Id="rId7" Type="http://schemas.openxmlformats.org/officeDocument/2006/relationships/tags" Target="../tags/tag25.xml"/><Relationship Id="rId6" Type="http://schemas.openxmlformats.org/officeDocument/2006/relationships/image" Target="../media/image43.png"/><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image" Target="../media/image3.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6.png"/><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45.png"/><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image" Target="../media/image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tags" Target="../tags/tag33.xml"/><Relationship Id="rId7" Type="http://schemas.openxmlformats.org/officeDocument/2006/relationships/image" Target="../media/image48.png"/><Relationship Id="rId6" Type="http://schemas.openxmlformats.org/officeDocument/2006/relationships/tags" Target="../tags/tag32.xml"/><Relationship Id="rId5" Type="http://schemas.openxmlformats.org/officeDocument/2006/relationships/image" Target="../media/image47.png"/><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image" Target="../media/image3.png"/><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tags" Target="../tags/tag37.xml"/><Relationship Id="rId7" Type="http://schemas.openxmlformats.org/officeDocument/2006/relationships/image" Target="../media/image51.png"/><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image" Target="../media/image50.png"/><Relationship Id="rId3" Type="http://schemas.openxmlformats.org/officeDocument/2006/relationships/tags" Target="../tags/tag34.xml"/><Relationship Id="rId2" Type="http://schemas.openxmlformats.org/officeDocument/2006/relationships/image" Target="../media/image3.png"/><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4.png"/><Relationship Id="rId6" Type="http://schemas.openxmlformats.org/officeDocument/2006/relationships/tags" Target="../tags/tag40.xml"/><Relationship Id="rId5" Type="http://schemas.openxmlformats.org/officeDocument/2006/relationships/image" Target="../media/image53.png"/><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image" Target="../media/image57.png"/><Relationship Id="rId7" Type="http://schemas.openxmlformats.org/officeDocument/2006/relationships/tags" Target="../tags/tag49.xml"/><Relationship Id="rId6" Type="http://schemas.openxmlformats.org/officeDocument/2006/relationships/image" Target="../media/image56.png"/><Relationship Id="rId5" Type="http://schemas.openxmlformats.org/officeDocument/2006/relationships/tags" Target="../tags/tag48.xml"/><Relationship Id="rId4" Type="http://schemas.openxmlformats.org/officeDocument/2006/relationships/image" Target="../media/image55.png"/><Relationship Id="rId3" Type="http://schemas.openxmlformats.org/officeDocument/2006/relationships/tags" Target="../tags/tag47.xml"/><Relationship Id="rId2" Type="http://schemas.openxmlformats.org/officeDocument/2006/relationships/image" Target="../media/image3.png"/><Relationship Id="rId13" Type="http://schemas.openxmlformats.org/officeDocument/2006/relationships/slideLayout" Target="../slideLayouts/slideLayout1.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image" Target="../media/image58.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image" Target="../media/image61.png"/><Relationship Id="rId7" Type="http://schemas.openxmlformats.org/officeDocument/2006/relationships/tags" Target="../tags/tag55.xml"/><Relationship Id="rId6" Type="http://schemas.openxmlformats.org/officeDocument/2006/relationships/image" Target="../media/image60.png"/><Relationship Id="rId5" Type="http://schemas.openxmlformats.org/officeDocument/2006/relationships/tags" Target="../tags/tag54.xml"/><Relationship Id="rId4" Type="http://schemas.openxmlformats.org/officeDocument/2006/relationships/image" Target="../media/image59.png"/><Relationship Id="rId3" Type="http://schemas.openxmlformats.org/officeDocument/2006/relationships/tags" Target="../tags/tag53.xml"/><Relationship Id="rId2" Type="http://schemas.openxmlformats.org/officeDocument/2006/relationships/image" Target="../media/image3.png"/><Relationship Id="rId17" Type="http://schemas.openxmlformats.org/officeDocument/2006/relationships/slideLayout" Target="../slideLayouts/slideLayout1.xml"/><Relationship Id="rId16" Type="http://schemas.openxmlformats.org/officeDocument/2006/relationships/image" Target="../media/image65.png"/><Relationship Id="rId15" Type="http://schemas.openxmlformats.org/officeDocument/2006/relationships/tags" Target="../tags/tag59.xml"/><Relationship Id="rId14" Type="http://schemas.openxmlformats.org/officeDocument/2006/relationships/image" Target="../media/image64.png"/><Relationship Id="rId13" Type="http://schemas.openxmlformats.org/officeDocument/2006/relationships/tags" Target="../tags/tag58.xml"/><Relationship Id="rId12" Type="http://schemas.openxmlformats.org/officeDocument/2006/relationships/image" Target="../media/image63.png"/><Relationship Id="rId11" Type="http://schemas.openxmlformats.org/officeDocument/2006/relationships/tags" Target="../tags/tag57.xml"/><Relationship Id="rId10" Type="http://schemas.openxmlformats.org/officeDocument/2006/relationships/image" Target="../media/image62.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tags" Target="../tags/tag61.xml"/><Relationship Id="rId4" Type="http://schemas.openxmlformats.org/officeDocument/2006/relationships/image" Target="../media/image66.png"/><Relationship Id="rId3" Type="http://schemas.openxmlformats.org/officeDocument/2006/relationships/tags" Target="../tags/tag60.xml"/><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tags" Target="../tags/tag63.xml"/><Relationship Id="rId4" Type="http://schemas.openxmlformats.org/officeDocument/2006/relationships/image" Target="../media/image68.png"/><Relationship Id="rId3" Type="http://schemas.openxmlformats.org/officeDocument/2006/relationships/tags" Target="../tags/tag62.xml"/><Relationship Id="rId2" Type="http://schemas.openxmlformats.org/officeDocument/2006/relationships/image" Target="../media/image3.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9.png"/><Relationship Id="rId3" Type="http://schemas.openxmlformats.org/officeDocument/2006/relationships/tags" Target="../tags/tag64.xml"/><Relationship Id="rId2" Type="http://schemas.openxmlformats.org/officeDocument/2006/relationships/image" Target="../media/image3.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1.png"/><Relationship Id="rId3" Type="http://schemas.openxmlformats.org/officeDocument/2006/relationships/tags" Target="../tags/tag65.xml"/><Relationship Id="rId2" Type="http://schemas.openxmlformats.org/officeDocument/2006/relationships/image" Target="../media/image3.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2.png"/><Relationship Id="rId3" Type="http://schemas.openxmlformats.org/officeDocument/2006/relationships/tags" Target="../tags/tag66.xml"/><Relationship Id="rId2" Type="http://schemas.openxmlformats.org/officeDocument/2006/relationships/image" Target="../media/image3.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3.png"/><Relationship Id="rId3" Type="http://schemas.openxmlformats.org/officeDocument/2006/relationships/tags" Target="../tags/tag67.xml"/><Relationship Id="rId2" Type="http://schemas.openxmlformats.org/officeDocument/2006/relationships/image" Target="../media/image3.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4.png"/><Relationship Id="rId3" Type="http://schemas.openxmlformats.org/officeDocument/2006/relationships/tags" Target="../tags/tag68.xml"/><Relationship Id="rId2" Type="http://schemas.openxmlformats.org/officeDocument/2006/relationships/image" Target="../media/image3.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77.png"/><Relationship Id="rId6" Type="http://schemas.openxmlformats.org/officeDocument/2006/relationships/image" Target="../media/image76.png"/><Relationship Id="rId5" Type="http://schemas.openxmlformats.org/officeDocument/2006/relationships/tags" Target="../tags/tag70.xml"/><Relationship Id="rId4" Type="http://schemas.openxmlformats.org/officeDocument/2006/relationships/image" Target="../media/image75.png"/><Relationship Id="rId3" Type="http://schemas.openxmlformats.org/officeDocument/2006/relationships/tags" Target="../tags/tag69.xml"/><Relationship Id="rId2" Type="http://schemas.openxmlformats.org/officeDocument/2006/relationships/image" Target="../media/image3.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8.png"/><Relationship Id="rId3" Type="http://schemas.openxmlformats.org/officeDocument/2006/relationships/tags" Target="../tags/tag71.xml"/><Relationship Id="rId2" Type="http://schemas.openxmlformats.org/officeDocument/2006/relationships/image" Target="../media/image3.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tags" Target="../tags/tag73.xml"/><Relationship Id="rId4" Type="http://schemas.openxmlformats.org/officeDocument/2006/relationships/image" Target="../media/image79.png"/><Relationship Id="rId3" Type="http://schemas.openxmlformats.org/officeDocument/2006/relationships/tags" Target="../tags/tag72.xml"/><Relationship Id="rId2" Type="http://schemas.openxmlformats.org/officeDocument/2006/relationships/image" Target="../media/image3.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3.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4.jpeg"/><Relationship Id="rId5" Type="http://schemas.openxmlformats.org/officeDocument/2006/relationships/tags" Target="../tags/tag75.xml"/><Relationship Id="rId4" Type="http://schemas.openxmlformats.org/officeDocument/2006/relationships/image" Target="../media/image83.png"/><Relationship Id="rId3" Type="http://schemas.openxmlformats.org/officeDocument/2006/relationships/tags" Target="../tags/tag74.xml"/><Relationship Id="rId2" Type="http://schemas.openxmlformats.org/officeDocument/2006/relationships/image" Target="../media/image3.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7.png"/><Relationship Id="rId7" Type="http://schemas.openxmlformats.org/officeDocument/2006/relationships/tags" Target="../tags/tag77.xml"/><Relationship Id="rId6" Type="http://schemas.openxmlformats.org/officeDocument/2006/relationships/image" Target="../media/image86.png"/><Relationship Id="rId5" Type="http://schemas.openxmlformats.org/officeDocument/2006/relationships/tags" Target="../tags/tag76.xml"/><Relationship Id="rId4" Type="http://schemas.openxmlformats.org/officeDocument/2006/relationships/image" Target="../media/image85.png"/><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image" Target="../media/image90.png"/><Relationship Id="rId7" Type="http://schemas.openxmlformats.org/officeDocument/2006/relationships/tags" Target="../tags/tag80.xml"/><Relationship Id="rId6" Type="http://schemas.openxmlformats.org/officeDocument/2006/relationships/image" Target="../media/image89.png"/><Relationship Id="rId5" Type="http://schemas.openxmlformats.org/officeDocument/2006/relationships/tags" Target="../tags/tag79.xml"/><Relationship Id="rId4" Type="http://schemas.openxmlformats.org/officeDocument/2006/relationships/image" Target="../media/image88.png"/><Relationship Id="rId3" Type="http://schemas.openxmlformats.org/officeDocument/2006/relationships/tags" Target="../tags/tag78.xml"/><Relationship Id="rId2" Type="http://schemas.openxmlformats.org/officeDocument/2006/relationships/image" Target="../media/image3.png"/><Relationship Id="rId15" Type="http://schemas.openxmlformats.org/officeDocument/2006/relationships/slideLayout" Target="../slideLayouts/slideLayout1.xml"/><Relationship Id="rId14" Type="http://schemas.openxmlformats.org/officeDocument/2006/relationships/image" Target="../media/image93.png"/><Relationship Id="rId13" Type="http://schemas.openxmlformats.org/officeDocument/2006/relationships/tags" Target="../tags/tag83.xml"/><Relationship Id="rId12" Type="http://schemas.openxmlformats.org/officeDocument/2006/relationships/image" Target="../media/image92.png"/><Relationship Id="rId11" Type="http://schemas.openxmlformats.org/officeDocument/2006/relationships/tags" Target="../tags/tag82.xml"/><Relationship Id="rId10" Type="http://schemas.openxmlformats.org/officeDocument/2006/relationships/image" Target="../media/image91.png"/><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4.GIF"/><Relationship Id="rId3" Type="http://schemas.openxmlformats.org/officeDocument/2006/relationships/tags" Target="../tags/tag84.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10" name="文本框 9"/>
          <p:cNvSpPr txBox="1"/>
          <p:nvPr/>
        </p:nvSpPr>
        <p:spPr>
          <a:xfrm>
            <a:off x="220660" y="1344100"/>
            <a:ext cx="5770880" cy="21837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prstClr val="white"/>
                </a:solidFill>
                <a:effectLst/>
                <a:uLnTx/>
                <a:uFillTx/>
                <a:latin typeface="宋体" pitchFamily="2" charset="-122"/>
                <a:ea typeface="宋体" pitchFamily="2" charset="-122"/>
                <a:cs typeface="宋体" pitchFamily="2" charset="-122"/>
                <a:sym typeface="+mn-lt"/>
              </a:rPr>
              <a:t>视觉算法组</a:t>
            </a:r>
            <a:endParaRPr kumimoji="0" lang="en-US" altLang="zh-CN" sz="4400" b="0" i="0" u="none" strike="noStrike" kern="1200" cap="none" spc="0" normalizeH="0" baseline="0" noProof="0" dirty="0">
              <a:ln>
                <a:noFill/>
              </a:ln>
              <a:solidFill>
                <a:prstClr val="white"/>
              </a:solidFill>
              <a:effectLst/>
              <a:uLnTx/>
              <a:uFillTx/>
              <a:latin typeface="宋体" pitchFamily="2" charset="-122"/>
              <a:ea typeface="宋体" pitchFamily="2" charset="-122"/>
              <a:cs typeface="宋体" pitchFamily="2" charset="-122"/>
              <a:sym typeface="+mn-lt"/>
            </a:endParaRPr>
          </a:p>
          <a:p>
            <a:pPr>
              <a:defRPr/>
            </a:pPr>
            <a:r>
              <a:rPr kumimoji="0" lang="zh-CN" altLang="en-US" sz="4400" b="0" i="0" u="none" strike="noStrike" kern="1200" cap="none" spc="0" normalizeH="0" baseline="0" noProof="0" dirty="0">
                <a:ln>
                  <a:noFill/>
                </a:ln>
                <a:solidFill>
                  <a:prstClr val="white"/>
                </a:solidFill>
                <a:effectLst/>
                <a:uLnTx/>
                <a:uFillTx/>
                <a:latin typeface="宋体" pitchFamily="2" charset="-122"/>
                <a:ea typeface="宋体" pitchFamily="2" charset="-122"/>
                <a:cs typeface="宋体" pitchFamily="2" charset="-122"/>
                <a:sym typeface="+mn-lt"/>
              </a:rPr>
              <a:t>图像处理与计算机视觉</a:t>
            </a:r>
            <a:endParaRPr kumimoji="0" lang="en-US" altLang="zh-CN" sz="4400" b="0" i="0" u="none" strike="noStrike" kern="1200" cap="none" spc="0" normalizeH="0" baseline="0" noProof="0" dirty="0">
              <a:ln>
                <a:noFill/>
              </a:ln>
              <a:solidFill>
                <a:prstClr val="white"/>
              </a:solidFill>
              <a:effectLst/>
              <a:uLnTx/>
              <a:uFillTx/>
              <a:latin typeface="宋体" pitchFamily="2" charset="-122"/>
              <a:ea typeface="宋体" pitchFamily="2" charset="-122"/>
              <a:cs typeface="宋体" pitchFamily="2" charset="-122"/>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chemeClr val="accent2"/>
                </a:solidFill>
                <a:effectLst/>
                <a:uLnTx/>
                <a:uFillTx/>
                <a:cs typeface="+mn-ea"/>
                <a:sym typeface="+mn-lt"/>
              </a:rPr>
              <a:t>   </a:t>
            </a:r>
            <a:endParaRPr kumimoji="0" lang="zh-CN" altLang="en-US" sz="4400" b="0" i="0" u="none" strike="noStrike" kern="1200" cap="none" spc="0" normalizeH="0" baseline="0" noProof="0" dirty="0">
              <a:ln>
                <a:noFill/>
              </a:ln>
              <a:solidFill>
                <a:prstClr val="white"/>
              </a:solidFill>
              <a:effectLst/>
              <a:uLnTx/>
              <a:uFillTx/>
              <a:cs typeface="+mn-ea"/>
              <a:sym typeface="+mn-lt"/>
            </a:endParaRPr>
          </a:p>
        </p:txBody>
      </p:sp>
      <p:sp>
        <p:nvSpPr>
          <p:cNvPr id="4" name="文本框 3"/>
          <p:cNvSpPr txBox="1"/>
          <p:nvPr/>
        </p:nvSpPr>
        <p:spPr>
          <a:xfrm>
            <a:off x="6732905" y="6166485"/>
            <a:ext cx="5038725" cy="408940"/>
          </a:xfrm>
          <a:prstGeom prst="rect">
            <a:avLst/>
          </a:prstGeom>
          <a:noFill/>
        </p:spPr>
        <p:txBody>
          <a:bodyPr wrap="none" rtlCol="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合肥工业大学宣城校区</a:t>
            </a:r>
            <a:r>
              <a:rPr kumimoji="0" lang="en-US" altLang="zh-CN" sz="1600" b="0" i="0" u="none" strike="noStrike" kern="1200" cap="none" spc="0" normalizeH="0" baseline="0" noProof="0" dirty="0">
                <a:ln>
                  <a:noFill/>
                </a:ln>
                <a:solidFill>
                  <a:prstClr val="white"/>
                </a:solidFill>
                <a:effectLst/>
                <a:uLnTx/>
                <a:uFillTx/>
                <a:cs typeface="+mn-ea"/>
                <a:sym typeface="+mn-lt"/>
              </a:rPr>
              <a:t>RoboMaster</a:t>
            </a:r>
            <a:r>
              <a:rPr kumimoji="0" lang="zh-CN" altLang="en-US" sz="1600" b="0" i="0" u="none" strike="noStrike" kern="1200" cap="none" spc="0" normalizeH="0" baseline="0" noProof="0" dirty="0">
                <a:ln>
                  <a:noFill/>
                </a:ln>
                <a:solidFill>
                  <a:prstClr val="white"/>
                </a:solidFill>
                <a:effectLst/>
                <a:uLnTx/>
                <a:uFillTx/>
                <a:cs typeface="+mn-ea"/>
                <a:sym typeface="+mn-lt"/>
              </a:rPr>
              <a:t>机器人创新实验室</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pic>
        <p:nvPicPr>
          <p:cNvPr id="1026" name="Picture 2" descr="OpenC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480" y="3891424"/>
            <a:ext cx="1452444" cy="19172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什么是计算机视觉？</a:t>
            </a:r>
            <a:endParaRPr lang="zh-CN" altLang="en-US" sz="3200" dirty="0">
              <a:solidFill>
                <a:schemeClr val="bg1"/>
              </a:solidFill>
              <a:cs typeface="+mn-ea"/>
              <a:sym typeface="+mn-lt"/>
            </a:endParaRPr>
          </a:p>
        </p:txBody>
      </p:sp>
      <p:sp>
        <p:nvSpPr>
          <p:cNvPr id="3" name="文本框 2"/>
          <p:cNvSpPr txBox="1"/>
          <p:nvPr/>
        </p:nvSpPr>
        <p:spPr>
          <a:xfrm>
            <a:off x="172810" y="1073604"/>
            <a:ext cx="5826035" cy="829945"/>
          </a:xfrm>
          <a:prstGeom prst="rect">
            <a:avLst/>
          </a:prstGeom>
          <a:noFill/>
        </p:spPr>
        <p:txBody>
          <a:bodyPr wrap="square" rtlCol="0">
            <a:spAutoFit/>
          </a:bodyPr>
          <a:lstStyle/>
          <a:p>
            <a:r>
              <a:rPr lang="zh-CN" altLang="en-US" sz="2400" dirty="0">
                <a:solidFill>
                  <a:schemeClr val="bg1"/>
                </a:solidFill>
              </a:rPr>
              <a:t>输入数据</a:t>
            </a:r>
            <a:r>
              <a:rPr lang="en-US" altLang="zh-CN" sz="2400" dirty="0">
                <a:solidFill>
                  <a:schemeClr val="bg1"/>
                </a:solidFill>
              </a:rPr>
              <a:t>:</a:t>
            </a:r>
            <a:endParaRPr lang="en-US" altLang="zh-CN" sz="2400" dirty="0">
              <a:solidFill>
                <a:schemeClr val="bg1"/>
              </a:solidFill>
            </a:endParaRPr>
          </a:p>
          <a:p>
            <a:r>
              <a:rPr lang="zh-CN" altLang="en-US" sz="2400" dirty="0">
                <a:solidFill>
                  <a:schemeClr val="bg1"/>
                </a:solidFill>
              </a:rPr>
              <a:t>（随时间变化的）二维数据</a:t>
            </a:r>
            <a:endParaRPr lang="zh-CN" altLang="en-US" sz="2400" dirty="0">
              <a:solidFill>
                <a:schemeClr val="bg1"/>
              </a:solidFill>
            </a:endParaRPr>
          </a:p>
        </p:txBody>
      </p:sp>
      <p:sp>
        <p:nvSpPr>
          <p:cNvPr id="4" name="箭头: 右 3"/>
          <p:cNvSpPr/>
          <p:nvPr/>
        </p:nvSpPr>
        <p:spPr>
          <a:xfrm>
            <a:off x="5803719" y="4521199"/>
            <a:ext cx="1489165" cy="657497"/>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6" name="图片 5"/>
          <p:cNvPicPr/>
          <p:nvPr/>
        </p:nvPicPr>
        <p:blipFill>
          <a:blip r:embed="rId3"/>
          <a:stretch>
            <a:fillRect/>
          </a:stretch>
        </p:blipFill>
        <p:spPr>
          <a:xfrm>
            <a:off x="1427480" y="3943985"/>
            <a:ext cx="2595880" cy="1644015"/>
          </a:xfrm>
          <a:prstGeom prst="rect">
            <a:avLst/>
          </a:prstGeom>
        </p:spPr>
      </p:pic>
      <p:pic>
        <p:nvPicPr>
          <p:cNvPr id="8" name="图片 7"/>
          <p:cNvPicPr/>
          <p:nvPr/>
        </p:nvPicPr>
        <p:blipFill>
          <a:blip r:embed="rId4"/>
          <a:stretch>
            <a:fillRect/>
          </a:stretch>
        </p:blipFill>
        <p:spPr>
          <a:xfrm>
            <a:off x="7717155" y="2834640"/>
            <a:ext cx="4054475" cy="3862070"/>
          </a:xfrm>
          <a:prstGeom prst="rect">
            <a:avLst/>
          </a:prstGeom>
        </p:spPr>
      </p:pic>
      <p:sp>
        <p:nvSpPr>
          <p:cNvPr id="10" name="文本框 9"/>
          <p:cNvSpPr txBox="1"/>
          <p:nvPr/>
        </p:nvSpPr>
        <p:spPr>
          <a:xfrm>
            <a:off x="1610995" y="5966460"/>
            <a:ext cx="4192905" cy="645160"/>
          </a:xfrm>
          <a:prstGeom prst="rect">
            <a:avLst/>
          </a:prstGeom>
          <a:noFill/>
        </p:spPr>
        <p:txBody>
          <a:bodyPr wrap="square" rtlCol="0">
            <a:spAutoFit/>
          </a:bodyPr>
          <a:p>
            <a:r>
              <a:rPr lang="zh-CN" altLang="en-US">
                <a:solidFill>
                  <a:schemeClr val="bg1"/>
                </a:solidFill>
              </a:rPr>
              <a:t>（有学电控的可以找我要段程序用oled播放bad_apple</a:t>
            </a:r>
            <a:endParaRPr lang="zh-CN" altLang="en-US">
              <a:solidFill>
                <a:schemeClr val="bg1"/>
              </a:solidFill>
            </a:endParaRPr>
          </a:p>
        </p:txBody>
      </p:sp>
      <p:sp>
        <p:nvSpPr>
          <p:cNvPr id="11" name="文本框 10"/>
          <p:cNvSpPr txBox="1"/>
          <p:nvPr/>
        </p:nvSpPr>
        <p:spPr>
          <a:xfrm>
            <a:off x="4253230" y="1302385"/>
            <a:ext cx="7748270" cy="1428750"/>
          </a:xfrm>
          <a:prstGeom prst="rect">
            <a:avLst/>
          </a:prstGeom>
          <a:noFill/>
        </p:spPr>
        <p:txBody>
          <a:bodyPr wrap="square" rtlCol="0">
            <a:noAutofit/>
          </a:bodyPr>
          <a:p>
            <a:r>
              <a:rPr lang="en-US" altLang="zh-CN" sz="2400">
                <a:solidFill>
                  <a:schemeClr val="bg1"/>
                </a:solidFill>
                <a:latin typeface="宋体" pitchFamily="2" charset="-122"/>
                <a:ea typeface="宋体" pitchFamily="2" charset="-122"/>
              </a:rPr>
              <a:t>计算机视觉本身，他的任务就是让电脑拥有识别和分辨物体的能力，能根据图像中的信息进行某种推算</a:t>
            </a:r>
            <a:endParaRPr lang="en-US" altLang="zh-CN" sz="2400">
              <a:solidFill>
                <a:schemeClr val="bg1"/>
              </a:solidFill>
              <a:latin typeface="宋体" pitchFamily="2" charset="-122"/>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计算机视觉在生活中</a:t>
            </a:r>
            <a:r>
              <a:rPr lang="zh-CN" altLang="en-US">
                <a:solidFill>
                  <a:schemeClr val="bg1"/>
                </a:solidFill>
              </a:rPr>
              <a:t>能做什么</a:t>
            </a:r>
            <a:endParaRPr lang="zh-CN" altLang="en-US">
              <a:solidFill>
                <a:schemeClr val="bg1"/>
              </a:solidFill>
            </a:endParaRPr>
          </a:p>
        </p:txBody>
      </p:sp>
      <p:sp>
        <p:nvSpPr>
          <p:cNvPr id="4" name="文本框 3"/>
          <p:cNvSpPr txBox="1"/>
          <p:nvPr/>
        </p:nvSpPr>
        <p:spPr>
          <a:xfrm>
            <a:off x="402590" y="1348105"/>
            <a:ext cx="2773680" cy="833120"/>
          </a:xfrm>
          <a:prstGeom prst="rect">
            <a:avLst/>
          </a:prstGeom>
          <a:noFill/>
        </p:spPr>
        <p:txBody>
          <a:bodyPr wrap="square" rtlCol="0">
            <a:noAutofit/>
          </a:bodyPr>
          <a:p>
            <a:r>
              <a:rPr lang="zh-CN" altLang="en-US" sz="2400">
                <a:solidFill>
                  <a:schemeClr val="bg1"/>
                </a:solidFill>
                <a:latin typeface="宋体" pitchFamily="2" charset="-122"/>
                <a:ea typeface="宋体" pitchFamily="2" charset="-122"/>
              </a:rPr>
              <a:t>图像识别</a:t>
            </a:r>
            <a:endParaRPr lang="zh-CN" altLang="en-US" sz="2400">
              <a:solidFill>
                <a:schemeClr val="bg1"/>
              </a:solidFill>
              <a:latin typeface="宋体" pitchFamily="2" charset="-122"/>
              <a:ea typeface="宋体" pitchFamily="2" charset="-122"/>
            </a:endParaRPr>
          </a:p>
        </p:txBody>
      </p:sp>
      <p:pic>
        <p:nvPicPr>
          <p:cNvPr id="5" name="图片 4"/>
          <p:cNvPicPr>
            <a:picLocks noChangeAspect="1"/>
          </p:cNvPicPr>
          <p:nvPr/>
        </p:nvPicPr>
        <p:blipFill>
          <a:blip r:embed="rId1"/>
          <a:stretch>
            <a:fillRect/>
          </a:stretch>
        </p:blipFill>
        <p:spPr>
          <a:xfrm>
            <a:off x="402590" y="1874520"/>
            <a:ext cx="3275965" cy="4788535"/>
          </a:xfrm>
          <a:prstGeom prst="rect">
            <a:avLst/>
          </a:prstGeom>
        </p:spPr>
      </p:pic>
      <p:sp>
        <p:nvSpPr>
          <p:cNvPr id="6" name="文本框 5"/>
          <p:cNvSpPr txBox="1"/>
          <p:nvPr/>
        </p:nvSpPr>
        <p:spPr>
          <a:xfrm>
            <a:off x="5540375" y="1489710"/>
            <a:ext cx="2084070" cy="549910"/>
          </a:xfrm>
          <a:prstGeom prst="rect">
            <a:avLst/>
          </a:prstGeom>
          <a:noFill/>
        </p:spPr>
        <p:txBody>
          <a:bodyPr wrap="square" rtlCol="0">
            <a:noAutofit/>
          </a:bodyPr>
          <a:p>
            <a:r>
              <a:rPr lang="zh-CN" altLang="en-US" sz="2400">
                <a:solidFill>
                  <a:schemeClr val="bg1"/>
                </a:solidFill>
                <a:latin typeface="宋体" pitchFamily="2" charset="-122"/>
                <a:ea typeface="宋体" pitchFamily="2" charset="-122"/>
              </a:rPr>
              <a:t>目标检测</a:t>
            </a:r>
            <a:endParaRPr lang="zh-CN" altLang="en-US" sz="2400">
              <a:solidFill>
                <a:schemeClr val="bg1"/>
              </a:solidFill>
              <a:latin typeface="宋体" pitchFamily="2" charset="-122"/>
              <a:ea typeface="宋体" pitchFamily="2" charset="-122"/>
            </a:endParaRPr>
          </a:p>
        </p:txBody>
      </p:sp>
      <p:pic>
        <p:nvPicPr>
          <p:cNvPr id="7" name="图片 6"/>
          <p:cNvPicPr>
            <a:picLocks noChangeAspect="1"/>
          </p:cNvPicPr>
          <p:nvPr/>
        </p:nvPicPr>
        <p:blipFill>
          <a:blip r:embed="rId2"/>
          <a:stretch>
            <a:fillRect/>
          </a:stretch>
        </p:blipFill>
        <p:spPr>
          <a:xfrm>
            <a:off x="5139690" y="2609850"/>
            <a:ext cx="6125845" cy="3740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57835" y="798195"/>
            <a:ext cx="4464685" cy="460375"/>
          </a:xfrm>
          <a:prstGeom prst="rect">
            <a:avLst/>
          </a:prstGeom>
          <a:noFill/>
        </p:spPr>
        <p:txBody>
          <a:bodyPr wrap="square" rtlCol="0">
            <a:spAutoFit/>
          </a:bodyPr>
          <a:p>
            <a:r>
              <a:rPr lang="zh-CN" altLang="en-US" sz="2400">
                <a:solidFill>
                  <a:schemeClr val="bg1"/>
                </a:solidFill>
              </a:rPr>
              <a:t>图像</a:t>
            </a:r>
            <a:r>
              <a:rPr lang="zh-CN" altLang="en-US" sz="2400">
                <a:solidFill>
                  <a:schemeClr val="bg1"/>
                </a:solidFill>
              </a:rPr>
              <a:t>分割</a:t>
            </a:r>
            <a:endParaRPr lang="zh-CN" altLang="en-US" sz="2400">
              <a:solidFill>
                <a:schemeClr val="bg1"/>
              </a:solidFill>
            </a:endParaRPr>
          </a:p>
        </p:txBody>
      </p:sp>
      <p:pic>
        <p:nvPicPr>
          <p:cNvPr id="4" name="图片 3"/>
          <p:cNvPicPr>
            <a:picLocks noChangeAspect="1"/>
          </p:cNvPicPr>
          <p:nvPr/>
        </p:nvPicPr>
        <p:blipFill>
          <a:blip r:embed="rId1"/>
          <a:stretch>
            <a:fillRect/>
          </a:stretch>
        </p:blipFill>
        <p:spPr>
          <a:xfrm>
            <a:off x="137160" y="1901190"/>
            <a:ext cx="5847715" cy="3776980"/>
          </a:xfrm>
          <a:prstGeom prst="rect">
            <a:avLst/>
          </a:prstGeom>
        </p:spPr>
      </p:pic>
      <p:sp>
        <p:nvSpPr>
          <p:cNvPr id="5" name="文本框 4"/>
          <p:cNvSpPr txBox="1"/>
          <p:nvPr/>
        </p:nvSpPr>
        <p:spPr>
          <a:xfrm>
            <a:off x="6798945" y="798195"/>
            <a:ext cx="3846830" cy="368300"/>
          </a:xfrm>
          <a:prstGeom prst="rect">
            <a:avLst/>
          </a:prstGeom>
          <a:noFill/>
        </p:spPr>
        <p:txBody>
          <a:bodyPr wrap="square" rtlCol="0">
            <a:spAutoFit/>
          </a:bodyPr>
          <a:p>
            <a:pPr lvl="0" algn="l">
              <a:buClrTx/>
              <a:buSzTx/>
              <a:buFontTx/>
            </a:pPr>
            <a:r>
              <a:rPr lang="zh-CN" altLang="en-US" sz="2400">
                <a:solidFill>
                  <a:schemeClr val="bg1"/>
                </a:solidFill>
                <a:sym typeface="+mn-ea"/>
              </a:rPr>
              <a:t>三维重建</a:t>
            </a:r>
            <a:endParaRPr lang="zh-CN" altLang="en-US" sz="2400">
              <a:solidFill>
                <a:schemeClr val="bg1"/>
              </a:solidFill>
              <a:sym typeface="+mn-ea"/>
            </a:endParaRPr>
          </a:p>
        </p:txBody>
      </p:sp>
      <p:pic>
        <p:nvPicPr>
          <p:cNvPr id="6" name="图片 5"/>
          <p:cNvPicPr>
            <a:picLocks noChangeAspect="1"/>
          </p:cNvPicPr>
          <p:nvPr/>
        </p:nvPicPr>
        <p:blipFill>
          <a:blip r:embed="rId2"/>
          <a:stretch>
            <a:fillRect/>
          </a:stretch>
        </p:blipFill>
        <p:spPr>
          <a:xfrm>
            <a:off x="6191250" y="1901190"/>
            <a:ext cx="5915025" cy="381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5699760" cy="767080"/>
          </a:xfrm>
        </p:spPr>
        <p:txBody>
          <a:bodyPr>
            <a:normAutofit/>
          </a:bodyPr>
          <a:p>
            <a:r>
              <a:rPr lang="zh-CN" altLang="en-US">
                <a:solidFill>
                  <a:schemeClr val="bg1"/>
                </a:solidFill>
              </a:rPr>
              <a:t>两</a:t>
            </a:r>
            <a:r>
              <a:rPr lang="zh-CN" altLang="en-US">
                <a:solidFill>
                  <a:schemeClr val="bg1"/>
                </a:solidFill>
              </a:rPr>
              <a:t>种路径：</a:t>
            </a:r>
            <a:endParaRPr lang="zh-CN" altLang="en-US">
              <a:solidFill>
                <a:schemeClr val="bg1"/>
              </a:solidFill>
            </a:endParaRPr>
          </a:p>
        </p:txBody>
      </p:sp>
      <p:sp>
        <p:nvSpPr>
          <p:cNvPr id="3" name="内容占位符 2"/>
          <p:cNvSpPr>
            <a:spLocks noGrp="1"/>
          </p:cNvSpPr>
          <p:nvPr>
            <p:ph idx="4294967295"/>
          </p:nvPr>
        </p:nvSpPr>
        <p:spPr>
          <a:xfrm>
            <a:off x="116840" y="1052830"/>
            <a:ext cx="5676900" cy="5575300"/>
          </a:xfrm>
        </p:spPr>
        <p:txBody>
          <a:bodyPr>
            <a:normAutofit fontScale="90000" lnSpcReduction="10000"/>
          </a:bodyPr>
          <a:p>
            <a:r>
              <a:rPr lang="zh-CN" altLang="en-US">
                <a:solidFill>
                  <a:schemeClr val="bg1"/>
                </a:solidFill>
              </a:rPr>
              <a:t>传统计算机</a:t>
            </a:r>
            <a:r>
              <a:rPr lang="zh-CN" altLang="en-US">
                <a:solidFill>
                  <a:schemeClr val="bg1"/>
                </a:solidFill>
              </a:rPr>
              <a:t>视觉：</a:t>
            </a:r>
            <a:endParaRPr lang="zh-CN" altLang="en-US">
              <a:solidFill>
                <a:schemeClr val="bg1"/>
              </a:solidFill>
            </a:endParaRPr>
          </a:p>
          <a:p>
            <a:r>
              <a:rPr lang="zh-CN" altLang="en-US">
                <a:solidFill>
                  <a:schemeClr val="bg1"/>
                </a:solidFill>
              </a:rPr>
              <a:t>成熟的 CV 技术如特征描述子等，比如图像分类问题，首先使用边缘检测，角点检测提取足够多的特征后，这些特征形成每个目标类别的定义，如果一张图像和另一张中的特征重合度高，就代表包含相同的目标</a:t>
            </a:r>
            <a:endParaRPr lang="zh-CN" altLang="en-US">
              <a:solidFill>
                <a:schemeClr val="bg1"/>
              </a:solidFill>
            </a:endParaRPr>
          </a:p>
          <a:p>
            <a:r>
              <a:rPr lang="zh-CN" altLang="en-US">
                <a:solidFill>
                  <a:schemeClr val="bg1"/>
                </a:solidFill>
              </a:rPr>
              <a:t>深度学习引入了端到端学习的概念，即向机器提供的图像数据集中的每张图像均已标</a:t>
            </a:r>
            <a:endParaRPr lang="zh-CN" altLang="en-US">
              <a:solidFill>
                <a:schemeClr val="bg1"/>
              </a:solidFill>
            </a:endParaRPr>
          </a:p>
          <a:p>
            <a:r>
              <a:rPr lang="zh-CN" altLang="en-US">
                <a:solidFill>
                  <a:schemeClr val="bg1"/>
                </a:solidFill>
              </a:rPr>
              <a:t>注目标类别。因而深度学习模型基于给定数据「训练」得到，其中神经网络发现图像</a:t>
            </a:r>
            <a:endParaRPr lang="zh-CN" altLang="en-US">
              <a:solidFill>
                <a:schemeClr val="bg1"/>
              </a:solidFill>
            </a:endParaRPr>
          </a:p>
          <a:p>
            <a:r>
              <a:rPr lang="zh-CN" altLang="en-US">
                <a:solidFill>
                  <a:schemeClr val="bg1"/>
                </a:solidFill>
              </a:rPr>
              <a:t>类别中的底层模式，并自动提取出对于目标类别最具描述性和最显著的特征</a:t>
            </a:r>
            <a:endParaRPr lang="zh-CN" altLang="en-US">
              <a:solidFill>
                <a:schemeClr val="bg1"/>
              </a:solidFill>
            </a:endParaRPr>
          </a:p>
        </p:txBody>
      </p:sp>
      <p:pic>
        <p:nvPicPr>
          <p:cNvPr id="4" name="图片 3"/>
          <p:cNvPicPr>
            <a:picLocks noChangeAspect="1"/>
          </p:cNvPicPr>
          <p:nvPr/>
        </p:nvPicPr>
        <p:blipFill>
          <a:blip r:embed="rId1"/>
          <a:stretch>
            <a:fillRect/>
          </a:stretch>
        </p:blipFill>
        <p:spPr>
          <a:xfrm>
            <a:off x="5935345" y="179070"/>
            <a:ext cx="5786120" cy="62299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99110" y="463550"/>
            <a:ext cx="5676900" cy="152400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4400" kern="1200">
                <a:solidFill>
                  <a:sysClr val="window" lastClr="FFFFFF"/>
                </a:solidFill>
                <a:latin typeface="Calibri" panose="020F0502020204030204" charset="0"/>
                <a:ea typeface="宋体" pitchFamily="2" charset="-122"/>
              </a:rPr>
              <a:t>认识相机</a:t>
            </a:r>
            <a:endParaRPr lang="zh-CN" altLang="en-US" sz="4400" kern="1200">
              <a:solidFill>
                <a:sysClr val="window" lastClr="FFFFFF"/>
              </a:solidFill>
              <a:latin typeface="Calibri" panose="020F0502020204030204" charset="0"/>
              <a:ea typeface="宋体" pitchFamily="2" charset="-122"/>
            </a:endParaRPr>
          </a:p>
        </p:txBody>
      </p:sp>
      <p:pic>
        <p:nvPicPr>
          <p:cNvPr id="8" name="图片 7"/>
          <p:cNvPicPr>
            <a:picLocks noChangeAspect="1"/>
          </p:cNvPicPr>
          <p:nvPr/>
        </p:nvPicPr>
        <p:blipFill>
          <a:blip r:embed="rId1"/>
          <a:stretch>
            <a:fillRect/>
          </a:stretch>
        </p:blipFill>
        <p:spPr>
          <a:xfrm>
            <a:off x="655320" y="1267460"/>
            <a:ext cx="5648325" cy="2651125"/>
          </a:xfrm>
          <a:prstGeom prst="rect">
            <a:avLst/>
          </a:prstGeom>
        </p:spPr>
      </p:pic>
      <p:pic>
        <p:nvPicPr>
          <p:cNvPr id="9" name="图片 8"/>
          <p:cNvPicPr>
            <a:picLocks noChangeAspect="1"/>
          </p:cNvPicPr>
          <p:nvPr/>
        </p:nvPicPr>
        <p:blipFill>
          <a:blip r:embed="rId2"/>
          <a:stretch>
            <a:fillRect/>
          </a:stretch>
        </p:blipFill>
        <p:spPr>
          <a:xfrm>
            <a:off x="6417945" y="1431925"/>
            <a:ext cx="5686425" cy="2486660"/>
          </a:xfrm>
          <a:prstGeom prst="rect">
            <a:avLst/>
          </a:prstGeom>
        </p:spPr>
      </p:pic>
      <p:sp>
        <p:nvSpPr>
          <p:cNvPr id="10" name="文本框 9"/>
          <p:cNvSpPr txBox="1"/>
          <p:nvPr/>
        </p:nvSpPr>
        <p:spPr>
          <a:xfrm>
            <a:off x="499110" y="4123690"/>
            <a:ext cx="5265420" cy="247523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使用小孔阻挡散射的</a:t>
            </a:r>
            <a:r>
              <a:rPr lang="zh-CN" altLang="en-US" sz="2800" kern="1200">
                <a:solidFill>
                  <a:sysClr val="window" lastClr="FFFFFF"/>
                </a:solidFill>
                <a:latin typeface="Calibri" panose="020F0502020204030204" charset="0"/>
                <a:ea typeface="宋体" pitchFamily="2" charset="-122"/>
              </a:rPr>
              <a:t>光</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用透镜作为小孔</a:t>
            </a:r>
            <a:r>
              <a:rPr lang="zh-CN" altLang="en-US" sz="2800" kern="1200">
                <a:solidFill>
                  <a:sysClr val="window" lastClr="FFFFFF"/>
                </a:solidFill>
                <a:latin typeface="Calibri" panose="020F0502020204030204" charset="0"/>
                <a:ea typeface="宋体" pitchFamily="2" charset="-122"/>
              </a:rPr>
              <a:t>的近似</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之后在光学传感器上将光信号转为电信号（模拟），再是数字</a:t>
            </a:r>
            <a:r>
              <a:rPr lang="zh-CN" altLang="en-US" sz="2800" kern="1200">
                <a:solidFill>
                  <a:sysClr val="window" lastClr="FFFFFF"/>
                </a:solidFill>
                <a:latin typeface="Calibri" panose="020F0502020204030204" charset="0"/>
                <a:ea typeface="宋体" pitchFamily="2" charset="-122"/>
              </a:rPr>
              <a:t>信号</a:t>
            </a:r>
            <a:endParaRPr lang="zh-CN" altLang="en-US" sz="2800" kern="1200">
              <a:solidFill>
                <a:sysClr val="window" lastClr="FFFFFF"/>
              </a:solidFill>
              <a:latin typeface="Calibri" panose="020F0502020204030204" charset="0"/>
              <a:ea typeface="宋体" pitchFamily="2" charset="-122"/>
            </a:endParaRPr>
          </a:p>
        </p:txBody>
      </p:sp>
      <p:pic>
        <p:nvPicPr>
          <p:cNvPr id="11" name="图片 10"/>
          <p:cNvPicPr>
            <a:picLocks noChangeAspect="1"/>
          </p:cNvPicPr>
          <p:nvPr/>
        </p:nvPicPr>
        <p:blipFill>
          <a:blip r:embed="rId3"/>
          <a:stretch>
            <a:fillRect/>
          </a:stretch>
        </p:blipFill>
        <p:spPr>
          <a:xfrm>
            <a:off x="6303645" y="4257675"/>
            <a:ext cx="4768850" cy="1952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5730" y="450850"/>
            <a:ext cx="5676900" cy="577786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焦距，初中学过，主要看和光圈、景深、</a:t>
            </a:r>
            <a:r>
              <a:rPr lang="zh-CN" altLang="en-US" sz="2800" kern="1200">
                <a:solidFill>
                  <a:sysClr val="window" lastClr="FFFFFF"/>
                </a:solidFill>
                <a:latin typeface="Calibri" panose="020F0502020204030204" charset="0"/>
                <a:ea typeface="宋体" pitchFamily="2" charset="-122"/>
              </a:rPr>
              <a:t>视野的</a:t>
            </a:r>
            <a:r>
              <a:rPr lang="zh-CN" altLang="en-US" sz="2800" kern="1200">
                <a:solidFill>
                  <a:sysClr val="window" lastClr="FFFFFF"/>
                </a:solidFill>
                <a:latin typeface="Calibri" panose="020F0502020204030204" charset="0"/>
                <a:ea typeface="宋体" pitchFamily="2" charset="-122"/>
              </a:rPr>
              <a:t>关系</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不同光圈大小代表不同的镜头开度，其影响的是镜头的进光量</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为了适配不同的设备，用</a:t>
            </a:r>
            <a:r>
              <a:rPr lang="en-US" altLang="zh-CN" sz="2800" kern="1200">
                <a:solidFill>
                  <a:sysClr val="window" lastClr="FFFFFF"/>
                </a:solidFill>
                <a:latin typeface="Calibri" panose="020F0502020204030204" charset="0"/>
                <a:ea typeface="宋体" pitchFamily="2" charset="-122"/>
              </a:rPr>
              <a:t>f/x</a:t>
            </a:r>
            <a:r>
              <a:rPr lang="zh-CN" altLang="en-US" sz="2800" kern="1200">
                <a:solidFill>
                  <a:sysClr val="window" lastClr="FFFFFF"/>
                </a:solidFill>
                <a:latin typeface="Calibri" panose="020F0502020204030204" charset="0"/>
                <a:ea typeface="宋体" pitchFamily="2" charset="-122"/>
              </a:rPr>
              <a:t>衡量光圈、单位面积进光量</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光圈和成像的景深</a:t>
            </a:r>
            <a:r>
              <a:rPr lang="zh-CN" altLang="en-US" sz="2800" kern="1200">
                <a:solidFill>
                  <a:sysClr val="window" lastClr="FFFFFF"/>
                </a:solidFill>
                <a:latin typeface="Calibri" panose="020F0502020204030204" charset="0"/>
                <a:ea typeface="宋体" pitchFamily="2" charset="-122"/>
              </a:rPr>
              <a:t>有关系：越大的光圈得到的景深越小，即成清晰像的范围越小</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在调大光圈提高进光量的同时，能够成清晰像的距离范围就缩小了，我们需要在两者之间进行权衡</a:t>
            </a:r>
            <a:endParaRPr lang="zh-CN" altLang="en-US" sz="2800" kern="1200">
              <a:solidFill>
                <a:sysClr val="window" lastClr="FFFFFF"/>
              </a:solidFill>
              <a:latin typeface="Calibri" panose="020F0502020204030204" charset="0"/>
              <a:ea typeface="宋体" pitchFamily="2" charset="-122"/>
            </a:endParaRPr>
          </a:p>
        </p:txBody>
      </p:sp>
      <p:pic>
        <p:nvPicPr>
          <p:cNvPr id="3" name="图片 2"/>
          <p:cNvPicPr>
            <a:picLocks noChangeAspect="1"/>
          </p:cNvPicPr>
          <p:nvPr/>
        </p:nvPicPr>
        <p:blipFill>
          <a:blip r:embed="rId1"/>
          <a:stretch>
            <a:fillRect/>
          </a:stretch>
        </p:blipFill>
        <p:spPr>
          <a:xfrm>
            <a:off x="5929630" y="585470"/>
            <a:ext cx="6175375" cy="1941830"/>
          </a:xfrm>
          <a:prstGeom prst="rect">
            <a:avLst/>
          </a:prstGeom>
        </p:spPr>
      </p:pic>
      <p:pic>
        <p:nvPicPr>
          <p:cNvPr id="4" name="图片 3"/>
          <p:cNvPicPr>
            <a:picLocks noChangeAspect="1"/>
          </p:cNvPicPr>
          <p:nvPr/>
        </p:nvPicPr>
        <p:blipFill>
          <a:blip r:embed="rId2"/>
          <a:stretch>
            <a:fillRect/>
          </a:stretch>
        </p:blipFill>
        <p:spPr>
          <a:xfrm>
            <a:off x="5929630" y="2721610"/>
            <a:ext cx="6009005" cy="37611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4294967295"/>
          </p:nvPr>
        </p:nvSpPr>
        <p:spPr>
          <a:xfrm>
            <a:off x="838200" y="411480"/>
            <a:ext cx="10515600" cy="4351338"/>
          </a:xfrm>
        </p:spPr>
        <p:txBody>
          <a:bodyPr/>
          <a:p>
            <a:r>
              <a:rPr lang="zh-CN" altLang="en-US"/>
              <a:t>视野范围取决于焦距和感光元件（CMOS）的大小</a:t>
            </a:r>
            <a:endParaRPr lang="zh-CN" altLang="en-US"/>
          </a:p>
        </p:txBody>
      </p:sp>
      <p:pic>
        <p:nvPicPr>
          <p:cNvPr id="4" name="图片 3"/>
          <p:cNvPicPr>
            <a:picLocks noChangeAspect="1"/>
          </p:cNvPicPr>
          <p:nvPr/>
        </p:nvPicPr>
        <p:blipFill>
          <a:blip r:embed="rId1"/>
          <a:stretch>
            <a:fillRect/>
          </a:stretch>
        </p:blipFill>
        <p:spPr>
          <a:xfrm>
            <a:off x="2076450" y="1105535"/>
            <a:ext cx="7489190" cy="50374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采集参数</a:t>
            </a:r>
            <a:r>
              <a:rPr lang="zh-CN" altLang="en-US" sz="2400"/>
              <a:t>（比较偏软件）</a:t>
            </a:r>
            <a:endParaRPr lang="zh-CN" altLang="en-US" sz="2400"/>
          </a:p>
        </p:txBody>
      </p:sp>
      <p:sp>
        <p:nvSpPr>
          <p:cNvPr id="3" name="文本框 2"/>
          <p:cNvSpPr txBox="1"/>
          <p:nvPr/>
        </p:nvSpPr>
        <p:spPr>
          <a:xfrm>
            <a:off x="721995" y="1457325"/>
            <a:ext cx="5676900" cy="507682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快</a:t>
            </a:r>
            <a:r>
              <a:rPr lang="zh-CN" altLang="en-US" sz="2800" kern="1200">
                <a:solidFill>
                  <a:sysClr val="window" lastClr="FFFFFF"/>
                </a:solidFill>
                <a:latin typeface="Calibri" panose="020F0502020204030204" charset="0"/>
                <a:ea typeface="宋体" pitchFamily="2" charset="-122"/>
              </a:rPr>
              <a:t>门速度（一次曝光的</a:t>
            </a:r>
            <a:r>
              <a:rPr lang="zh-CN" altLang="en-US" sz="2800" kern="1200">
                <a:solidFill>
                  <a:sysClr val="window" lastClr="FFFFFF"/>
                </a:solidFill>
                <a:latin typeface="Calibri" panose="020F0502020204030204" charset="0"/>
                <a:ea typeface="宋体" pitchFamily="2" charset="-122"/>
              </a:rPr>
              <a:t>时间）</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快门速度越慢，曝光时长越长，画面也就越亮</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但是快门速度过慢，会带来很明显的运动模糊，这样就会导致灯条的形变</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增益：</a:t>
            </a:r>
            <a:r>
              <a:rPr lang="en-US" altLang="zh-CN" sz="2800" kern="1200">
                <a:solidFill>
                  <a:sysClr val="window" lastClr="FFFFFF"/>
                </a:solidFill>
                <a:latin typeface="Calibri" panose="020F0502020204030204" charset="0"/>
                <a:ea typeface="宋体" pitchFamily="2" charset="-122"/>
              </a:rPr>
              <a:t>cmos</a:t>
            </a:r>
            <a:r>
              <a:rPr lang="zh-CN" altLang="en-US" sz="2800" kern="1200">
                <a:solidFill>
                  <a:sysClr val="window" lastClr="FFFFFF"/>
                </a:solidFill>
                <a:latin typeface="Calibri" panose="020F0502020204030204" charset="0"/>
                <a:ea typeface="宋体" pitchFamily="2" charset="-122"/>
              </a:rPr>
              <a:t>上放大器对电信号的增益，可能提高</a:t>
            </a:r>
            <a:r>
              <a:rPr lang="zh-CN" altLang="en-US" sz="2800" kern="1200">
                <a:solidFill>
                  <a:sysClr val="window" lastClr="FFFFFF"/>
                </a:solidFill>
                <a:latin typeface="Calibri" panose="020F0502020204030204" charset="0"/>
                <a:ea typeface="宋体" pitchFamily="2" charset="-122"/>
              </a:rPr>
              <a:t>噪声</a:t>
            </a:r>
            <a:endParaRPr lang="zh-CN" altLang="en-US" sz="28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帧率：相机每秒钟能够获取的图像数</a:t>
            </a:r>
            <a:endParaRPr lang="zh-CN" altLang="en-US" sz="28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6303645" y="1040765"/>
            <a:ext cx="5521325" cy="3269615"/>
          </a:xfrm>
          <a:prstGeom prst="rect">
            <a:avLst/>
          </a:prstGeom>
        </p:spPr>
      </p:pic>
      <p:pic>
        <p:nvPicPr>
          <p:cNvPr id="6" name="图片 5"/>
          <p:cNvPicPr>
            <a:picLocks noChangeAspect="1"/>
          </p:cNvPicPr>
          <p:nvPr/>
        </p:nvPicPr>
        <p:blipFill>
          <a:blip r:embed="rId2"/>
          <a:stretch>
            <a:fillRect/>
          </a:stretch>
        </p:blipFill>
        <p:spPr>
          <a:xfrm>
            <a:off x="6581140" y="4495800"/>
            <a:ext cx="4339590" cy="21602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图像的构成</a:t>
            </a:r>
            <a:endParaRPr lang="zh-CN" altLang="en-US" sz="3200" dirty="0">
              <a:solidFill>
                <a:schemeClr val="bg1"/>
              </a:solidFill>
              <a:cs typeface="+mn-ea"/>
              <a:sym typeface="+mn-lt"/>
            </a:endParaRPr>
          </a:p>
        </p:txBody>
      </p:sp>
      <p:sp>
        <p:nvSpPr>
          <p:cNvPr id="6" name="文本框 5"/>
          <p:cNvSpPr txBox="1"/>
          <p:nvPr/>
        </p:nvSpPr>
        <p:spPr>
          <a:xfrm>
            <a:off x="1375619" y="1150011"/>
            <a:ext cx="9202356" cy="2246769"/>
          </a:xfrm>
          <a:prstGeom prst="rect">
            <a:avLst/>
          </a:prstGeom>
          <a:noFill/>
        </p:spPr>
        <p:txBody>
          <a:bodyPr wrap="square">
            <a:spAutoFit/>
          </a:bodyPr>
          <a:lstStyle/>
          <a:p>
            <a:r>
              <a:rPr lang="zh-CN" altLang="en-US" sz="2800" dirty="0">
                <a:solidFill>
                  <a:schemeClr val="bg1"/>
                </a:solidFill>
              </a:rPr>
              <a:t>像素：像素是构成图像的基本单元，像素通过行列组合成矩阵就形成了图像。在计算机中一般都以矩阵的形式存储图像。在图像处理的过程中，我们常把图像视作一个二元函数</a:t>
            </a:r>
            <a:r>
              <a:rPr lang="en-US" altLang="zh-CN" sz="2800" dirty="0">
                <a:solidFill>
                  <a:schemeClr val="bg1"/>
                </a:solidFill>
              </a:rPr>
              <a:t>(</a:t>
            </a:r>
            <a:r>
              <a:rPr lang="zh-CN" altLang="en-US" sz="2800" dirty="0">
                <a:solidFill>
                  <a:schemeClr val="bg1"/>
                </a:solidFill>
              </a:rPr>
              <a:t>灰度图的情况下），在两个坐标轴上，亮度随坐标而变化。</a:t>
            </a:r>
            <a:endParaRPr lang="zh-CN" altLang="en-US" sz="2800" dirty="0">
              <a:solidFill>
                <a:schemeClr val="bg1"/>
              </a:solidFill>
            </a:endParaRPr>
          </a:p>
        </p:txBody>
      </p:sp>
      <p:pic>
        <p:nvPicPr>
          <p:cNvPr id="4" name="图片 3"/>
          <p:cNvPicPr>
            <a:picLocks noChangeAspect="1"/>
          </p:cNvPicPr>
          <p:nvPr/>
        </p:nvPicPr>
        <p:blipFill>
          <a:blip r:embed="rId3"/>
          <a:stretch>
            <a:fillRect/>
          </a:stretch>
        </p:blipFill>
        <p:spPr>
          <a:xfrm>
            <a:off x="3826664" y="3032115"/>
            <a:ext cx="5195616" cy="3663960"/>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556402" y="3590925"/>
                <a:ext cx="2530116" cy="61555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4000" b="0" i="1" smtClean="0">
                          <a:solidFill>
                            <a:schemeClr val="accent2"/>
                          </a:solidFill>
                          <a:latin typeface="Cambria Math" panose="02040503050406030204" pitchFamily="18" charset="0"/>
                        </a:rPr>
                        <m:t>𝑓</m:t>
                      </m:r>
                      <m:d>
                        <m:dPr>
                          <m:ctrlPr>
                            <a:rPr lang="en-US" altLang="zh-CN" sz="4000" b="0" i="1" smtClean="0">
                              <a:solidFill>
                                <a:schemeClr val="accent2"/>
                              </a:solidFill>
                              <a:latin typeface="Cambria Math" panose="02040503050406030204" pitchFamily="18" charset="0"/>
                            </a:rPr>
                          </m:ctrlPr>
                        </m:dPr>
                        <m:e>
                          <m:r>
                            <a:rPr lang="en-US" altLang="zh-CN" sz="4000" b="0" i="1" smtClean="0">
                              <a:solidFill>
                                <a:schemeClr val="accent2"/>
                              </a:solidFill>
                              <a:latin typeface="Cambria Math" panose="02040503050406030204" pitchFamily="18" charset="0"/>
                            </a:rPr>
                            <m:t>𝑥</m:t>
                          </m:r>
                          <m:r>
                            <a:rPr lang="en-US" altLang="zh-CN" sz="4000" b="0" i="1" smtClean="0">
                              <a:solidFill>
                                <a:schemeClr val="accent2"/>
                              </a:solidFill>
                              <a:latin typeface="Cambria Math" panose="02040503050406030204" pitchFamily="18" charset="0"/>
                            </a:rPr>
                            <m:t>,</m:t>
                          </m:r>
                          <m:r>
                            <a:rPr lang="en-US" altLang="zh-CN" sz="4000" b="0" i="1" smtClean="0">
                              <a:solidFill>
                                <a:schemeClr val="accent2"/>
                              </a:solidFill>
                              <a:latin typeface="Cambria Math" panose="02040503050406030204" pitchFamily="18" charset="0"/>
                            </a:rPr>
                            <m:t>𝑦</m:t>
                          </m:r>
                        </m:e>
                      </m:d>
                      <m:r>
                        <a:rPr lang="en-US" altLang="zh-CN" sz="4000" b="0" i="1" smtClean="0">
                          <a:solidFill>
                            <a:schemeClr val="accent2"/>
                          </a:solidFill>
                          <a:latin typeface="Cambria Math" panose="02040503050406030204" pitchFamily="18" charset="0"/>
                        </a:rPr>
                        <m:t>=</m:t>
                      </m:r>
                      <m:r>
                        <a:rPr lang="en-US" altLang="zh-CN" sz="4000" b="0" i="1" smtClean="0">
                          <a:solidFill>
                            <a:schemeClr val="accent2"/>
                          </a:solidFill>
                          <a:latin typeface="Cambria Math" panose="02040503050406030204" pitchFamily="18" charset="0"/>
                        </a:rPr>
                        <m:t>𝐼</m:t>
                      </m:r>
                    </m:oMath>
                  </m:oMathPara>
                </a14:m>
                <a:endParaRPr lang="zh-CN" altLang="en-US" sz="4000" dirty="0">
                  <a:solidFill>
                    <a:schemeClr val="accent2"/>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556402" y="3590925"/>
                <a:ext cx="2530116" cy="615553"/>
              </a:xfrm>
              <a:prstGeom prst="rect">
                <a:avLst/>
              </a:prstGeom>
              <a:blipFill rotWithShape="1">
                <a:blip r:embed="rId4"/>
                <a:stretch>
                  <a:fillRect l="-6" r="-15920" b="-374"/>
                </a:stretch>
              </a:blipFill>
            </p:spPr>
            <p:txBody>
              <a:bodyPr/>
              <a:lstStyle/>
              <a:p>
                <a:r>
                  <a:rPr lang="zh-CN" altLang="en-US">
                    <a:noFill/>
                  </a:rPr>
                  <a:t> </a:t>
                </a:r>
              </a:p>
            </p:txBody>
          </p:sp>
        </mc:Fallback>
      </mc:AlternateContent>
      <p:cxnSp>
        <p:nvCxnSpPr>
          <p:cNvPr id="11" name="直接箭头连接符 10"/>
          <p:cNvCxnSpPr/>
          <p:nvPr/>
        </p:nvCxnSpPr>
        <p:spPr>
          <a:xfrm flipV="1">
            <a:off x="3752215" y="3051175"/>
            <a:ext cx="12700" cy="3641725"/>
          </a:xfrm>
          <a:prstGeom prst="straightConnector1">
            <a:avLst/>
          </a:prstGeom>
          <a:ln w="41275">
            <a:tailEnd type="triangle"/>
          </a:ln>
        </p:spPr>
        <p:style>
          <a:lnRef idx="1">
            <a:schemeClr val="accent4"/>
          </a:lnRef>
          <a:fillRef idx="0">
            <a:schemeClr val="accent4"/>
          </a:fillRef>
          <a:effectRef idx="0">
            <a:schemeClr val="accent4"/>
          </a:effectRef>
          <a:fontRef idx="minor">
            <a:schemeClr val="tx1"/>
          </a:fontRef>
        </p:style>
      </p:cxnSp>
      <p:cxnSp>
        <p:nvCxnSpPr>
          <p:cNvPr id="13" name="直接箭头连接符 12"/>
          <p:cNvCxnSpPr/>
          <p:nvPr/>
        </p:nvCxnSpPr>
        <p:spPr>
          <a:xfrm>
            <a:off x="3724275" y="6696075"/>
            <a:ext cx="5572125" cy="0"/>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sp>
        <p:nvSpPr>
          <p:cNvPr id="14" name="文本框 13"/>
          <p:cNvSpPr txBox="1"/>
          <p:nvPr/>
        </p:nvSpPr>
        <p:spPr>
          <a:xfrm>
            <a:off x="3255827" y="2953273"/>
            <a:ext cx="440536" cy="369332"/>
          </a:xfrm>
          <a:prstGeom prst="rect">
            <a:avLst/>
          </a:prstGeom>
          <a:noFill/>
        </p:spPr>
        <p:txBody>
          <a:bodyPr wrap="square" rtlCol="0">
            <a:spAutoFit/>
          </a:bodyPr>
          <a:lstStyle/>
          <a:p>
            <a:r>
              <a:rPr lang="en-US" altLang="zh-CN" dirty="0">
                <a:solidFill>
                  <a:schemeClr val="accent2"/>
                </a:solidFill>
              </a:rPr>
              <a:t>y</a:t>
            </a:r>
            <a:endParaRPr lang="zh-CN" altLang="en-US" dirty="0">
              <a:solidFill>
                <a:schemeClr val="accent2"/>
              </a:solidFill>
            </a:endParaRPr>
          </a:p>
        </p:txBody>
      </p:sp>
      <p:sp>
        <p:nvSpPr>
          <p:cNvPr id="15" name="文本框 14"/>
          <p:cNvSpPr txBox="1"/>
          <p:nvPr/>
        </p:nvSpPr>
        <p:spPr>
          <a:xfrm>
            <a:off x="9186871" y="6266418"/>
            <a:ext cx="440536" cy="369332"/>
          </a:xfrm>
          <a:prstGeom prst="rect">
            <a:avLst/>
          </a:prstGeom>
          <a:noFill/>
        </p:spPr>
        <p:txBody>
          <a:bodyPr wrap="square" rtlCol="0">
            <a:spAutoFit/>
          </a:bodyPr>
          <a:lstStyle/>
          <a:p>
            <a:r>
              <a:rPr lang="en-US" altLang="zh-CN" dirty="0">
                <a:solidFill>
                  <a:schemeClr val="accent2"/>
                </a:solidFill>
              </a:rPr>
              <a:t>x</a:t>
            </a:r>
            <a:endParaRPr lang="zh-CN" altLang="en-US"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数字图像</a:t>
            </a:r>
            <a:endParaRPr lang="zh-CN" altLang="en-US" sz="3200" dirty="0">
              <a:solidFill>
                <a:schemeClr val="bg1"/>
              </a:solidFill>
              <a:cs typeface="+mn-ea"/>
              <a:sym typeface="+mn-lt"/>
            </a:endParaRPr>
          </a:p>
        </p:txBody>
      </p:sp>
      <p:sp>
        <p:nvSpPr>
          <p:cNvPr id="6" name="文本框 5"/>
          <p:cNvSpPr txBox="1"/>
          <p:nvPr/>
        </p:nvSpPr>
        <p:spPr>
          <a:xfrm>
            <a:off x="1375619" y="1150011"/>
            <a:ext cx="9202356" cy="1383665"/>
          </a:xfrm>
          <a:prstGeom prst="rect">
            <a:avLst/>
          </a:prstGeom>
          <a:noFill/>
        </p:spPr>
        <p:txBody>
          <a:bodyPr wrap="square">
            <a:spAutoFit/>
          </a:bodyPr>
          <a:lstStyle/>
          <a:p>
            <a:r>
              <a:rPr lang="en-US" altLang="zh-CN" sz="2800" dirty="0">
                <a:solidFill>
                  <a:schemeClr val="bg1"/>
                </a:solidFill>
              </a:rPr>
              <a:t>1. </a:t>
            </a:r>
            <a:r>
              <a:rPr lang="zh-CN" altLang="en-US" sz="2800" dirty="0">
                <a:solidFill>
                  <a:schemeClr val="accent2"/>
                </a:solidFill>
              </a:rPr>
              <a:t>灰度</a:t>
            </a:r>
            <a:r>
              <a:rPr lang="zh-CN" altLang="en-US" sz="2800" dirty="0">
                <a:solidFill>
                  <a:schemeClr val="bg1"/>
                </a:solidFill>
              </a:rPr>
              <a:t>图像：（单</a:t>
            </a:r>
            <a:r>
              <a:rPr lang="zh-CN" altLang="en-US" sz="2800" dirty="0">
                <a:solidFill>
                  <a:schemeClr val="bg1"/>
                </a:solidFill>
              </a:rPr>
              <a:t>通道）</a:t>
            </a:r>
            <a:endParaRPr lang="zh-CN" altLang="en-US" sz="2800" dirty="0">
              <a:solidFill>
                <a:schemeClr val="bg1"/>
              </a:solidFill>
            </a:endParaRPr>
          </a:p>
          <a:p>
            <a:r>
              <a:rPr lang="zh-CN" altLang="en-US" sz="2800" dirty="0">
                <a:solidFill>
                  <a:schemeClr val="bg1"/>
                </a:solidFill>
              </a:rPr>
              <a:t>灰度图像只记录图像中的每个像素点的强度信息，也称为灰度值，但不记录跟颜色有关的信息</a:t>
            </a:r>
            <a:endParaRPr lang="zh-CN" altLang="en-US" sz="2800" dirty="0">
              <a:solidFill>
                <a:schemeClr val="bg1"/>
              </a:solidFill>
            </a:endParaRPr>
          </a:p>
        </p:txBody>
      </p:sp>
      <p:pic>
        <p:nvPicPr>
          <p:cNvPr id="10" name="图片 9"/>
          <p:cNvPicPr>
            <a:picLocks noChangeAspect="1"/>
          </p:cNvPicPr>
          <p:nvPr/>
        </p:nvPicPr>
        <p:blipFill>
          <a:blip r:embed="rId3"/>
          <a:stretch>
            <a:fillRect/>
          </a:stretch>
        </p:blipFill>
        <p:spPr>
          <a:xfrm>
            <a:off x="1883970" y="2535006"/>
            <a:ext cx="8043802" cy="37556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数字图像</a:t>
            </a:r>
            <a:endParaRPr lang="zh-CN" altLang="en-US" sz="3200" dirty="0">
              <a:solidFill>
                <a:schemeClr val="bg1"/>
              </a:solidFill>
              <a:cs typeface="+mn-ea"/>
              <a:sym typeface="+mn-lt"/>
            </a:endParaRPr>
          </a:p>
        </p:txBody>
      </p:sp>
      <p:sp>
        <p:nvSpPr>
          <p:cNvPr id="6" name="文本框 5"/>
          <p:cNvSpPr txBox="1"/>
          <p:nvPr/>
        </p:nvSpPr>
        <p:spPr>
          <a:xfrm>
            <a:off x="1071880" y="1074420"/>
            <a:ext cx="10335260" cy="1858010"/>
          </a:xfrm>
          <a:prstGeom prst="rect">
            <a:avLst/>
          </a:prstGeom>
          <a:noFill/>
        </p:spPr>
        <p:txBody>
          <a:bodyPr wrap="square">
            <a:noAutofit/>
          </a:bodyPr>
          <a:lstStyle/>
          <a:p>
            <a:r>
              <a:rPr lang="en-US" altLang="zh-CN" sz="2800" dirty="0">
                <a:solidFill>
                  <a:schemeClr val="bg1"/>
                </a:solidFill>
                <a:latin typeface="宋体" pitchFamily="2" charset="-122"/>
                <a:ea typeface="宋体" pitchFamily="2" charset="-122"/>
                <a:cs typeface="宋体" pitchFamily="2" charset="-122"/>
              </a:rPr>
              <a:t>2.</a:t>
            </a:r>
            <a:r>
              <a:rPr lang="zh-CN" altLang="en-US" sz="2800" dirty="0">
                <a:solidFill>
                  <a:schemeClr val="bg1"/>
                </a:solidFill>
                <a:latin typeface="宋体" pitchFamily="2" charset="-122"/>
                <a:ea typeface="宋体" pitchFamily="2" charset="-122"/>
                <a:cs typeface="宋体" pitchFamily="2" charset="-122"/>
              </a:rPr>
              <a:t>彩色图像（三</a:t>
            </a:r>
            <a:r>
              <a:rPr lang="zh-CN" altLang="en-US" sz="2800" dirty="0">
                <a:solidFill>
                  <a:schemeClr val="bg1"/>
                </a:solidFill>
                <a:latin typeface="宋体" pitchFamily="2" charset="-122"/>
                <a:ea typeface="宋体" pitchFamily="2" charset="-122"/>
                <a:cs typeface="宋体" pitchFamily="2" charset="-122"/>
              </a:rPr>
              <a:t>通道）</a:t>
            </a:r>
            <a:r>
              <a:rPr lang="en-US" altLang="zh-CN" sz="2800" dirty="0">
                <a:solidFill>
                  <a:schemeClr val="bg1"/>
                </a:solidFill>
                <a:latin typeface="宋体" pitchFamily="2" charset="-122"/>
                <a:ea typeface="宋体" pitchFamily="2" charset="-122"/>
                <a:cs typeface="宋体" pitchFamily="2" charset="-122"/>
              </a:rPr>
              <a:t>:</a:t>
            </a:r>
            <a:endParaRPr lang="en-US" altLang="zh-CN" sz="2800" dirty="0">
              <a:solidFill>
                <a:schemeClr val="bg1"/>
              </a:solidFill>
              <a:latin typeface="宋体" pitchFamily="2" charset="-122"/>
              <a:ea typeface="宋体" pitchFamily="2" charset="-122"/>
              <a:cs typeface="宋体" pitchFamily="2" charset="-122"/>
            </a:endParaRPr>
          </a:p>
          <a:p>
            <a:r>
              <a:rPr lang="en-US" altLang="zh-CN" sz="2800" dirty="0">
                <a:solidFill>
                  <a:schemeClr val="bg1"/>
                </a:solidFill>
                <a:latin typeface="宋体" pitchFamily="2" charset="-122"/>
                <a:ea typeface="宋体" pitchFamily="2" charset="-122"/>
                <a:cs typeface="宋体" pitchFamily="2" charset="-122"/>
              </a:rPr>
              <a:t>2.1 </a:t>
            </a:r>
            <a:r>
              <a:rPr lang="en-US" altLang="zh-CN" sz="2800" dirty="0">
                <a:solidFill>
                  <a:schemeClr val="accent2"/>
                </a:solidFill>
                <a:latin typeface="宋体" pitchFamily="2" charset="-122"/>
                <a:ea typeface="宋体" pitchFamily="2" charset="-122"/>
                <a:cs typeface="宋体" pitchFamily="2" charset="-122"/>
              </a:rPr>
              <a:t>RGB</a:t>
            </a:r>
            <a:r>
              <a:rPr lang="zh-CN" altLang="en-US" sz="2800" dirty="0">
                <a:solidFill>
                  <a:schemeClr val="bg1"/>
                </a:solidFill>
                <a:latin typeface="宋体" pitchFamily="2" charset="-122"/>
                <a:ea typeface="宋体" pitchFamily="2" charset="-122"/>
                <a:cs typeface="宋体" pitchFamily="2" charset="-122"/>
              </a:rPr>
              <a:t>颜色模型</a:t>
            </a:r>
            <a:endParaRPr lang="zh-CN" altLang="en-US" sz="2800" dirty="0">
              <a:solidFill>
                <a:schemeClr val="bg1"/>
              </a:solidFill>
              <a:latin typeface="宋体" pitchFamily="2" charset="-122"/>
              <a:ea typeface="宋体" pitchFamily="2" charset="-122"/>
              <a:cs typeface="宋体" pitchFamily="2" charset="-122"/>
            </a:endParaRPr>
          </a:p>
          <a:p>
            <a:r>
              <a:rPr lang="zh-CN" altLang="en-US" sz="2800" dirty="0">
                <a:solidFill>
                  <a:schemeClr val="bg1"/>
                </a:solidFill>
                <a:latin typeface="宋体" pitchFamily="2" charset="-122"/>
                <a:ea typeface="宋体" pitchFamily="2" charset="-122"/>
                <a:cs typeface="宋体" pitchFamily="2" charset="-122"/>
              </a:rPr>
              <a:t>红</a:t>
            </a:r>
            <a:r>
              <a:rPr lang="en-US" altLang="zh-CN" sz="2800" dirty="0">
                <a:solidFill>
                  <a:schemeClr val="bg1"/>
                </a:solidFill>
                <a:latin typeface="宋体" pitchFamily="2" charset="-122"/>
                <a:ea typeface="宋体" pitchFamily="2" charset="-122"/>
                <a:cs typeface="宋体" pitchFamily="2" charset="-122"/>
              </a:rPr>
              <a:t>(Red,</a:t>
            </a:r>
            <a:r>
              <a:rPr lang="zh-CN" altLang="en-US" sz="2800" dirty="0">
                <a:solidFill>
                  <a:schemeClr val="bg1"/>
                </a:solidFill>
                <a:latin typeface="宋体" pitchFamily="2" charset="-122"/>
                <a:ea typeface="宋体" pitchFamily="2" charset="-122"/>
                <a:cs typeface="宋体" pitchFamily="2" charset="-122"/>
              </a:rPr>
              <a:t>缩写为</a:t>
            </a:r>
            <a:r>
              <a:rPr lang="en-US" altLang="zh-CN" sz="2800" dirty="0">
                <a:solidFill>
                  <a:schemeClr val="bg1"/>
                </a:solidFill>
                <a:latin typeface="宋体" pitchFamily="2" charset="-122"/>
                <a:ea typeface="宋体" pitchFamily="2" charset="-122"/>
                <a:cs typeface="宋体" pitchFamily="2" charset="-122"/>
              </a:rPr>
              <a:t>R)</a:t>
            </a:r>
            <a:r>
              <a:rPr lang="zh-CN" altLang="en-US" sz="2800" dirty="0">
                <a:solidFill>
                  <a:schemeClr val="bg1"/>
                </a:solidFill>
                <a:latin typeface="宋体" pitchFamily="2" charset="-122"/>
                <a:ea typeface="宋体" pitchFamily="2" charset="-122"/>
                <a:cs typeface="宋体" pitchFamily="2" charset="-122"/>
              </a:rPr>
              <a:t>、绿</a:t>
            </a:r>
            <a:r>
              <a:rPr lang="en-US" altLang="zh-CN" sz="2800" dirty="0">
                <a:solidFill>
                  <a:schemeClr val="bg1"/>
                </a:solidFill>
                <a:latin typeface="宋体" pitchFamily="2" charset="-122"/>
                <a:ea typeface="宋体" pitchFamily="2" charset="-122"/>
                <a:cs typeface="宋体" pitchFamily="2" charset="-122"/>
              </a:rPr>
              <a:t>(Green,</a:t>
            </a:r>
            <a:r>
              <a:rPr lang="zh-CN" altLang="en-US" sz="2800" dirty="0">
                <a:solidFill>
                  <a:schemeClr val="bg1"/>
                </a:solidFill>
                <a:latin typeface="宋体" pitchFamily="2" charset="-122"/>
                <a:ea typeface="宋体" pitchFamily="2" charset="-122"/>
                <a:cs typeface="宋体" pitchFamily="2" charset="-122"/>
              </a:rPr>
              <a:t>缩写为</a:t>
            </a:r>
            <a:r>
              <a:rPr lang="en-US" altLang="zh-CN" sz="2800" dirty="0">
                <a:solidFill>
                  <a:schemeClr val="bg1"/>
                </a:solidFill>
                <a:latin typeface="宋体" pitchFamily="2" charset="-122"/>
                <a:ea typeface="宋体" pitchFamily="2" charset="-122"/>
                <a:cs typeface="宋体" pitchFamily="2" charset="-122"/>
              </a:rPr>
              <a:t>G)</a:t>
            </a:r>
            <a:r>
              <a:rPr lang="zh-CN" altLang="en-US" sz="2800" dirty="0">
                <a:solidFill>
                  <a:schemeClr val="bg1"/>
                </a:solidFill>
                <a:latin typeface="宋体" pitchFamily="2" charset="-122"/>
                <a:ea typeface="宋体" pitchFamily="2" charset="-122"/>
                <a:cs typeface="宋体" pitchFamily="2" charset="-122"/>
              </a:rPr>
              <a:t>、蓝</a:t>
            </a:r>
            <a:r>
              <a:rPr lang="en-US" altLang="zh-CN" sz="2800" dirty="0">
                <a:solidFill>
                  <a:schemeClr val="bg1"/>
                </a:solidFill>
                <a:latin typeface="宋体" pitchFamily="2" charset="-122"/>
                <a:ea typeface="宋体" pitchFamily="2" charset="-122"/>
                <a:cs typeface="宋体" pitchFamily="2" charset="-122"/>
              </a:rPr>
              <a:t>(Blue,</a:t>
            </a:r>
            <a:r>
              <a:rPr lang="zh-CN" altLang="en-US" sz="2800" dirty="0">
                <a:solidFill>
                  <a:schemeClr val="bg1"/>
                </a:solidFill>
                <a:latin typeface="宋体" pitchFamily="2" charset="-122"/>
                <a:ea typeface="宋体" pitchFamily="2" charset="-122"/>
                <a:cs typeface="宋体" pitchFamily="2" charset="-122"/>
              </a:rPr>
              <a:t>缩写为</a:t>
            </a:r>
            <a:r>
              <a:rPr lang="en-US" altLang="zh-CN" sz="2800" dirty="0">
                <a:solidFill>
                  <a:schemeClr val="bg1"/>
                </a:solidFill>
                <a:latin typeface="宋体" pitchFamily="2" charset="-122"/>
                <a:ea typeface="宋体" pitchFamily="2" charset="-122"/>
                <a:cs typeface="宋体" pitchFamily="2" charset="-122"/>
              </a:rPr>
              <a:t>B)</a:t>
            </a:r>
            <a:endParaRPr lang="zh-CN" altLang="en-US" sz="2800" dirty="0">
              <a:solidFill>
                <a:schemeClr val="bg1"/>
              </a:solidFill>
              <a:latin typeface="宋体" pitchFamily="2" charset="-122"/>
              <a:ea typeface="宋体" pitchFamily="2" charset="-122"/>
              <a:cs typeface="宋体" pitchFamily="2" charset="-122"/>
            </a:endParaRPr>
          </a:p>
        </p:txBody>
      </p:sp>
      <p:pic>
        <p:nvPicPr>
          <p:cNvPr id="4" name="图片 3"/>
          <p:cNvPicPr>
            <a:picLocks noChangeAspect="1"/>
          </p:cNvPicPr>
          <p:nvPr/>
        </p:nvPicPr>
        <p:blipFill>
          <a:blip r:embed="rId3"/>
          <a:stretch>
            <a:fillRect/>
          </a:stretch>
        </p:blipFill>
        <p:spPr>
          <a:xfrm>
            <a:off x="1688181" y="3004822"/>
            <a:ext cx="8815637" cy="298113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占位符 1"/>
          <p:cNvSpPr>
            <a:spLocks noGrp="1"/>
          </p:cNvSpPr>
          <p:nvPr>
            <p:ph type="body" sz="quarter" idx="10"/>
            <p:custDataLst>
              <p:tags r:id="rId3"/>
            </p:custDataLst>
          </p:nvPr>
        </p:nvSpPr>
        <p:spPr>
          <a:xfrm>
            <a:off x="4119089" y="641874"/>
            <a:ext cx="5432827" cy="1624614"/>
          </a:xfrm>
        </p:spPr>
        <p:txBody>
          <a:bodyPr/>
          <a:p>
            <a:r>
              <a:rPr lang="zh-CN" altLang="en-US" dirty="0">
                <a:solidFill>
                  <a:schemeClr val="bg1"/>
                </a:solidFill>
              </a:rPr>
              <a:t>色彩空间及其起源</a:t>
            </a:r>
            <a:endParaRPr lang="zh-CN" altLang="en-US" dirty="0">
              <a:solidFill>
                <a:schemeClr val="bg1"/>
              </a:solidFill>
            </a:endParaRPr>
          </a:p>
        </p:txBody>
      </p:sp>
      <p:pic>
        <p:nvPicPr>
          <p:cNvPr id="4" name="图片 3"/>
          <p:cNvPicPr>
            <a:picLocks noChangeAspect="1"/>
          </p:cNvPicPr>
          <p:nvPr>
            <p:custDataLst>
              <p:tags r:id="rId4"/>
            </p:custDataLst>
          </p:nvPr>
        </p:nvPicPr>
        <p:blipFill>
          <a:blip r:embed="rId5"/>
          <a:stretch>
            <a:fillRect/>
          </a:stretch>
        </p:blipFill>
        <p:spPr>
          <a:xfrm>
            <a:off x="173571" y="1336538"/>
            <a:ext cx="3945668" cy="3000543"/>
          </a:xfrm>
          <a:prstGeom prst="rect">
            <a:avLst/>
          </a:prstGeom>
        </p:spPr>
      </p:pic>
      <p:sp>
        <p:nvSpPr>
          <p:cNvPr id="5" name="文本框 4"/>
          <p:cNvSpPr txBox="1"/>
          <p:nvPr>
            <p:custDataLst>
              <p:tags r:id="rId6"/>
            </p:custDataLst>
          </p:nvPr>
        </p:nvSpPr>
        <p:spPr>
          <a:xfrm>
            <a:off x="173571" y="4439558"/>
            <a:ext cx="5086905" cy="2308324"/>
          </a:xfrm>
          <a:prstGeom prst="rect">
            <a:avLst/>
          </a:prstGeom>
          <a:noFill/>
        </p:spPr>
        <p:txBody>
          <a:bodyPr wrap="square" rtlCol="0">
            <a:spAutoFit/>
          </a:bodyPr>
          <a:p>
            <a:r>
              <a:rPr lang="en-US" altLang="zh-CN" sz="1600" dirty="0">
                <a:solidFill>
                  <a:schemeClr val="bg1"/>
                </a:solidFill>
              </a:rPr>
              <a:t>RGB</a:t>
            </a:r>
            <a:r>
              <a:rPr lang="zh-CN" altLang="en-US" sz="1600" dirty="0">
                <a:solidFill>
                  <a:schemeClr val="bg1"/>
                </a:solidFill>
              </a:rPr>
              <a:t>颜色空间以</a:t>
            </a:r>
            <a:r>
              <a:rPr lang="en-US" altLang="zh-CN" sz="1600" dirty="0">
                <a:solidFill>
                  <a:schemeClr val="bg1"/>
                </a:solidFill>
              </a:rPr>
              <a:t>R(Red:</a:t>
            </a:r>
            <a:r>
              <a:rPr lang="zh-CN" altLang="en-US" sz="1600" dirty="0">
                <a:solidFill>
                  <a:schemeClr val="bg1"/>
                </a:solidFill>
              </a:rPr>
              <a:t>红</a:t>
            </a:r>
            <a:r>
              <a:rPr lang="en-US" altLang="zh-CN" sz="1600" dirty="0">
                <a:solidFill>
                  <a:schemeClr val="bg1"/>
                </a:solidFill>
              </a:rPr>
              <a:t>)</a:t>
            </a:r>
            <a:r>
              <a:rPr lang="zh-CN" altLang="en-US" sz="1600" dirty="0">
                <a:solidFill>
                  <a:schemeClr val="bg1"/>
                </a:solidFill>
              </a:rPr>
              <a:t>、</a:t>
            </a:r>
            <a:r>
              <a:rPr lang="en-US" altLang="zh-CN" sz="1600" dirty="0">
                <a:solidFill>
                  <a:schemeClr val="bg1"/>
                </a:solidFill>
              </a:rPr>
              <a:t>G(Green:</a:t>
            </a:r>
            <a:r>
              <a:rPr lang="zh-CN" altLang="en-US" sz="1600" dirty="0">
                <a:solidFill>
                  <a:schemeClr val="bg1"/>
                </a:solidFill>
              </a:rPr>
              <a:t>绿</a:t>
            </a:r>
            <a:r>
              <a:rPr lang="en-US" altLang="zh-CN" sz="1600" dirty="0">
                <a:solidFill>
                  <a:schemeClr val="bg1"/>
                </a:solidFill>
              </a:rPr>
              <a:t>)</a:t>
            </a:r>
            <a:r>
              <a:rPr lang="zh-CN" altLang="en-US" sz="1600" dirty="0">
                <a:solidFill>
                  <a:schemeClr val="bg1"/>
                </a:solidFill>
              </a:rPr>
              <a:t>、</a:t>
            </a:r>
            <a:r>
              <a:rPr lang="en-US" altLang="zh-CN" sz="1600" dirty="0">
                <a:solidFill>
                  <a:schemeClr val="bg1"/>
                </a:solidFill>
              </a:rPr>
              <a:t>B(Blue:</a:t>
            </a:r>
            <a:r>
              <a:rPr lang="zh-CN" altLang="en-US" sz="1600" dirty="0">
                <a:solidFill>
                  <a:schemeClr val="bg1"/>
                </a:solidFill>
              </a:rPr>
              <a:t>蓝</a:t>
            </a:r>
            <a:r>
              <a:rPr lang="en-US" altLang="zh-CN" sz="1600" dirty="0">
                <a:solidFill>
                  <a:schemeClr val="bg1"/>
                </a:solidFill>
              </a:rPr>
              <a:t>)</a:t>
            </a:r>
            <a:r>
              <a:rPr lang="zh-CN" altLang="en-US" sz="1600" dirty="0">
                <a:solidFill>
                  <a:schemeClr val="bg1"/>
                </a:solidFill>
              </a:rPr>
              <a:t>三种基本色为基础，进行不同程度的叠加，产生丰富而广泛的颜色，所以俗称三基色模式。</a:t>
            </a:r>
            <a:r>
              <a:rPr lang="en-US" altLang="zh-CN" sz="1600" dirty="0">
                <a:solidFill>
                  <a:schemeClr val="bg1"/>
                </a:solidFill>
              </a:rPr>
              <a:t>RGB</a:t>
            </a:r>
            <a:r>
              <a:rPr lang="zh-CN" altLang="en-US" sz="1600" dirty="0">
                <a:solidFill>
                  <a:schemeClr val="bg1"/>
                </a:solidFill>
              </a:rPr>
              <a:t>空间是生活中最常用的一个颜色显示模型，电视机、电脑的</a:t>
            </a:r>
            <a:r>
              <a:rPr lang="en-US" altLang="zh-CN" sz="1600" dirty="0">
                <a:solidFill>
                  <a:schemeClr val="bg1"/>
                </a:solidFill>
              </a:rPr>
              <a:t>CRT</a:t>
            </a:r>
            <a:r>
              <a:rPr lang="zh-CN" altLang="en-US" sz="1600" dirty="0">
                <a:solidFill>
                  <a:schemeClr val="bg1"/>
                </a:solidFill>
              </a:rPr>
              <a:t>显示器等大部分都是采用这种模型。自然界中的任何一种颜色都可以由红、绿、蓝三种色光混合而成，现实生活中人们见到的颜色大多是混合而成的色彩。肉眼可以识别世界上的所有颜色，而</a:t>
            </a:r>
            <a:r>
              <a:rPr lang="en-US" altLang="zh-CN" sz="1600" dirty="0">
                <a:solidFill>
                  <a:schemeClr val="bg1"/>
                </a:solidFill>
              </a:rPr>
              <a:t>RGB</a:t>
            </a:r>
            <a:r>
              <a:rPr lang="zh-CN" altLang="en-US" sz="1600" dirty="0">
                <a:solidFill>
                  <a:schemeClr val="bg1"/>
                </a:solidFill>
              </a:rPr>
              <a:t>几乎可以组合成世界上所有的颜色！</a:t>
            </a:r>
            <a:endParaRPr lang="zh-CN" altLang="en-US" sz="1600" dirty="0">
              <a:solidFill>
                <a:schemeClr val="bg1"/>
              </a:solidFill>
            </a:endParaRPr>
          </a:p>
        </p:txBody>
      </p:sp>
      <p:cxnSp>
        <p:nvCxnSpPr>
          <p:cNvPr id="3" name="直接箭头连接符 2"/>
          <p:cNvCxnSpPr/>
          <p:nvPr>
            <p:custDataLst>
              <p:tags r:id="rId7"/>
            </p:custDataLst>
          </p:nvPr>
        </p:nvCxnSpPr>
        <p:spPr>
          <a:xfrm>
            <a:off x="4394447" y="2911876"/>
            <a:ext cx="2290438" cy="0"/>
          </a:xfrm>
          <a:prstGeom prst="straightConnector1">
            <a:avLst/>
          </a:prstGeom>
          <a:ln w="76200">
            <a:solidFill>
              <a:srgbClr val="FF0000"/>
            </a:solidFill>
            <a:tailEnd type="triangle"/>
          </a:ln>
        </p:spPr>
        <p:style>
          <a:lnRef idx="1">
            <a:schemeClr val="accent3"/>
          </a:lnRef>
          <a:fillRef idx="0">
            <a:schemeClr val="accent3"/>
          </a:fillRef>
          <a:effectRef idx="0">
            <a:schemeClr val="accent3"/>
          </a:effectRef>
          <a:fontRef idx="minor">
            <a:schemeClr val="tx1"/>
          </a:fontRef>
        </p:style>
      </p:cxnSp>
      <p:pic>
        <p:nvPicPr>
          <p:cNvPr id="10" name="图片 9"/>
          <p:cNvPicPr>
            <a:picLocks noChangeAspect="1"/>
          </p:cNvPicPr>
          <p:nvPr>
            <p:custDataLst>
              <p:tags r:id="rId8"/>
            </p:custDataLst>
          </p:nvPr>
        </p:nvPicPr>
        <p:blipFill>
          <a:blip r:embed="rId9"/>
          <a:stretch>
            <a:fillRect/>
          </a:stretch>
        </p:blipFill>
        <p:spPr>
          <a:xfrm>
            <a:off x="7452654" y="1336538"/>
            <a:ext cx="2958479" cy="2958479"/>
          </a:xfrm>
          <a:prstGeom prst="rect">
            <a:avLst/>
          </a:prstGeom>
        </p:spPr>
      </p:pic>
      <p:sp>
        <p:nvSpPr>
          <p:cNvPr id="12" name="文本框 11"/>
          <p:cNvSpPr txBox="1"/>
          <p:nvPr>
            <p:custDataLst>
              <p:tags r:id="rId10"/>
            </p:custDataLst>
          </p:nvPr>
        </p:nvSpPr>
        <p:spPr>
          <a:xfrm>
            <a:off x="7386222" y="4921297"/>
            <a:ext cx="3710866" cy="1200329"/>
          </a:xfrm>
          <a:prstGeom prst="rect">
            <a:avLst/>
          </a:prstGeom>
          <a:noFill/>
        </p:spPr>
        <p:txBody>
          <a:bodyPr wrap="square" rtlCol="0">
            <a:spAutoFit/>
          </a:bodyPr>
          <a:p>
            <a:r>
              <a:rPr lang="en-US" b="0" i="0" dirty="0">
                <a:solidFill>
                  <a:schemeClr val="bg1"/>
                </a:solidFill>
                <a:effectLst/>
                <a:latin typeface="-apple-system"/>
              </a:rPr>
              <a:t>HSV(Hue, Saturation, Value)</a:t>
            </a:r>
            <a:r>
              <a:rPr lang="zh-CN" altLang="en-US" b="0" i="0" dirty="0">
                <a:solidFill>
                  <a:schemeClr val="bg1"/>
                </a:solidFill>
                <a:effectLst/>
                <a:latin typeface="-apple-system"/>
              </a:rPr>
              <a:t>是根据颜色的直观特性由</a:t>
            </a:r>
            <a:r>
              <a:rPr lang="en-US" b="0" i="0" dirty="0">
                <a:solidFill>
                  <a:schemeClr val="bg1"/>
                </a:solidFill>
                <a:effectLst/>
                <a:latin typeface="-apple-system"/>
              </a:rPr>
              <a:t>A. R. Smith</a:t>
            </a:r>
            <a:r>
              <a:rPr lang="zh-CN" altLang="en-US" b="0" i="0" dirty="0">
                <a:solidFill>
                  <a:schemeClr val="bg1"/>
                </a:solidFill>
                <a:effectLst/>
                <a:latin typeface="-apple-system"/>
              </a:rPr>
              <a:t>在</a:t>
            </a:r>
            <a:r>
              <a:rPr lang="en-US" altLang="zh-CN" b="0" i="0" dirty="0">
                <a:solidFill>
                  <a:schemeClr val="bg1"/>
                </a:solidFill>
                <a:effectLst/>
                <a:latin typeface="-apple-system"/>
              </a:rPr>
              <a:t>1978</a:t>
            </a:r>
            <a:r>
              <a:rPr lang="zh-CN" altLang="en-US" b="0" i="0" dirty="0">
                <a:solidFill>
                  <a:schemeClr val="bg1"/>
                </a:solidFill>
                <a:effectLst/>
                <a:latin typeface="-apple-system"/>
              </a:rPr>
              <a:t>年创建的一种颜色空间</a:t>
            </a:r>
            <a:r>
              <a:rPr lang="en-US" altLang="zh-CN" b="0" i="0" dirty="0">
                <a:solidFill>
                  <a:schemeClr val="bg1"/>
                </a:solidFill>
                <a:effectLst/>
                <a:latin typeface="-apple-system"/>
              </a:rPr>
              <a:t>, </a:t>
            </a:r>
            <a:r>
              <a:rPr lang="zh-CN" altLang="en-US" b="0" i="0" dirty="0">
                <a:solidFill>
                  <a:schemeClr val="bg1"/>
                </a:solidFill>
                <a:effectLst/>
                <a:latin typeface="-apple-system"/>
              </a:rPr>
              <a:t>也称六角锥体模型</a:t>
            </a:r>
            <a:r>
              <a:rPr lang="en-US" altLang="zh-CN" b="0" i="0" dirty="0">
                <a:solidFill>
                  <a:schemeClr val="bg1"/>
                </a:solidFill>
                <a:effectLst/>
                <a:latin typeface="-apple-system"/>
              </a:rPr>
              <a:t>(</a:t>
            </a:r>
            <a:r>
              <a:rPr lang="en-US" b="0" i="0" dirty="0" err="1">
                <a:solidFill>
                  <a:schemeClr val="bg1"/>
                </a:solidFill>
                <a:effectLst/>
                <a:latin typeface="-apple-system"/>
              </a:rPr>
              <a:t>Hexcone</a:t>
            </a:r>
            <a:r>
              <a:rPr lang="en-US" b="0" i="0" dirty="0">
                <a:solidFill>
                  <a:schemeClr val="bg1"/>
                </a:solidFill>
                <a:effectLst/>
                <a:latin typeface="-apple-system"/>
              </a:rPr>
              <a:t> Model)。</a:t>
            </a:r>
            <a:endParaRPr lang="en-US" b="0" i="0" dirty="0">
              <a:solidFill>
                <a:schemeClr val="bg1"/>
              </a:solidFill>
              <a:effectLst/>
              <a:latin typeface="-apple-system"/>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randombar(horizont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占位符 1"/>
          <p:cNvSpPr>
            <a:spLocks noGrp="1"/>
          </p:cNvSpPr>
          <p:nvPr>
            <p:ph type="body" sz="quarter" idx="10"/>
            <p:custDataLst>
              <p:tags r:id="rId3"/>
            </p:custDataLst>
          </p:nvPr>
        </p:nvSpPr>
        <p:spPr/>
        <p:txBody>
          <a:bodyPr/>
          <a:p>
            <a:r>
              <a:rPr lang="en-US" altLang="zh-CN" dirty="0"/>
              <a:t>HSV</a:t>
            </a:r>
            <a:endParaRPr lang="en-US" dirty="0"/>
          </a:p>
        </p:txBody>
      </p:sp>
      <p:pic>
        <p:nvPicPr>
          <p:cNvPr id="10" name="图片 9"/>
          <p:cNvPicPr>
            <a:picLocks noChangeAspect="1"/>
          </p:cNvPicPr>
          <p:nvPr>
            <p:custDataLst>
              <p:tags r:id="rId4"/>
            </p:custDataLst>
          </p:nvPr>
        </p:nvPicPr>
        <p:blipFill>
          <a:blip r:embed="rId5"/>
          <a:stretch>
            <a:fillRect/>
          </a:stretch>
        </p:blipFill>
        <p:spPr>
          <a:xfrm>
            <a:off x="391703" y="1321533"/>
            <a:ext cx="3116850" cy="2819644"/>
          </a:xfrm>
          <a:prstGeom prst="rect">
            <a:avLst/>
          </a:prstGeom>
        </p:spPr>
      </p:pic>
      <p:pic>
        <p:nvPicPr>
          <p:cNvPr id="12" name="图片 11"/>
          <p:cNvPicPr>
            <a:picLocks noChangeAspect="1"/>
          </p:cNvPicPr>
          <p:nvPr>
            <p:custDataLst>
              <p:tags r:id="rId6"/>
            </p:custDataLst>
          </p:nvPr>
        </p:nvPicPr>
        <p:blipFill>
          <a:blip r:embed="rId7"/>
          <a:stretch>
            <a:fillRect/>
          </a:stretch>
        </p:blipFill>
        <p:spPr>
          <a:xfrm>
            <a:off x="4341240" y="1321539"/>
            <a:ext cx="3033023" cy="2850127"/>
          </a:xfrm>
          <a:prstGeom prst="rect">
            <a:avLst/>
          </a:prstGeom>
        </p:spPr>
      </p:pic>
      <p:pic>
        <p:nvPicPr>
          <p:cNvPr id="14" name="图片 13"/>
          <p:cNvPicPr>
            <a:picLocks noChangeAspect="1"/>
          </p:cNvPicPr>
          <p:nvPr>
            <p:custDataLst>
              <p:tags r:id="rId8"/>
            </p:custDataLst>
          </p:nvPr>
        </p:nvPicPr>
        <p:blipFill>
          <a:blip r:embed="rId9"/>
          <a:stretch>
            <a:fillRect/>
          </a:stretch>
        </p:blipFill>
        <p:spPr>
          <a:xfrm>
            <a:off x="8208059" y="1473946"/>
            <a:ext cx="2842506" cy="2667231"/>
          </a:xfrm>
          <a:prstGeom prst="rect">
            <a:avLst/>
          </a:prstGeom>
        </p:spPr>
      </p:pic>
      <p:sp>
        <p:nvSpPr>
          <p:cNvPr id="15" name="文本框 14"/>
          <p:cNvSpPr txBox="1"/>
          <p:nvPr>
            <p:custDataLst>
              <p:tags r:id="rId10"/>
            </p:custDataLst>
          </p:nvPr>
        </p:nvSpPr>
        <p:spPr>
          <a:xfrm>
            <a:off x="227860" y="4230603"/>
            <a:ext cx="3651682" cy="2523768"/>
          </a:xfrm>
          <a:prstGeom prst="rect">
            <a:avLst/>
          </a:prstGeom>
          <a:noFill/>
        </p:spPr>
        <p:txBody>
          <a:bodyPr wrap="square" rtlCol="0">
            <a:spAutoFit/>
          </a:bodyPr>
          <a:p>
            <a:r>
              <a:rPr lang="zh-CN" altLang="en-US" b="1" dirty="0">
                <a:solidFill>
                  <a:schemeClr val="accent2"/>
                </a:solidFill>
                <a:effectLst>
                  <a:outerShdw blurRad="38100" dist="38100" dir="2700000" algn="tl">
                    <a:srgbClr val="000000">
                      <a:alpha val="43137"/>
                    </a:srgbClr>
                  </a:outerShdw>
                </a:effectLst>
              </a:rPr>
              <a:t>色调</a:t>
            </a:r>
            <a:r>
              <a:rPr lang="en-US" altLang="zh-CN" b="1" dirty="0">
                <a:solidFill>
                  <a:schemeClr val="accent2"/>
                </a:solidFill>
                <a:effectLst>
                  <a:outerShdw blurRad="38100" dist="38100" dir="2700000" algn="tl">
                    <a:srgbClr val="000000">
                      <a:alpha val="43137"/>
                    </a:srgbClr>
                  </a:outerShdw>
                </a:effectLst>
              </a:rPr>
              <a:t>H</a:t>
            </a:r>
            <a:r>
              <a:rPr lang="zh-CN" altLang="en-US" sz="1400" dirty="0"/>
              <a:t>：</a:t>
            </a:r>
            <a:r>
              <a:rPr lang="zh-CN" altLang="en-US" sz="1400" dirty="0">
                <a:solidFill>
                  <a:schemeClr val="bg1"/>
                </a:solidFill>
              </a:rPr>
              <a:t>用角度度量，取值范围为</a:t>
            </a:r>
            <a:r>
              <a:rPr lang="en-US" altLang="zh-CN" sz="1400" dirty="0">
                <a:solidFill>
                  <a:schemeClr val="bg1"/>
                </a:solidFill>
              </a:rPr>
              <a:t>0°</a:t>
            </a:r>
            <a:r>
              <a:rPr lang="zh-CN" altLang="en-US" sz="1400" dirty="0">
                <a:solidFill>
                  <a:schemeClr val="bg1"/>
                </a:solidFill>
              </a:rPr>
              <a:t>～</a:t>
            </a:r>
            <a:r>
              <a:rPr lang="en-US" altLang="zh-CN" sz="1400" dirty="0">
                <a:solidFill>
                  <a:schemeClr val="bg1"/>
                </a:solidFill>
              </a:rPr>
              <a:t>360°</a:t>
            </a:r>
            <a:r>
              <a:rPr lang="zh-CN" altLang="en-US" sz="1400" dirty="0">
                <a:solidFill>
                  <a:schemeClr val="bg1"/>
                </a:solidFill>
              </a:rPr>
              <a:t>，从红色开始按逆时针方向计算，红色为</a:t>
            </a:r>
            <a:r>
              <a:rPr lang="en-US" altLang="zh-CN" sz="1400" dirty="0">
                <a:solidFill>
                  <a:schemeClr val="bg1"/>
                </a:solidFill>
              </a:rPr>
              <a:t>0°</a:t>
            </a:r>
            <a:r>
              <a:rPr lang="zh-CN" altLang="en-US" sz="1400" dirty="0">
                <a:solidFill>
                  <a:schemeClr val="bg1"/>
                </a:solidFill>
              </a:rPr>
              <a:t>，绿色为</a:t>
            </a:r>
            <a:r>
              <a:rPr lang="en-US" altLang="zh-CN" sz="1400" dirty="0">
                <a:solidFill>
                  <a:schemeClr val="bg1"/>
                </a:solidFill>
              </a:rPr>
              <a:t>120°,</a:t>
            </a:r>
            <a:r>
              <a:rPr lang="zh-CN" altLang="en-US" sz="1400" dirty="0">
                <a:solidFill>
                  <a:schemeClr val="bg1"/>
                </a:solidFill>
              </a:rPr>
              <a:t>蓝色为</a:t>
            </a:r>
            <a:r>
              <a:rPr lang="en-US" altLang="zh-CN" sz="1400" dirty="0">
                <a:solidFill>
                  <a:schemeClr val="bg1"/>
                </a:solidFill>
              </a:rPr>
              <a:t>240°</a:t>
            </a:r>
            <a:r>
              <a:rPr lang="zh-CN" altLang="en-US" sz="1400" dirty="0">
                <a:solidFill>
                  <a:schemeClr val="bg1"/>
                </a:solidFill>
              </a:rPr>
              <a:t>，。它们的补色是：黄色为</a:t>
            </a:r>
            <a:r>
              <a:rPr lang="en-US" altLang="zh-CN" sz="1400" dirty="0">
                <a:solidFill>
                  <a:schemeClr val="bg1"/>
                </a:solidFill>
              </a:rPr>
              <a:t>60°</a:t>
            </a:r>
            <a:r>
              <a:rPr lang="zh-CN" altLang="en-US" sz="1400" dirty="0">
                <a:solidFill>
                  <a:schemeClr val="bg1"/>
                </a:solidFill>
              </a:rPr>
              <a:t>，青色为</a:t>
            </a:r>
            <a:r>
              <a:rPr lang="en-US" altLang="zh-CN" sz="1400" dirty="0">
                <a:solidFill>
                  <a:schemeClr val="bg1"/>
                </a:solidFill>
              </a:rPr>
              <a:t>180°,</a:t>
            </a:r>
            <a:r>
              <a:rPr lang="zh-CN" altLang="en-US" sz="1400" dirty="0">
                <a:solidFill>
                  <a:schemeClr val="bg1"/>
                </a:solidFill>
              </a:rPr>
              <a:t>品红为</a:t>
            </a:r>
            <a:r>
              <a:rPr lang="en-US" altLang="zh-CN" sz="1400" dirty="0">
                <a:solidFill>
                  <a:schemeClr val="bg1"/>
                </a:solidFill>
              </a:rPr>
              <a:t>300°</a:t>
            </a:r>
            <a:r>
              <a:rPr lang="zh-CN" altLang="en-US" sz="1400" dirty="0">
                <a:solidFill>
                  <a:schemeClr val="bg1"/>
                </a:solidFill>
              </a:rPr>
              <a:t>，</a:t>
            </a:r>
            <a:r>
              <a:rPr lang="en-US" altLang="zh-CN" sz="1400" dirty="0">
                <a:solidFill>
                  <a:schemeClr val="bg1"/>
                </a:solidFill>
              </a:rPr>
              <a:t>0°-  359°</a:t>
            </a:r>
            <a:r>
              <a:rPr lang="zh-CN" altLang="en-US" sz="1400" dirty="0">
                <a:solidFill>
                  <a:schemeClr val="bg1"/>
                </a:solidFill>
              </a:rPr>
              <a:t>时颜色会依次变换当角度到达</a:t>
            </a:r>
            <a:r>
              <a:rPr lang="en-US" altLang="zh-CN" sz="1400" dirty="0">
                <a:solidFill>
                  <a:schemeClr val="bg1"/>
                </a:solidFill>
              </a:rPr>
              <a:t>360°</a:t>
            </a:r>
            <a:r>
              <a:rPr lang="zh-CN" altLang="en-US" sz="1400" dirty="0">
                <a:solidFill>
                  <a:schemeClr val="bg1"/>
                </a:solidFill>
              </a:rPr>
              <a:t>时也就是红色，角度也就又回到</a:t>
            </a:r>
            <a:r>
              <a:rPr lang="en-US" altLang="zh-CN" sz="1400" dirty="0">
                <a:solidFill>
                  <a:schemeClr val="bg1"/>
                </a:solidFill>
              </a:rPr>
              <a:t>0°</a:t>
            </a:r>
            <a:r>
              <a:rPr lang="zh-CN" altLang="en-US" sz="1400" dirty="0">
                <a:solidFill>
                  <a:schemeClr val="bg1"/>
                </a:solidFill>
              </a:rPr>
              <a:t>了，所以总共为</a:t>
            </a:r>
            <a:r>
              <a:rPr lang="en-US" altLang="zh-CN" sz="1400" dirty="0">
                <a:solidFill>
                  <a:schemeClr val="bg1"/>
                </a:solidFill>
              </a:rPr>
              <a:t>360°</a:t>
            </a:r>
            <a:r>
              <a:rPr lang="zh-CN" altLang="en-US" sz="1400" dirty="0">
                <a:solidFill>
                  <a:schemeClr val="bg1"/>
                </a:solidFill>
              </a:rPr>
              <a:t>，每变换</a:t>
            </a:r>
            <a:r>
              <a:rPr lang="en-US" altLang="zh-CN" sz="1400" dirty="0">
                <a:solidFill>
                  <a:schemeClr val="bg1"/>
                </a:solidFill>
              </a:rPr>
              <a:t>1°</a:t>
            </a:r>
            <a:r>
              <a:rPr lang="zh-CN" altLang="en-US" sz="1400" dirty="0">
                <a:solidFill>
                  <a:schemeClr val="bg1"/>
                </a:solidFill>
              </a:rPr>
              <a:t>时，色相就会有轻微的变化！如果是顺时针的话这个变换过程会从红色逐渐变换到绿色，在由绿色逐渐变换到蓝色，在由蓝色逐渐变换到红色！逆时针的</a:t>
            </a:r>
            <a:r>
              <a:rPr lang="zh-CN" altLang="en-US" sz="1400" dirty="0"/>
              <a:t>话就是相反的！</a:t>
            </a:r>
            <a:endParaRPr lang="en-US" sz="1400" dirty="0"/>
          </a:p>
        </p:txBody>
      </p:sp>
      <p:sp>
        <p:nvSpPr>
          <p:cNvPr id="16" name="文本框 15"/>
          <p:cNvSpPr txBox="1"/>
          <p:nvPr>
            <p:custDataLst>
              <p:tags r:id="rId11"/>
            </p:custDataLst>
          </p:nvPr>
        </p:nvSpPr>
        <p:spPr>
          <a:xfrm>
            <a:off x="4171025" y="4213617"/>
            <a:ext cx="3651682" cy="2769989"/>
          </a:xfrm>
          <a:prstGeom prst="rect">
            <a:avLst/>
          </a:prstGeom>
          <a:noFill/>
        </p:spPr>
        <p:txBody>
          <a:bodyPr wrap="square" rtlCol="0">
            <a:spAutoFit/>
          </a:bodyPr>
          <a:p>
            <a:pPr algn="l"/>
            <a:r>
              <a:rPr lang="zh-CN" altLang="en-US" b="1" dirty="0">
                <a:solidFill>
                  <a:schemeClr val="accent2"/>
                </a:solidFill>
                <a:effectLst>
                  <a:outerShdw blurRad="38100" dist="38100" dir="2700000" algn="tl">
                    <a:srgbClr val="000000">
                      <a:alpha val="43137"/>
                    </a:srgbClr>
                  </a:outerShdw>
                </a:effectLst>
              </a:rPr>
              <a:t>饱和度</a:t>
            </a:r>
            <a:r>
              <a:rPr lang="en-US" altLang="zh-CN" b="1" dirty="0">
                <a:solidFill>
                  <a:schemeClr val="accent2"/>
                </a:solidFill>
                <a:effectLst>
                  <a:outerShdw blurRad="38100" dist="38100" dir="2700000" algn="tl">
                    <a:srgbClr val="000000">
                      <a:alpha val="43137"/>
                    </a:srgbClr>
                  </a:outerShdw>
                </a:effectLst>
              </a:rPr>
              <a:t>S</a:t>
            </a:r>
            <a:r>
              <a:rPr lang="zh-CN" altLang="en-US" sz="1400" dirty="0"/>
              <a:t>：</a:t>
            </a:r>
            <a:r>
              <a:rPr lang="zh-CN" altLang="en-US" sz="1600" b="0" i="0" dirty="0">
                <a:solidFill>
                  <a:schemeClr val="bg1"/>
                </a:solidFill>
                <a:effectLst/>
                <a:latin typeface="-apple-system"/>
              </a:rPr>
              <a:t>饱和度</a:t>
            </a:r>
            <a:r>
              <a:rPr lang="en-US" altLang="zh-CN" sz="1600" b="0" i="0" dirty="0">
                <a:solidFill>
                  <a:schemeClr val="bg1"/>
                </a:solidFill>
                <a:effectLst/>
                <a:latin typeface="-apple-system"/>
              </a:rPr>
              <a:t>S</a:t>
            </a:r>
            <a:r>
              <a:rPr lang="zh-CN" altLang="en-US" sz="1600" b="0" i="0" dirty="0">
                <a:solidFill>
                  <a:schemeClr val="bg1"/>
                </a:solidFill>
                <a:effectLst/>
                <a:latin typeface="-apple-system"/>
              </a:rPr>
              <a:t>表示颜色接近光谱色的程度。一种颜色，可以看成是某种光谱色与白色混合的结果。其中光谱色所占的比例愈大，颜色接近光谱色的程度就愈高，颜色的饱和度也就愈高。饱和度高，颜色则深而艳。光谱色的白光成分为</a:t>
            </a:r>
            <a:r>
              <a:rPr lang="en-US" altLang="zh-CN" sz="1600" b="0" i="0" dirty="0">
                <a:solidFill>
                  <a:schemeClr val="bg1"/>
                </a:solidFill>
                <a:effectLst/>
                <a:latin typeface="-apple-system"/>
              </a:rPr>
              <a:t>0</a:t>
            </a:r>
            <a:r>
              <a:rPr lang="zh-CN" altLang="en-US" sz="1600" b="0" i="0" dirty="0">
                <a:solidFill>
                  <a:schemeClr val="bg1"/>
                </a:solidFill>
                <a:effectLst/>
                <a:latin typeface="-apple-system"/>
              </a:rPr>
              <a:t>，饱和度达到最高。通常取值范围为</a:t>
            </a:r>
            <a:r>
              <a:rPr lang="en-US" altLang="zh-CN" sz="1600" b="0" i="0" dirty="0">
                <a:solidFill>
                  <a:schemeClr val="bg1"/>
                </a:solidFill>
                <a:effectLst/>
                <a:latin typeface="-apple-system"/>
              </a:rPr>
              <a:t>0%</a:t>
            </a:r>
            <a:r>
              <a:rPr lang="zh-CN" altLang="en-US" sz="1600" b="0" i="0" dirty="0">
                <a:solidFill>
                  <a:schemeClr val="bg1"/>
                </a:solidFill>
                <a:effectLst/>
                <a:latin typeface="-apple-system"/>
              </a:rPr>
              <a:t>～</a:t>
            </a:r>
            <a:r>
              <a:rPr lang="en-US" altLang="zh-CN" sz="1600" b="0" i="0" dirty="0">
                <a:solidFill>
                  <a:schemeClr val="bg1"/>
                </a:solidFill>
                <a:effectLst/>
                <a:latin typeface="-apple-system"/>
              </a:rPr>
              <a:t>100%</a:t>
            </a:r>
            <a:r>
              <a:rPr lang="zh-CN" altLang="en-US" sz="1600" b="0" i="0" dirty="0">
                <a:solidFill>
                  <a:schemeClr val="bg1"/>
                </a:solidFill>
                <a:effectLst/>
                <a:latin typeface="-apple-system"/>
              </a:rPr>
              <a:t>，值越大，颜色越饱和。</a:t>
            </a:r>
            <a:endParaRPr lang="zh-CN" altLang="en-US" sz="1600" b="0" i="0" dirty="0">
              <a:solidFill>
                <a:schemeClr val="bg1"/>
              </a:solidFill>
              <a:effectLst/>
              <a:latin typeface="-apple-system"/>
            </a:endParaRPr>
          </a:p>
          <a:p>
            <a:br>
              <a:rPr lang="zh-CN" altLang="en-US" sz="1400" dirty="0"/>
            </a:br>
            <a:endParaRPr lang="en-US" sz="1400" dirty="0"/>
          </a:p>
        </p:txBody>
      </p:sp>
      <p:sp>
        <p:nvSpPr>
          <p:cNvPr id="17" name="文本框 16"/>
          <p:cNvSpPr txBox="1"/>
          <p:nvPr>
            <p:custDataLst>
              <p:tags r:id="rId12"/>
            </p:custDataLst>
          </p:nvPr>
        </p:nvSpPr>
        <p:spPr>
          <a:xfrm>
            <a:off x="8114340" y="4230603"/>
            <a:ext cx="3651682" cy="1231106"/>
          </a:xfrm>
          <a:prstGeom prst="rect">
            <a:avLst/>
          </a:prstGeom>
          <a:noFill/>
        </p:spPr>
        <p:txBody>
          <a:bodyPr wrap="square" rtlCol="0">
            <a:spAutoFit/>
          </a:bodyPr>
          <a:p>
            <a:r>
              <a:rPr lang="zh-CN" altLang="en-US" sz="2000" b="1" dirty="0">
                <a:solidFill>
                  <a:schemeClr val="accent2"/>
                </a:solidFill>
                <a:effectLst>
                  <a:outerShdw blurRad="38100" dist="38100" dir="2700000" algn="tl">
                    <a:srgbClr val="000000">
                      <a:alpha val="43137"/>
                    </a:srgbClr>
                  </a:outerShdw>
                </a:effectLst>
              </a:rPr>
              <a:t>明度</a:t>
            </a:r>
            <a:r>
              <a:rPr lang="en-US" altLang="zh-CN" sz="2000" b="1" dirty="0">
                <a:solidFill>
                  <a:schemeClr val="accent2"/>
                </a:solidFill>
                <a:effectLst>
                  <a:outerShdw blurRad="38100" dist="38100" dir="2700000" algn="tl">
                    <a:srgbClr val="000000">
                      <a:alpha val="43137"/>
                    </a:srgbClr>
                  </a:outerShdw>
                </a:effectLst>
              </a:rPr>
              <a:t>V</a:t>
            </a:r>
            <a:r>
              <a:rPr lang="zh-CN" altLang="en-US" sz="1400" dirty="0"/>
              <a:t>：</a:t>
            </a:r>
            <a:r>
              <a:rPr lang="zh-CN" altLang="en-US" b="0" i="0" dirty="0">
                <a:solidFill>
                  <a:schemeClr val="bg1"/>
                </a:solidFill>
                <a:effectLst/>
                <a:latin typeface="-apple-system"/>
              </a:rPr>
              <a:t>明度表示颜色明亮的程度，对于光源色，明度值与发光体的光亮度有关；通常取值范围为</a:t>
            </a:r>
            <a:r>
              <a:rPr lang="en-US" altLang="zh-CN" b="0" i="0" dirty="0">
                <a:solidFill>
                  <a:schemeClr val="bg1"/>
                </a:solidFill>
                <a:effectLst/>
                <a:latin typeface="-apple-system"/>
              </a:rPr>
              <a:t>0%</a:t>
            </a:r>
            <a:r>
              <a:rPr lang="zh-CN" altLang="en-US" b="0" i="0" dirty="0">
                <a:solidFill>
                  <a:schemeClr val="bg1"/>
                </a:solidFill>
                <a:effectLst/>
                <a:latin typeface="-apple-system"/>
              </a:rPr>
              <a:t>（黑）到</a:t>
            </a:r>
            <a:r>
              <a:rPr lang="en-US" altLang="zh-CN" b="0" i="0" dirty="0">
                <a:solidFill>
                  <a:schemeClr val="bg1"/>
                </a:solidFill>
                <a:effectLst/>
                <a:latin typeface="-apple-system"/>
              </a:rPr>
              <a:t>100%</a:t>
            </a:r>
            <a:r>
              <a:rPr lang="zh-CN" altLang="en-US" b="0" i="0" dirty="0">
                <a:solidFill>
                  <a:schemeClr val="bg1"/>
                </a:solidFill>
                <a:effectLst/>
                <a:latin typeface="-apple-system"/>
              </a:rPr>
              <a:t>（白）。</a:t>
            </a:r>
            <a:endParaRPr lang="zh-CN" altLang="en-US" sz="1400" b="0" i="0" dirty="0">
              <a:solidFill>
                <a:schemeClr val="bg1"/>
              </a:solidFill>
              <a:effectLst/>
              <a:latin typeface="-apple-system"/>
            </a:endParaRPr>
          </a:p>
        </p:txBody>
      </p:sp>
      <p:sp>
        <p:nvSpPr>
          <p:cNvPr id="3" name="文本框 2"/>
          <p:cNvSpPr txBox="1"/>
          <p:nvPr/>
        </p:nvSpPr>
        <p:spPr>
          <a:xfrm>
            <a:off x="5043170" y="301625"/>
            <a:ext cx="4064000" cy="768350"/>
          </a:xfrm>
          <a:prstGeom prst="rect">
            <a:avLst/>
          </a:prstGeom>
          <a:noFill/>
        </p:spPr>
        <p:txBody>
          <a:bodyPr wrap="square" rtlCol="0">
            <a:spAutoFit/>
          </a:bodyPr>
          <a:p>
            <a:r>
              <a:rPr lang="en-US" altLang="zh-CN" sz="4400">
                <a:solidFill>
                  <a:schemeClr val="bg1"/>
                </a:solidFill>
              </a:rPr>
              <a:t>HSV</a:t>
            </a:r>
            <a:endParaRPr lang="en-US" altLang="zh-CN" sz="4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数字图像</a:t>
            </a:r>
            <a:endParaRPr lang="zh-CN" altLang="en-US" sz="3200" dirty="0">
              <a:solidFill>
                <a:schemeClr val="bg1"/>
              </a:solidFill>
              <a:cs typeface="+mn-ea"/>
              <a:sym typeface="+mn-lt"/>
            </a:endParaRPr>
          </a:p>
        </p:txBody>
      </p:sp>
      <p:sp>
        <p:nvSpPr>
          <p:cNvPr id="6" name="文本框 5"/>
          <p:cNvSpPr txBox="1"/>
          <p:nvPr/>
        </p:nvSpPr>
        <p:spPr>
          <a:xfrm>
            <a:off x="365760" y="1149985"/>
            <a:ext cx="7600950" cy="2377440"/>
          </a:xfrm>
          <a:prstGeom prst="rect">
            <a:avLst/>
          </a:prstGeom>
          <a:noFill/>
        </p:spPr>
        <p:txBody>
          <a:bodyPr wrap="square">
            <a:noAutofit/>
          </a:bodyPr>
          <a:lstStyle/>
          <a:p>
            <a:r>
              <a:rPr lang="en-US" altLang="zh-CN" sz="2800" dirty="0">
                <a:solidFill>
                  <a:schemeClr val="bg1"/>
                </a:solidFill>
                <a:latin typeface="宋体" pitchFamily="2" charset="-122"/>
                <a:ea typeface="宋体" pitchFamily="2" charset="-122"/>
                <a:cs typeface="宋体" pitchFamily="2" charset="-122"/>
              </a:rPr>
              <a:t>2. </a:t>
            </a:r>
            <a:r>
              <a:rPr lang="zh-CN" altLang="en-US" sz="2800" dirty="0">
                <a:solidFill>
                  <a:schemeClr val="bg1"/>
                </a:solidFill>
                <a:latin typeface="宋体" pitchFamily="2" charset="-122"/>
                <a:ea typeface="宋体" pitchFamily="2" charset="-122"/>
                <a:cs typeface="宋体" pitchFamily="2" charset="-122"/>
              </a:rPr>
              <a:t>彩色图像：</a:t>
            </a:r>
            <a:endParaRPr lang="zh-CN" altLang="en-US" sz="2800" dirty="0">
              <a:solidFill>
                <a:schemeClr val="bg1"/>
              </a:solidFill>
              <a:latin typeface="宋体" pitchFamily="2" charset="-122"/>
              <a:ea typeface="宋体" pitchFamily="2" charset="-122"/>
              <a:cs typeface="宋体" pitchFamily="2" charset="-122"/>
            </a:endParaRPr>
          </a:p>
          <a:p>
            <a:r>
              <a:rPr lang="en-US" altLang="zh-CN" sz="2800" dirty="0">
                <a:solidFill>
                  <a:schemeClr val="bg1"/>
                </a:solidFill>
                <a:latin typeface="宋体" pitchFamily="2" charset="-122"/>
                <a:ea typeface="宋体" pitchFamily="2" charset="-122"/>
                <a:cs typeface="宋体" pitchFamily="2" charset="-122"/>
              </a:rPr>
              <a:t>2.2 </a:t>
            </a:r>
            <a:r>
              <a:rPr lang="en-US" altLang="zh-CN" sz="2800" dirty="0">
                <a:solidFill>
                  <a:schemeClr val="accent2"/>
                </a:solidFill>
                <a:latin typeface="宋体" pitchFamily="2" charset="-122"/>
                <a:ea typeface="宋体" pitchFamily="2" charset="-122"/>
                <a:cs typeface="宋体" pitchFamily="2" charset="-122"/>
              </a:rPr>
              <a:t>HSV</a:t>
            </a:r>
            <a:r>
              <a:rPr lang="zh-CN" altLang="en-US" sz="2800" dirty="0">
                <a:solidFill>
                  <a:schemeClr val="bg1"/>
                </a:solidFill>
                <a:latin typeface="宋体" pitchFamily="2" charset="-122"/>
                <a:ea typeface="宋体" pitchFamily="2" charset="-122"/>
                <a:cs typeface="宋体" pitchFamily="2" charset="-122"/>
              </a:rPr>
              <a:t>模型</a:t>
            </a:r>
            <a:endParaRPr lang="zh-CN" altLang="en-US" sz="2800" dirty="0">
              <a:solidFill>
                <a:schemeClr val="bg1"/>
              </a:solidFill>
              <a:latin typeface="宋体" pitchFamily="2" charset="-122"/>
              <a:ea typeface="宋体" pitchFamily="2" charset="-122"/>
              <a:cs typeface="宋体" pitchFamily="2" charset="-122"/>
            </a:endParaRPr>
          </a:p>
          <a:p>
            <a:r>
              <a:rPr lang="zh-CN" altLang="en-US" sz="2800" dirty="0">
                <a:solidFill>
                  <a:schemeClr val="bg1"/>
                </a:solidFill>
                <a:latin typeface="宋体" pitchFamily="2" charset="-122"/>
                <a:ea typeface="宋体" pitchFamily="2" charset="-122"/>
                <a:cs typeface="宋体" pitchFamily="2" charset="-122"/>
              </a:rPr>
              <a:t>色调（</a:t>
            </a:r>
            <a:r>
              <a:rPr lang="en-US" altLang="zh-CN" sz="2800" dirty="0">
                <a:solidFill>
                  <a:schemeClr val="bg1"/>
                </a:solidFill>
                <a:latin typeface="宋体" pitchFamily="2" charset="-122"/>
                <a:ea typeface="宋体" pitchFamily="2" charset="-122"/>
                <a:cs typeface="宋体" pitchFamily="2" charset="-122"/>
              </a:rPr>
              <a:t>Hue, </a:t>
            </a:r>
            <a:r>
              <a:rPr lang="zh-CN" altLang="en-US" sz="2800" dirty="0">
                <a:solidFill>
                  <a:schemeClr val="bg1"/>
                </a:solidFill>
                <a:latin typeface="宋体" pitchFamily="2" charset="-122"/>
                <a:ea typeface="宋体" pitchFamily="2" charset="-122"/>
                <a:cs typeface="宋体" pitchFamily="2" charset="-122"/>
              </a:rPr>
              <a:t>缩写为</a:t>
            </a:r>
            <a:r>
              <a:rPr lang="en-US" altLang="zh-CN" sz="2800" dirty="0">
                <a:solidFill>
                  <a:schemeClr val="bg1"/>
                </a:solidFill>
                <a:latin typeface="宋体" pitchFamily="2" charset="-122"/>
                <a:ea typeface="宋体" pitchFamily="2" charset="-122"/>
                <a:cs typeface="宋体" pitchFamily="2" charset="-122"/>
              </a:rPr>
              <a:t>H</a:t>
            </a:r>
            <a:r>
              <a:rPr lang="zh-CN" altLang="en-US" sz="2800" dirty="0">
                <a:solidFill>
                  <a:schemeClr val="bg1"/>
                </a:solidFill>
                <a:latin typeface="宋体" pitchFamily="2" charset="-122"/>
                <a:ea typeface="宋体" pitchFamily="2" charset="-122"/>
                <a:cs typeface="宋体" pitchFamily="2" charset="-122"/>
              </a:rPr>
              <a:t>）、饱和度（</a:t>
            </a:r>
            <a:r>
              <a:rPr lang="en-US" altLang="zh-CN" sz="2800" dirty="0">
                <a:solidFill>
                  <a:schemeClr val="bg1"/>
                </a:solidFill>
                <a:latin typeface="宋体" pitchFamily="2" charset="-122"/>
                <a:ea typeface="宋体" pitchFamily="2" charset="-122"/>
                <a:cs typeface="宋体" pitchFamily="2" charset="-122"/>
              </a:rPr>
              <a:t>Saturation, </a:t>
            </a:r>
            <a:r>
              <a:rPr lang="zh-CN" altLang="en-US" sz="2800" dirty="0">
                <a:solidFill>
                  <a:schemeClr val="bg1"/>
                </a:solidFill>
                <a:latin typeface="宋体" pitchFamily="2" charset="-122"/>
                <a:ea typeface="宋体" pitchFamily="2" charset="-122"/>
                <a:cs typeface="宋体" pitchFamily="2" charset="-122"/>
              </a:rPr>
              <a:t>缩写为</a:t>
            </a:r>
            <a:r>
              <a:rPr lang="en-US" altLang="zh-CN" sz="2800" dirty="0">
                <a:solidFill>
                  <a:schemeClr val="bg1"/>
                </a:solidFill>
                <a:latin typeface="宋体" pitchFamily="2" charset="-122"/>
                <a:ea typeface="宋体" pitchFamily="2" charset="-122"/>
                <a:cs typeface="宋体" pitchFamily="2" charset="-122"/>
              </a:rPr>
              <a:t>S</a:t>
            </a:r>
            <a:r>
              <a:rPr lang="zh-CN" altLang="en-US" sz="2800" dirty="0">
                <a:solidFill>
                  <a:schemeClr val="bg1"/>
                </a:solidFill>
                <a:latin typeface="宋体" pitchFamily="2" charset="-122"/>
                <a:ea typeface="宋体" pitchFamily="2" charset="-122"/>
                <a:cs typeface="宋体" pitchFamily="2" charset="-122"/>
              </a:rPr>
              <a:t>）、明度（</a:t>
            </a:r>
            <a:r>
              <a:rPr lang="en-US" altLang="zh-CN" sz="2800" dirty="0">
                <a:solidFill>
                  <a:schemeClr val="bg1"/>
                </a:solidFill>
                <a:latin typeface="宋体" pitchFamily="2" charset="-122"/>
                <a:ea typeface="宋体" pitchFamily="2" charset="-122"/>
                <a:cs typeface="宋体" pitchFamily="2" charset="-122"/>
              </a:rPr>
              <a:t>Value</a:t>
            </a:r>
            <a:r>
              <a:rPr lang="zh-CN" altLang="en-US" sz="2800" dirty="0">
                <a:solidFill>
                  <a:schemeClr val="bg1"/>
                </a:solidFill>
                <a:latin typeface="宋体" pitchFamily="2" charset="-122"/>
                <a:ea typeface="宋体" pitchFamily="2" charset="-122"/>
                <a:cs typeface="宋体" pitchFamily="2" charset="-122"/>
              </a:rPr>
              <a:t>，缩写为</a:t>
            </a:r>
            <a:r>
              <a:rPr lang="en-US" altLang="zh-CN" sz="2800" dirty="0">
                <a:solidFill>
                  <a:schemeClr val="bg1"/>
                </a:solidFill>
                <a:latin typeface="宋体" pitchFamily="2" charset="-122"/>
                <a:ea typeface="宋体" pitchFamily="2" charset="-122"/>
                <a:cs typeface="宋体" pitchFamily="2" charset="-122"/>
              </a:rPr>
              <a:t>V</a:t>
            </a:r>
            <a:r>
              <a:rPr lang="zh-CN" altLang="en-US" sz="2800" dirty="0">
                <a:solidFill>
                  <a:schemeClr val="bg1"/>
                </a:solidFill>
                <a:latin typeface="宋体" pitchFamily="2" charset="-122"/>
                <a:ea typeface="宋体" pitchFamily="2" charset="-122"/>
                <a:cs typeface="宋体" pitchFamily="2" charset="-122"/>
              </a:rPr>
              <a:t>）</a:t>
            </a:r>
            <a:endParaRPr lang="zh-CN" altLang="en-US" sz="2800" dirty="0">
              <a:solidFill>
                <a:schemeClr val="bg1"/>
              </a:solidFill>
              <a:latin typeface="宋体" pitchFamily="2" charset="-122"/>
              <a:ea typeface="宋体" pitchFamily="2" charset="-122"/>
              <a:cs typeface="宋体" pitchFamily="2" charset="-122"/>
            </a:endParaRPr>
          </a:p>
        </p:txBody>
      </p:sp>
      <p:pic>
        <p:nvPicPr>
          <p:cNvPr id="4" name="图片 3"/>
          <p:cNvPicPr>
            <a:picLocks noChangeAspect="1"/>
          </p:cNvPicPr>
          <p:nvPr/>
        </p:nvPicPr>
        <p:blipFill>
          <a:blip r:embed="rId3"/>
          <a:stretch>
            <a:fillRect/>
          </a:stretch>
        </p:blipFill>
        <p:spPr>
          <a:xfrm>
            <a:off x="525652" y="3628881"/>
            <a:ext cx="7166866" cy="2180708"/>
          </a:xfrm>
          <a:prstGeom prst="rect">
            <a:avLst/>
          </a:prstGeom>
        </p:spPr>
      </p:pic>
      <p:pic>
        <p:nvPicPr>
          <p:cNvPr id="3" name="图片 2"/>
          <p:cNvPicPr>
            <a:picLocks noChangeAspect="1"/>
          </p:cNvPicPr>
          <p:nvPr/>
        </p:nvPicPr>
        <p:blipFill>
          <a:blip r:embed="rId4"/>
          <a:stretch>
            <a:fillRect/>
          </a:stretch>
        </p:blipFill>
        <p:spPr>
          <a:xfrm>
            <a:off x="8161655" y="824230"/>
            <a:ext cx="3139440" cy="49853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数字图像</a:t>
            </a:r>
            <a:endParaRPr lang="zh-CN" altLang="en-US" sz="3200" dirty="0">
              <a:solidFill>
                <a:schemeClr val="bg1"/>
              </a:solidFill>
              <a:cs typeface="+mn-ea"/>
              <a:sym typeface="+mn-lt"/>
            </a:endParaRPr>
          </a:p>
        </p:txBody>
      </p:sp>
      <p:sp>
        <p:nvSpPr>
          <p:cNvPr id="6" name="文本框 5"/>
          <p:cNvSpPr txBox="1"/>
          <p:nvPr/>
        </p:nvSpPr>
        <p:spPr>
          <a:xfrm>
            <a:off x="1308944" y="828701"/>
            <a:ext cx="9202356" cy="1384995"/>
          </a:xfrm>
          <a:prstGeom prst="rect">
            <a:avLst/>
          </a:prstGeom>
          <a:noFill/>
        </p:spPr>
        <p:txBody>
          <a:bodyPr wrap="square">
            <a:spAutoFit/>
          </a:bodyPr>
          <a:lstStyle/>
          <a:p>
            <a:r>
              <a:rPr lang="en-US" altLang="zh-CN" sz="2800" dirty="0">
                <a:solidFill>
                  <a:schemeClr val="accent2"/>
                </a:solidFill>
              </a:rPr>
              <a:t>RGB</a:t>
            </a:r>
            <a:r>
              <a:rPr lang="zh-CN" altLang="en-US" sz="2800" dirty="0">
                <a:solidFill>
                  <a:schemeClr val="bg1"/>
                </a:solidFill>
              </a:rPr>
              <a:t>颜色通道表示形式和</a:t>
            </a:r>
            <a:r>
              <a:rPr lang="en-US" altLang="zh-CN" sz="2800" dirty="0">
                <a:solidFill>
                  <a:schemeClr val="accent2"/>
                </a:solidFill>
              </a:rPr>
              <a:t>HSV</a:t>
            </a:r>
            <a:r>
              <a:rPr lang="zh-CN" altLang="en-US" sz="2800" dirty="0">
                <a:solidFill>
                  <a:schemeClr val="bg1"/>
                </a:solidFill>
              </a:rPr>
              <a:t>颜色通道表示形式可以相互转换。例如，</a:t>
            </a:r>
            <a:r>
              <a:rPr lang="en-US" altLang="zh-CN" sz="2800" dirty="0">
                <a:solidFill>
                  <a:schemeClr val="bg1"/>
                </a:solidFill>
              </a:rPr>
              <a:t>RGB</a:t>
            </a:r>
            <a:r>
              <a:rPr lang="zh-CN" altLang="en-US" sz="2800" dirty="0">
                <a:solidFill>
                  <a:schemeClr val="bg1"/>
                </a:solidFill>
              </a:rPr>
              <a:t>颜色通道转化成</a:t>
            </a:r>
            <a:r>
              <a:rPr lang="en-US" altLang="zh-CN" sz="2800" dirty="0">
                <a:solidFill>
                  <a:schemeClr val="bg1"/>
                </a:solidFill>
              </a:rPr>
              <a:t>HSV</a:t>
            </a:r>
            <a:r>
              <a:rPr lang="zh-CN" altLang="en-US" sz="2800" dirty="0">
                <a:solidFill>
                  <a:schemeClr val="bg1"/>
                </a:solidFill>
              </a:rPr>
              <a:t>颜色通道的计算方法为：</a:t>
            </a:r>
            <a:endParaRPr lang="zh-CN" altLang="en-US" sz="2800" dirty="0">
              <a:solidFill>
                <a:schemeClr val="bg1"/>
              </a:solidFill>
            </a:endParaRPr>
          </a:p>
        </p:txBody>
      </p:sp>
      <p:pic>
        <p:nvPicPr>
          <p:cNvPr id="4" name="图片 3"/>
          <p:cNvPicPr>
            <a:picLocks noChangeAspect="1"/>
          </p:cNvPicPr>
          <p:nvPr/>
        </p:nvPicPr>
        <p:blipFill>
          <a:blip r:embed="rId3"/>
          <a:stretch>
            <a:fillRect/>
          </a:stretch>
        </p:blipFill>
        <p:spPr>
          <a:xfrm>
            <a:off x="65405" y="2472690"/>
            <a:ext cx="5722620" cy="3806825"/>
          </a:xfrm>
          <a:prstGeom prst="rect">
            <a:avLst/>
          </a:prstGeom>
        </p:spPr>
      </p:pic>
      <p:sp>
        <p:nvSpPr>
          <p:cNvPr id="3" name="文本框 2"/>
          <p:cNvSpPr txBox="1"/>
          <p:nvPr/>
        </p:nvSpPr>
        <p:spPr>
          <a:xfrm>
            <a:off x="5840095" y="2472055"/>
            <a:ext cx="6350635" cy="1997075"/>
          </a:xfrm>
          <a:prstGeom prst="rect">
            <a:avLst/>
          </a:prstGeom>
          <a:noFill/>
        </p:spPr>
        <p:txBody>
          <a:bodyPr wrap="square" rtlCol="0">
            <a:noAutofit/>
            <a:scene3d>
              <a:camera prst="orthographicFront"/>
              <a:lightRig rig="soft" dir="t">
                <a:rot lat="0" lon="0" rev="15600000"/>
              </a:lightRig>
            </a:scene3d>
            <a:sp3d extrusionH="57150" prstMaterial="softEdge">
              <a:bevelT w="25400" h="38100"/>
            </a:sp3d>
          </a:bodyPr>
          <a:p>
            <a:r>
              <a:rPr lang="zh-CN" altLang="en-US">
                <a:solidFill>
                  <a:schemeClr val="accent4"/>
                </a:solidFill>
                <a:effectLst/>
                <a:latin typeface="宋体" pitchFamily="2" charset="-122"/>
                <a:ea typeface="宋体" pitchFamily="2" charset="-122"/>
              </a:rPr>
              <a:t>  </a:t>
            </a:r>
            <a:r>
              <a:rPr lang="zh-CN" altLang="en-US" sz="4000">
                <a:solidFill>
                  <a:schemeClr val="accent4"/>
                </a:solidFill>
                <a:effectLst/>
                <a:latin typeface="宋体" pitchFamily="2" charset="-122"/>
                <a:ea typeface="宋体" pitchFamily="2" charset="-122"/>
              </a:rPr>
              <a:t>cv::cvtColor(rgbImage, hsvImage, cv::COLOR_BGR2HSV);</a:t>
            </a:r>
            <a:endParaRPr lang="zh-CN" altLang="en-US" sz="4000">
              <a:solidFill>
                <a:schemeClr val="accent4"/>
              </a:solidFill>
              <a:effectLst/>
              <a:latin typeface="宋体" pitchFamily="2" charset="-122"/>
              <a:ea typeface="宋体" pitchFamily="2" charset="-122"/>
            </a:endParaRPr>
          </a:p>
          <a:p>
            <a:r>
              <a:rPr lang="zh-CN" altLang="en-US" sz="4000">
                <a:solidFill>
                  <a:schemeClr val="accent4"/>
                </a:solidFill>
                <a:effectLst/>
                <a:latin typeface="宋体" pitchFamily="2" charset="-122"/>
                <a:ea typeface="宋体" pitchFamily="2" charset="-122"/>
              </a:rPr>
              <a:t> </a:t>
            </a:r>
            <a:endParaRPr lang="zh-CN" altLang="en-US" sz="4000">
              <a:solidFill>
                <a:schemeClr val="accent4"/>
              </a:solidFill>
              <a:effectLst/>
              <a:latin typeface="宋体" pitchFamily="2" charset="-122"/>
              <a:ea typeface="宋体" pitchFamily="2" charset="-122"/>
            </a:endParaRPr>
          </a:p>
        </p:txBody>
      </p:sp>
      <p:sp>
        <p:nvSpPr>
          <p:cNvPr id="5" name="文本框 4"/>
          <p:cNvSpPr txBox="1"/>
          <p:nvPr/>
        </p:nvSpPr>
        <p:spPr>
          <a:xfrm>
            <a:off x="5984240" y="4430395"/>
            <a:ext cx="6021070" cy="207073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800" kern="1200">
                <a:solidFill>
                  <a:sysClr val="window" lastClr="FFFFFF"/>
                </a:solidFill>
                <a:latin typeface="Calibri" panose="020F0502020204030204" charset="0"/>
                <a:ea typeface="宋体" pitchFamily="2" charset="-122"/>
              </a:rPr>
              <a:t>可见相比</a:t>
            </a:r>
            <a:r>
              <a:rPr lang="en-US" altLang="zh-CN" sz="2800" kern="1200">
                <a:solidFill>
                  <a:sysClr val="window" lastClr="FFFFFF"/>
                </a:solidFill>
                <a:latin typeface="Calibri" panose="020F0502020204030204" charset="0"/>
                <a:ea typeface="宋体" pitchFamily="2" charset="-122"/>
              </a:rPr>
              <a:t>rgb</a:t>
            </a:r>
            <a:r>
              <a:rPr lang="zh-CN" altLang="en-US" sz="2800" kern="1200">
                <a:solidFill>
                  <a:sysClr val="window" lastClr="FFFFFF"/>
                </a:solidFill>
                <a:latin typeface="Calibri" panose="020F0502020204030204" charset="0"/>
                <a:ea typeface="宋体" pitchFamily="2" charset="-122"/>
              </a:rPr>
              <a:t>计算复杂，之后在灯条识别部分会了解到虽然</a:t>
            </a:r>
            <a:r>
              <a:rPr lang="en-US" altLang="zh-CN" sz="2800" kern="1200">
                <a:solidFill>
                  <a:sysClr val="window" lastClr="FFFFFF"/>
                </a:solidFill>
                <a:latin typeface="Calibri" panose="020F0502020204030204" charset="0"/>
                <a:ea typeface="宋体" pitchFamily="2" charset="-122"/>
              </a:rPr>
              <a:t>hsv</a:t>
            </a:r>
            <a:r>
              <a:rPr lang="zh-CN" altLang="en-US" sz="2800" kern="1200">
                <a:solidFill>
                  <a:sysClr val="window" lastClr="FFFFFF"/>
                </a:solidFill>
                <a:latin typeface="Calibri" panose="020F0502020204030204" charset="0"/>
                <a:ea typeface="宋体" pitchFamily="2" charset="-122"/>
              </a:rPr>
              <a:t>在不同亮度等条件下识别颜色稳定，但耗时长，转用</a:t>
            </a:r>
            <a:r>
              <a:rPr lang="zh-CN" altLang="en-US" sz="2800" kern="1200">
                <a:solidFill>
                  <a:sysClr val="window" lastClr="FFFFFF"/>
                </a:solidFill>
                <a:latin typeface="Calibri" panose="020F0502020204030204" charset="0"/>
                <a:ea typeface="宋体" pitchFamily="2" charset="-122"/>
              </a:rPr>
              <a:t>其他方法</a:t>
            </a:r>
            <a:endParaRPr lang="zh-CN" altLang="en-US" sz="2800" kern="1200">
              <a:solidFill>
                <a:sysClr val="window" lastClr="FFFFFF"/>
              </a:solidFill>
              <a:latin typeface="Calibri" panose="020F05020202040302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lnSpc>
                <a:spcPct val="100000"/>
              </a:lnSpc>
              <a:buClrTx/>
              <a:buSzTx/>
              <a:buFontTx/>
            </a:pPr>
            <a:r>
              <a:rPr lang="zh-CN" altLang="en-US" sz="3200" dirty="0">
                <a:solidFill>
                  <a:schemeClr val="bg1"/>
                </a:solidFill>
                <a:latin typeface="+mn-lt"/>
                <a:ea typeface="+mn-ea"/>
                <a:cs typeface="+mn-ea"/>
              </a:rPr>
              <a:t>HSV和GRAY的使用</a:t>
            </a:r>
            <a:r>
              <a:rPr lang="zh-CN" altLang="en-US" sz="3200" dirty="0">
                <a:solidFill>
                  <a:schemeClr val="bg1"/>
                </a:solidFill>
                <a:latin typeface="+mn-lt"/>
                <a:ea typeface="+mn-ea"/>
                <a:cs typeface="+mn-ea"/>
              </a:rPr>
              <a:t>区别</a:t>
            </a:r>
            <a:endParaRPr lang="zh-CN" altLang="en-US" sz="3200" dirty="0">
              <a:solidFill>
                <a:schemeClr val="bg1"/>
              </a:solidFill>
              <a:latin typeface="+mn-lt"/>
              <a:ea typeface="+mn-ea"/>
              <a:cs typeface="+mn-ea"/>
            </a:endParaRPr>
          </a:p>
        </p:txBody>
      </p:sp>
      <p:sp>
        <p:nvSpPr>
          <p:cNvPr id="3" name="内容占位符 2"/>
          <p:cNvSpPr>
            <a:spLocks noGrp="1"/>
          </p:cNvSpPr>
          <p:nvPr>
            <p:ph idx="4294967295"/>
          </p:nvPr>
        </p:nvSpPr>
        <p:spPr>
          <a:xfrm>
            <a:off x="838200" y="1825625"/>
            <a:ext cx="10515600" cy="4351338"/>
          </a:xfrm>
        </p:spPr>
        <p:txBody>
          <a:bodyPr/>
          <a:p>
            <a:r>
              <a:rPr lang="en-US" altLang="zh-CN" dirty="0">
                <a:solidFill>
                  <a:schemeClr val="bg1"/>
                </a:solidFill>
              </a:rPr>
              <a:t>GRAY</a:t>
            </a:r>
            <a:r>
              <a:rPr lang="zh-CN" altLang="en-US" dirty="0">
                <a:solidFill>
                  <a:schemeClr val="bg1"/>
                </a:solidFill>
              </a:rPr>
              <a:t>图像更适合识别形状、纹理等特征，适用于对颜色信息不敏感的场景。</a:t>
            </a:r>
            <a:r>
              <a:rPr lang="zh-CN" altLang="en-US" dirty="0">
                <a:solidFill>
                  <a:schemeClr val="bg1"/>
                </a:solidFill>
              </a:rPr>
              <a:t>因为 灰度图像去除了颜色信息，可以更好地突显形状和纹理特征，例如识别物体的轮廓、形状和纹理细节。</a:t>
            </a:r>
            <a:endParaRPr lang="zh-CN" altLang="en-US" dirty="0">
              <a:solidFill>
                <a:schemeClr val="bg1"/>
              </a:solidFill>
            </a:endParaRPr>
          </a:p>
          <a:p>
            <a:endParaRPr lang="zh-CN" altLang="en-US" dirty="0">
              <a:solidFill>
                <a:schemeClr val="bg1"/>
              </a:solidFill>
            </a:endParaRPr>
          </a:p>
          <a:p>
            <a:r>
              <a:rPr lang="zh-CN" altLang="en-US" dirty="0">
                <a:solidFill>
                  <a:schemeClr val="bg1"/>
                </a:solidFill>
              </a:rPr>
              <a:t>HSV 图像更适合识别颜色特征，适用于对颜色信息敏感，需要进行颜色调整或分割的场景。</a:t>
            </a:r>
            <a:r>
              <a:rPr lang="zh-CN" altLang="en-US" dirty="0">
                <a:solidFill>
                  <a:schemeClr val="bg1"/>
                </a:solidFill>
              </a:rPr>
              <a:t>因为 HSV 图像包含颜色信息，可以更有效地识别颜色特征，例如识别特定颜色的物体。</a:t>
            </a:r>
            <a:endParaRPr lang="zh-CN" altLang="en-US"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计算机视觉的主要研究内容</a:t>
            </a:r>
            <a:endParaRPr lang="zh-CN" altLang="en-US" sz="3200" dirty="0">
              <a:solidFill>
                <a:schemeClr val="bg1"/>
              </a:solidFill>
              <a:cs typeface="+mn-ea"/>
              <a:sym typeface="+mn-lt"/>
            </a:endParaRPr>
          </a:p>
        </p:txBody>
      </p:sp>
      <p:sp>
        <p:nvSpPr>
          <p:cNvPr id="6" name="文本框 5"/>
          <p:cNvSpPr txBox="1"/>
          <p:nvPr/>
        </p:nvSpPr>
        <p:spPr>
          <a:xfrm>
            <a:off x="3048000" y="1203390"/>
            <a:ext cx="6096000" cy="4524315"/>
          </a:xfrm>
          <a:prstGeom prst="rect">
            <a:avLst/>
          </a:prstGeom>
          <a:noFill/>
        </p:spPr>
        <p:txBody>
          <a:bodyPr wrap="square">
            <a:spAutoFit/>
          </a:bodyPr>
          <a:lstStyle/>
          <a:p>
            <a:pPr algn="ctr"/>
            <a:r>
              <a:rPr lang="zh-CN" altLang="en-US" sz="3600" dirty="0">
                <a:solidFill>
                  <a:schemeClr val="bg1"/>
                </a:solidFill>
              </a:rPr>
              <a:t>图像分类</a:t>
            </a:r>
            <a:endParaRPr lang="zh-CN" altLang="en-US" sz="3600" dirty="0">
              <a:solidFill>
                <a:schemeClr val="bg1"/>
              </a:solidFill>
            </a:endParaRPr>
          </a:p>
          <a:p>
            <a:pPr algn="ctr"/>
            <a:r>
              <a:rPr lang="zh-CN" altLang="en-US" sz="3600" dirty="0">
                <a:solidFill>
                  <a:schemeClr val="bg1"/>
                </a:solidFill>
              </a:rPr>
              <a:t>图像分割</a:t>
            </a:r>
            <a:endParaRPr lang="zh-CN" altLang="en-US" sz="3600" dirty="0">
              <a:solidFill>
                <a:schemeClr val="bg1"/>
              </a:solidFill>
            </a:endParaRPr>
          </a:p>
          <a:p>
            <a:pPr algn="ctr"/>
            <a:r>
              <a:rPr lang="zh-CN" altLang="en-US" sz="3600" dirty="0">
                <a:solidFill>
                  <a:schemeClr val="accent2"/>
                </a:solidFill>
              </a:rPr>
              <a:t>目标检测</a:t>
            </a:r>
            <a:endParaRPr lang="en-US" altLang="zh-CN" sz="3600" dirty="0">
              <a:solidFill>
                <a:schemeClr val="accent2"/>
              </a:solidFill>
            </a:endParaRPr>
          </a:p>
          <a:p>
            <a:pPr algn="ctr"/>
            <a:r>
              <a:rPr lang="zh-CN" altLang="en-US" sz="3600" dirty="0">
                <a:solidFill>
                  <a:schemeClr val="bg1"/>
                </a:solidFill>
              </a:rPr>
              <a:t>运动物体跟踪</a:t>
            </a:r>
            <a:endParaRPr lang="zh-CN" altLang="en-US" sz="3600" dirty="0">
              <a:solidFill>
                <a:schemeClr val="bg1"/>
              </a:solidFill>
            </a:endParaRPr>
          </a:p>
          <a:p>
            <a:pPr algn="ctr"/>
            <a:r>
              <a:rPr lang="zh-CN" altLang="en-US" sz="3600" dirty="0">
                <a:solidFill>
                  <a:schemeClr val="bg1"/>
                </a:solidFill>
              </a:rPr>
              <a:t>多目视觉</a:t>
            </a:r>
            <a:endParaRPr lang="zh-CN" altLang="en-US" sz="3600" dirty="0">
              <a:solidFill>
                <a:schemeClr val="bg1"/>
              </a:solidFill>
            </a:endParaRPr>
          </a:p>
          <a:p>
            <a:pPr algn="ctr"/>
            <a:r>
              <a:rPr lang="zh-CN" altLang="en-US" sz="3600" dirty="0">
                <a:solidFill>
                  <a:schemeClr val="bg1"/>
                </a:solidFill>
              </a:rPr>
              <a:t>视觉问答</a:t>
            </a:r>
            <a:endParaRPr lang="en-US" altLang="zh-CN" sz="3600" dirty="0">
              <a:solidFill>
                <a:schemeClr val="bg1"/>
              </a:solidFill>
            </a:endParaRPr>
          </a:p>
          <a:p>
            <a:pPr algn="ctr"/>
            <a:r>
              <a:rPr lang="zh-CN" altLang="en-US" sz="3600" dirty="0">
                <a:solidFill>
                  <a:schemeClr val="bg1"/>
                </a:solidFill>
              </a:rPr>
              <a:t>图像生成</a:t>
            </a:r>
            <a:endParaRPr lang="en-US" altLang="zh-CN" sz="3600" dirty="0">
              <a:solidFill>
                <a:schemeClr val="bg1"/>
              </a:solidFill>
            </a:endParaRPr>
          </a:p>
          <a:p>
            <a:pPr algn="ctr"/>
            <a:r>
              <a:rPr lang="zh-CN" altLang="en-US" sz="3600" dirty="0">
                <a:solidFill>
                  <a:schemeClr val="bg1"/>
                </a:solidFill>
              </a:rPr>
              <a:t>等等</a:t>
            </a:r>
            <a:r>
              <a:rPr lang="en-US" altLang="zh-CN" sz="3600" dirty="0">
                <a:solidFill>
                  <a:schemeClr val="bg1"/>
                </a:solidFill>
              </a:rPr>
              <a:t>…</a:t>
            </a:r>
            <a:endParaRPr lang="zh-CN" altLang="en-US" sz="36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3275420" y="2975742"/>
            <a:ext cx="6627223" cy="922020"/>
          </a:xfrm>
          <a:prstGeom prst="rect">
            <a:avLst/>
          </a:prstGeom>
          <a:noFill/>
        </p:spPr>
        <p:txBody>
          <a:bodyPr wrap="square" rtlCol="0">
            <a:spAutoFit/>
          </a:bodyPr>
          <a:lstStyle/>
          <a:p>
            <a:r>
              <a:rPr lang="en-US" altLang="zh-CN" sz="5400" dirty="0">
                <a:solidFill>
                  <a:schemeClr val="bg1"/>
                </a:solidFill>
                <a:cs typeface="+mn-ea"/>
                <a:sym typeface="+mn-lt"/>
              </a:rPr>
              <a:t>opencv</a:t>
            </a:r>
            <a:r>
              <a:rPr lang="zh-CN" altLang="en-US" sz="5400" dirty="0">
                <a:solidFill>
                  <a:schemeClr val="bg1"/>
                </a:solidFill>
                <a:cs typeface="+mn-ea"/>
                <a:sym typeface="+mn-lt"/>
              </a:rPr>
              <a:t>常用算法</a:t>
            </a:r>
            <a:endParaRPr lang="zh-CN" altLang="en-US" sz="54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基本数据类型</a:t>
            </a:r>
            <a:endParaRPr lang="zh-CN" altLang="en-US" sz="3200" dirty="0">
              <a:solidFill>
                <a:schemeClr val="bg1"/>
              </a:solidFill>
              <a:cs typeface="+mn-ea"/>
              <a:sym typeface="+mn-lt"/>
            </a:endParaRPr>
          </a:p>
        </p:txBody>
      </p:sp>
      <p:sp>
        <p:nvSpPr>
          <p:cNvPr id="8" name="文本框 7"/>
          <p:cNvSpPr txBox="1"/>
          <p:nvPr/>
        </p:nvSpPr>
        <p:spPr>
          <a:xfrm>
            <a:off x="1144515" y="1559065"/>
            <a:ext cx="9094859" cy="4456092"/>
          </a:xfrm>
          <a:prstGeom prst="rect">
            <a:avLst/>
          </a:prstGeom>
          <a:noFill/>
        </p:spPr>
        <p:txBody>
          <a:bodyPr wrap="square">
            <a:spAutoFit/>
          </a:bodyPr>
          <a:lstStyle/>
          <a:p>
            <a:pPr>
              <a:lnSpc>
                <a:spcPct val="150000"/>
              </a:lnSpc>
            </a:pPr>
            <a:r>
              <a:rPr lang="en-US" altLang="zh-CN" sz="2400" b="1" dirty="0">
                <a:solidFill>
                  <a:schemeClr val="bg1"/>
                </a:solidFill>
              </a:rPr>
              <a:t>Mat</a:t>
            </a:r>
            <a:r>
              <a:rPr lang="zh-CN" altLang="en-US" sz="2400" b="1" dirty="0">
                <a:solidFill>
                  <a:schemeClr val="bg1"/>
                </a:solidFill>
              </a:rPr>
              <a:t>：</a:t>
            </a:r>
            <a:r>
              <a:rPr lang="zh-CN" altLang="en-US" sz="2400" dirty="0">
                <a:solidFill>
                  <a:schemeClr val="bg1"/>
                </a:solidFill>
              </a:rPr>
              <a:t>矩阵类型，能够保存图像。</a:t>
            </a:r>
            <a:endParaRPr lang="zh-CN" altLang="en-US" sz="2400" dirty="0">
              <a:solidFill>
                <a:schemeClr val="bg1"/>
              </a:solidFill>
            </a:endParaRPr>
          </a:p>
          <a:p>
            <a:pPr>
              <a:lnSpc>
                <a:spcPct val="150000"/>
              </a:lnSpc>
            </a:pPr>
            <a:r>
              <a:rPr lang="en-US" altLang="zh-CN" sz="2400" b="1" dirty="0">
                <a:solidFill>
                  <a:schemeClr val="bg1"/>
                </a:solidFill>
              </a:rPr>
              <a:t>Point</a:t>
            </a:r>
            <a:r>
              <a:rPr lang="zh-CN" altLang="en-US" sz="2400" b="1" dirty="0">
                <a:solidFill>
                  <a:schemeClr val="bg1"/>
                </a:solidFill>
              </a:rPr>
              <a:t>：</a:t>
            </a:r>
            <a:r>
              <a:rPr lang="zh-CN" altLang="en-US" sz="2400" dirty="0">
                <a:solidFill>
                  <a:schemeClr val="bg1"/>
                </a:solidFill>
              </a:rPr>
              <a:t>一个像素点，或者任何类型的“点”。</a:t>
            </a:r>
            <a:endParaRPr lang="zh-CN" altLang="en-US" sz="2400" dirty="0">
              <a:solidFill>
                <a:schemeClr val="bg1"/>
              </a:solidFill>
            </a:endParaRPr>
          </a:p>
          <a:p>
            <a:pPr>
              <a:lnSpc>
                <a:spcPct val="150000"/>
              </a:lnSpc>
            </a:pPr>
            <a:r>
              <a:rPr lang="en-US" altLang="zh-CN" sz="2400" b="1" dirty="0">
                <a:solidFill>
                  <a:schemeClr val="bg1"/>
                </a:solidFill>
              </a:rPr>
              <a:t>Scalar</a:t>
            </a:r>
            <a:r>
              <a:rPr lang="zh-CN" altLang="en-US" sz="2400" b="1" dirty="0">
                <a:solidFill>
                  <a:schemeClr val="bg1"/>
                </a:solidFill>
              </a:rPr>
              <a:t>：</a:t>
            </a:r>
            <a:r>
              <a:rPr lang="zh-CN" altLang="en-US" sz="2400" dirty="0">
                <a:solidFill>
                  <a:schemeClr val="bg1"/>
                </a:solidFill>
              </a:rPr>
              <a:t>一个四维点类，是许多函数的参数。</a:t>
            </a:r>
            <a:endParaRPr lang="zh-CN" altLang="en-US" sz="2400" dirty="0">
              <a:solidFill>
                <a:schemeClr val="bg1"/>
              </a:solidFill>
            </a:endParaRPr>
          </a:p>
          <a:p>
            <a:pPr>
              <a:lnSpc>
                <a:spcPct val="150000"/>
              </a:lnSpc>
            </a:pPr>
            <a:r>
              <a:rPr lang="en-US" altLang="zh-CN" sz="2400" b="1" dirty="0">
                <a:solidFill>
                  <a:schemeClr val="bg1"/>
                </a:solidFill>
              </a:rPr>
              <a:t>Size</a:t>
            </a:r>
            <a:r>
              <a:rPr lang="zh-CN" altLang="en-US" sz="2400" b="1" dirty="0">
                <a:solidFill>
                  <a:schemeClr val="bg1"/>
                </a:solidFill>
              </a:rPr>
              <a:t>：</a:t>
            </a:r>
            <a:r>
              <a:rPr lang="zh-CN" altLang="en-US" sz="2400" dirty="0">
                <a:solidFill>
                  <a:schemeClr val="bg1"/>
                </a:solidFill>
              </a:rPr>
              <a:t>同样是一对数据构成的组，一般表示一块区域或图像的宽高，有些时候可以和</a:t>
            </a:r>
            <a:r>
              <a:rPr lang="en-US" altLang="zh-CN" sz="2400" dirty="0">
                <a:solidFill>
                  <a:schemeClr val="bg1"/>
                </a:solidFill>
              </a:rPr>
              <a:t>point</a:t>
            </a:r>
            <a:r>
              <a:rPr lang="zh-CN" altLang="en-US" sz="2400" dirty="0">
                <a:solidFill>
                  <a:schemeClr val="bg1"/>
                </a:solidFill>
              </a:rPr>
              <a:t>互换。</a:t>
            </a:r>
            <a:endParaRPr lang="zh-CN" altLang="en-US" sz="2400" dirty="0">
              <a:solidFill>
                <a:schemeClr val="bg1"/>
              </a:solidFill>
            </a:endParaRPr>
          </a:p>
          <a:p>
            <a:pPr>
              <a:lnSpc>
                <a:spcPct val="150000"/>
              </a:lnSpc>
            </a:pPr>
            <a:r>
              <a:rPr lang="en-US" altLang="zh-CN" sz="2400" b="1" dirty="0" err="1">
                <a:solidFill>
                  <a:schemeClr val="bg1"/>
                </a:solidFill>
              </a:rPr>
              <a:t>Rect</a:t>
            </a:r>
            <a:r>
              <a:rPr lang="zh-CN" altLang="en-US" sz="2400" b="1" dirty="0">
                <a:solidFill>
                  <a:schemeClr val="bg1"/>
                </a:solidFill>
              </a:rPr>
              <a:t>：</a:t>
            </a:r>
            <a:r>
              <a:rPr lang="en-US" altLang="zh-CN" sz="2400" dirty="0">
                <a:solidFill>
                  <a:schemeClr val="bg1"/>
                </a:solidFill>
              </a:rPr>
              <a:t>rectangle</a:t>
            </a:r>
            <a:r>
              <a:rPr lang="zh-CN" altLang="en-US" sz="2400" dirty="0">
                <a:solidFill>
                  <a:schemeClr val="bg1"/>
                </a:solidFill>
              </a:rPr>
              <a:t>，矩形类，拥有</a:t>
            </a:r>
            <a:r>
              <a:rPr lang="en-US" altLang="zh-CN" sz="2400" dirty="0">
                <a:solidFill>
                  <a:schemeClr val="bg1"/>
                </a:solidFill>
              </a:rPr>
              <a:t>Point</a:t>
            </a:r>
            <a:r>
              <a:rPr lang="zh-CN" altLang="en-US" sz="2400" dirty="0">
                <a:solidFill>
                  <a:schemeClr val="bg1"/>
                </a:solidFill>
              </a:rPr>
              <a:t>和</a:t>
            </a:r>
            <a:r>
              <a:rPr lang="en-US" altLang="zh-CN" sz="2400" dirty="0">
                <a:solidFill>
                  <a:schemeClr val="bg1"/>
                </a:solidFill>
              </a:rPr>
              <a:t>Size</a:t>
            </a:r>
            <a:r>
              <a:rPr lang="zh-CN" altLang="en-US" sz="2400" dirty="0">
                <a:solidFill>
                  <a:schemeClr val="bg1"/>
                </a:solidFill>
              </a:rPr>
              <a:t>成员，用于表示一块矩形的区域。</a:t>
            </a:r>
            <a:endParaRPr lang="zh-CN" altLang="en-US" sz="2400" dirty="0">
              <a:solidFill>
                <a:schemeClr val="bg1"/>
              </a:solidFill>
            </a:endParaRPr>
          </a:p>
          <a:p>
            <a:pPr>
              <a:lnSpc>
                <a:spcPct val="150000"/>
              </a:lnSpc>
            </a:pPr>
            <a:r>
              <a:rPr lang="en-US" altLang="zh-CN" sz="2400" b="1" dirty="0" err="1">
                <a:solidFill>
                  <a:schemeClr val="bg1"/>
                </a:solidFill>
              </a:rPr>
              <a:t>RotatedRect</a:t>
            </a:r>
            <a:r>
              <a:rPr lang="zh-CN" altLang="en-US" sz="2400" b="1" dirty="0">
                <a:solidFill>
                  <a:schemeClr val="bg1"/>
                </a:solidFill>
              </a:rPr>
              <a:t>：</a:t>
            </a:r>
            <a:r>
              <a:rPr lang="zh-CN" altLang="en-US" sz="2400" dirty="0">
                <a:solidFill>
                  <a:schemeClr val="bg1"/>
                </a:solidFill>
              </a:rPr>
              <a:t>同上，不过有额外的成员</a:t>
            </a:r>
            <a:r>
              <a:rPr lang="en-US" altLang="zh-CN" sz="2400" dirty="0">
                <a:solidFill>
                  <a:schemeClr val="bg1"/>
                </a:solidFill>
              </a:rPr>
              <a:t>angle</a:t>
            </a:r>
            <a:r>
              <a:rPr lang="zh-CN" altLang="en-US" sz="2400" dirty="0">
                <a:solidFill>
                  <a:schemeClr val="bg1"/>
                </a:solidFill>
              </a:rPr>
              <a:t>用于表示角度。</a:t>
            </a:r>
            <a:endParaRPr lang="zh-CN" alt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3565"/>
          </a:xfrm>
          <a:prstGeom prst="rect">
            <a:avLst/>
          </a:prstGeom>
          <a:noFill/>
        </p:spPr>
        <p:txBody>
          <a:bodyPr wrap="square" rtlCol="0">
            <a:spAutoFit/>
          </a:bodyPr>
          <a:lstStyle/>
          <a:p>
            <a:r>
              <a:rPr lang="en-US" altLang="zh-CN" sz="3200" dirty="0">
                <a:solidFill>
                  <a:schemeClr val="bg1"/>
                </a:solidFill>
                <a:cs typeface="+mn-ea"/>
                <a:sym typeface="+mn-lt"/>
              </a:rPr>
              <a:t>opencv</a:t>
            </a:r>
            <a:r>
              <a:rPr lang="zh-CN" altLang="en-US" sz="3200" dirty="0">
                <a:solidFill>
                  <a:schemeClr val="bg1"/>
                </a:solidFill>
                <a:cs typeface="+mn-ea"/>
                <a:sym typeface="+mn-lt"/>
              </a:rPr>
              <a:t>常用</a:t>
            </a:r>
            <a:r>
              <a:rPr lang="zh-CN" altLang="en-US" sz="3200" dirty="0">
                <a:solidFill>
                  <a:schemeClr val="bg1"/>
                </a:solidFill>
                <a:cs typeface="+mn-ea"/>
                <a:sym typeface="+mn-lt"/>
              </a:rPr>
              <a:t>函数</a:t>
            </a:r>
            <a:endParaRPr lang="zh-CN" altLang="en-US" sz="3200" dirty="0">
              <a:solidFill>
                <a:schemeClr val="bg1"/>
              </a:solidFill>
              <a:cs typeface="+mn-ea"/>
              <a:sym typeface="+mn-lt"/>
            </a:endParaRPr>
          </a:p>
        </p:txBody>
      </p:sp>
      <p:pic>
        <p:nvPicPr>
          <p:cNvPr id="3" name="图片 2"/>
          <p:cNvPicPr>
            <a:picLocks noChangeAspect="1"/>
          </p:cNvPicPr>
          <p:nvPr>
            <p:custDataLst>
              <p:tags r:id="rId3"/>
            </p:custDataLst>
          </p:nvPr>
        </p:nvPicPr>
        <p:blipFill>
          <a:blip r:embed="rId4"/>
          <a:stretch>
            <a:fillRect/>
          </a:stretch>
        </p:blipFill>
        <p:spPr>
          <a:xfrm>
            <a:off x="378460" y="1476375"/>
            <a:ext cx="3512185" cy="2166620"/>
          </a:xfrm>
          <a:prstGeom prst="rect">
            <a:avLst/>
          </a:prstGeom>
        </p:spPr>
      </p:pic>
      <p:sp>
        <p:nvSpPr>
          <p:cNvPr id="4" name="文本框 3"/>
          <p:cNvSpPr txBox="1"/>
          <p:nvPr/>
        </p:nvSpPr>
        <p:spPr>
          <a:xfrm>
            <a:off x="378460" y="806450"/>
            <a:ext cx="7528560" cy="495935"/>
          </a:xfrm>
          <a:prstGeom prst="rect">
            <a:avLst/>
          </a:prstGeom>
          <a:noFill/>
        </p:spPr>
        <p:txBody>
          <a:bodyPr wrap="square" rtlCol="0">
            <a:noAutofit/>
          </a:bodyPr>
          <a:p>
            <a:r>
              <a:rPr lang="zh-CN" altLang="en-US" sz="3600">
                <a:solidFill>
                  <a:schemeClr val="bg1"/>
                </a:solidFill>
              </a:rPr>
              <a:t>cvtColor()</a:t>
            </a:r>
            <a:r>
              <a:rPr lang="zh-CN" altLang="en-US">
                <a:solidFill>
                  <a:schemeClr val="bg1"/>
                </a:solidFill>
              </a:rPr>
              <a:t> //将图片从一个颜色空间转换到另一个颜色空间</a:t>
            </a:r>
            <a:endParaRPr lang="zh-CN" altLang="en-US">
              <a:solidFill>
                <a:schemeClr val="bg1"/>
              </a:solidFill>
            </a:endParaRPr>
          </a:p>
        </p:txBody>
      </p:sp>
      <p:pic>
        <p:nvPicPr>
          <p:cNvPr id="10" name="图片 9" descr="11"/>
          <p:cNvPicPr>
            <a:picLocks noChangeAspect="1"/>
          </p:cNvPicPr>
          <p:nvPr/>
        </p:nvPicPr>
        <p:blipFill>
          <a:blip r:embed="rId5"/>
          <a:stretch>
            <a:fillRect/>
          </a:stretch>
        </p:blipFill>
        <p:spPr>
          <a:xfrm>
            <a:off x="7922260" y="1453515"/>
            <a:ext cx="3611880" cy="2172335"/>
          </a:xfrm>
          <a:prstGeom prst="rect">
            <a:avLst/>
          </a:prstGeom>
        </p:spPr>
      </p:pic>
      <p:pic>
        <p:nvPicPr>
          <p:cNvPr id="11" name="图片 10" descr="灰度图"/>
          <p:cNvPicPr>
            <a:picLocks noChangeAspect="1"/>
          </p:cNvPicPr>
          <p:nvPr/>
        </p:nvPicPr>
        <p:blipFill>
          <a:blip r:embed="rId6"/>
          <a:stretch>
            <a:fillRect/>
          </a:stretch>
        </p:blipFill>
        <p:spPr>
          <a:xfrm>
            <a:off x="4180840" y="1453515"/>
            <a:ext cx="3451225" cy="2189480"/>
          </a:xfrm>
          <a:prstGeom prst="rect">
            <a:avLst/>
          </a:prstGeom>
        </p:spPr>
      </p:pic>
      <p:sp>
        <p:nvSpPr>
          <p:cNvPr id="12" name="文本框 11"/>
          <p:cNvSpPr txBox="1"/>
          <p:nvPr/>
        </p:nvSpPr>
        <p:spPr>
          <a:xfrm>
            <a:off x="269875" y="3816985"/>
            <a:ext cx="5626100" cy="1797685"/>
          </a:xfrm>
          <a:prstGeom prst="rect">
            <a:avLst/>
          </a:prstGeom>
          <a:noFill/>
        </p:spPr>
        <p:txBody>
          <a:bodyPr wrap="square" rtlCol="0">
            <a:noAutofit/>
          </a:bodyPr>
          <a:p>
            <a:r>
              <a:rPr lang="zh-CN" altLang="en-US" sz="3600">
                <a:solidFill>
                  <a:schemeClr val="bg1"/>
                </a:solidFill>
              </a:rPr>
              <a:t>颜色空间是什么？</a:t>
            </a:r>
            <a:endParaRPr lang="zh-CN" altLang="en-US" sz="3600">
              <a:solidFill>
                <a:schemeClr val="bg1"/>
              </a:solidFill>
            </a:endParaRPr>
          </a:p>
          <a:p>
            <a:r>
              <a:rPr lang="en-US" altLang="zh-CN" sz="2400">
                <a:solidFill>
                  <a:schemeClr val="bg1"/>
                </a:solidFill>
              </a:rPr>
              <a:t>RGB HSV LAB YCrCb</a:t>
            </a:r>
            <a:endParaRPr lang="en-US" altLang="zh-CN" sz="2400">
              <a:solidFill>
                <a:schemeClr val="bg1"/>
              </a:solidFill>
            </a:endParaRPr>
          </a:p>
        </p:txBody>
      </p:sp>
      <p:sp>
        <p:nvSpPr>
          <p:cNvPr id="13" name="文本框 12"/>
          <p:cNvSpPr txBox="1"/>
          <p:nvPr/>
        </p:nvSpPr>
        <p:spPr>
          <a:xfrm>
            <a:off x="383540" y="5294630"/>
            <a:ext cx="4064000" cy="922020"/>
          </a:xfrm>
          <a:prstGeom prst="rect">
            <a:avLst/>
          </a:prstGeom>
          <a:noFill/>
        </p:spPr>
        <p:txBody>
          <a:bodyPr wrap="square" rtlCol="0">
            <a:spAutoFit/>
          </a:bodyPr>
          <a:p>
            <a:r>
              <a:rPr lang="en-US" altLang="zh-CN" b="1" dirty="0">
                <a:solidFill>
                  <a:schemeClr val="bg1"/>
                </a:solidFill>
                <a:sym typeface="+mn-ea"/>
              </a:rPr>
              <a:t>RGB</a:t>
            </a:r>
            <a:r>
              <a:rPr lang="zh-CN" altLang="en-US" b="1" dirty="0">
                <a:solidFill>
                  <a:schemeClr val="bg1"/>
                </a:solidFill>
                <a:sym typeface="+mn-ea"/>
              </a:rPr>
              <a:t>转化为灰度图</a:t>
            </a:r>
            <a:r>
              <a:rPr lang="en-US" altLang="zh-CN" b="1" dirty="0">
                <a:solidFill>
                  <a:schemeClr val="bg1"/>
                </a:solidFill>
                <a:sym typeface="+mn-ea"/>
              </a:rPr>
              <a:t>Gray=0.3R+0.59G+0.11B</a:t>
            </a:r>
            <a:endParaRPr lang="zh-CN" altLang="en-US" b="1" dirty="0">
              <a:solidFill>
                <a:schemeClr val="bg1"/>
              </a:solidFill>
            </a:endParaRPr>
          </a:p>
          <a:p>
            <a:endParaRPr lang="zh-CN" altLang="en-US"/>
          </a:p>
        </p:txBody>
      </p:sp>
      <p:pic>
        <p:nvPicPr>
          <p:cNvPr id="14" name="图片 13"/>
          <p:cNvPicPr>
            <a:picLocks noChangeAspect="1"/>
          </p:cNvPicPr>
          <p:nvPr>
            <p:custDataLst>
              <p:tags r:id="rId7"/>
            </p:custDataLst>
          </p:nvPr>
        </p:nvPicPr>
        <p:blipFill>
          <a:blip r:embed="rId8"/>
          <a:stretch>
            <a:fillRect/>
          </a:stretch>
        </p:blipFill>
        <p:spPr>
          <a:xfrm>
            <a:off x="7632065" y="3988435"/>
            <a:ext cx="4290060" cy="1318260"/>
          </a:xfrm>
          <a:prstGeom prst="rect">
            <a:avLst/>
          </a:prstGeom>
        </p:spPr>
      </p:pic>
      <p:pic>
        <p:nvPicPr>
          <p:cNvPr id="15" name="图片 14"/>
          <p:cNvPicPr>
            <a:picLocks noChangeAspect="1"/>
          </p:cNvPicPr>
          <p:nvPr>
            <p:custDataLst>
              <p:tags r:id="rId9"/>
            </p:custDataLst>
          </p:nvPr>
        </p:nvPicPr>
        <p:blipFill>
          <a:blip r:embed="rId10"/>
          <a:stretch>
            <a:fillRect/>
          </a:stretch>
        </p:blipFill>
        <p:spPr>
          <a:xfrm>
            <a:off x="4180840" y="3988435"/>
            <a:ext cx="3224530" cy="2423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875" y="321310"/>
            <a:ext cx="8386445" cy="1076325"/>
          </a:xfrm>
          <a:prstGeom prst="rect">
            <a:avLst/>
          </a:prstGeom>
          <a:noFill/>
        </p:spPr>
        <p:txBody>
          <a:bodyPr wrap="square" rtlCol="0">
            <a:spAutoFit/>
          </a:bodyPr>
          <a:lstStyle/>
          <a:p>
            <a:r>
              <a:rPr lang="zh-CN" altLang="en-US" sz="3200" dirty="0">
                <a:solidFill>
                  <a:schemeClr val="bg1"/>
                </a:solidFill>
                <a:cs typeface="+mn-ea"/>
                <a:sym typeface="+mn-lt"/>
              </a:rPr>
              <a:t>split() //把图片的不同通道进行拆分，放入不同的Mat</a:t>
            </a:r>
            <a:endParaRPr lang="zh-CN" altLang="en-US" sz="3200" dirty="0">
              <a:solidFill>
                <a:schemeClr val="bg1"/>
              </a:solidFill>
              <a:cs typeface="+mn-ea"/>
              <a:sym typeface="+mn-lt"/>
            </a:endParaRPr>
          </a:p>
        </p:txBody>
      </p:sp>
      <p:pic>
        <p:nvPicPr>
          <p:cNvPr id="5" name="图片 4"/>
          <p:cNvPicPr>
            <a:picLocks noChangeAspect="1"/>
          </p:cNvPicPr>
          <p:nvPr>
            <p:custDataLst>
              <p:tags r:id="rId3"/>
            </p:custDataLst>
          </p:nvPr>
        </p:nvPicPr>
        <p:blipFill>
          <a:blip r:embed="rId4"/>
          <a:stretch>
            <a:fillRect/>
          </a:stretch>
        </p:blipFill>
        <p:spPr>
          <a:xfrm>
            <a:off x="384175" y="1542415"/>
            <a:ext cx="7848600" cy="2031365"/>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384175" y="4056380"/>
            <a:ext cx="6430645" cy="1976120"/>
          </a:xfrm>
          <a:prstGeom prst="rect">
            <a:avLst/>
          </a:prstGeom>
        </p:spPr>
      </p:pic>
      <p:pic>
        <p:nvPicPr>
          <p:cNvPr id="3" name="图片 2"/>
          <p:cNvPicPr>
            <a:picLocks noChangeAspect="1"/>
          </p:cNvPicPr>
          <p:nvPr>
            <p:custDataLst>
              <p:tags r:id="rId7"/>
            </p:custDataLst>
          </p:nvPr>
        </p:nvPicPr>
        <p:blipFill>
          <a:blip r:embed="rId8"/>
          <a:stretch>
            <a:fillRect/>
          </a:stretch>
        </p:blipFill>
        <p:spPr>
          <a:xfrm>
            <a:off x="6871335" y="4411980"/>
            <a:ext cx="5085715" cy="13265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875" y="828675"/>
            <a:ext cx="10674350" cy="1076325"/>
          </a:xfrm>
          <a:prstGeom prst="rect">
            <a:avLst/>
          </a:prstGeom>
          <a:noFill/>
        </p:spPr>
        <p:txBody>
          <a:bodyPr wrap="square" rtlCol="0">
            <a:spAutoFit/>
          </a:bodyPr>
          <a:lstStyle/>
          <a:p>
            <a:r>
              <a:rPr lang="zh-CN" altLang="en-US" sz="3200" dirty="0">
                <a:solidFill>
                  <a:schemeClr val="bg1"/>
                </a:solidFill>
                <a:cs typeface="+mn-ea"/>
                <a:sym typeface="+mn-lt"/>
              </a:rPr>
              <a:t>threshold()//阈值操作，对一个特定的分量与阈值进行比较，大于阈值则全部设为某个值，小于阈值设为另一个值</a:t>
            </a:r>
            <a:endParaRPr lang="zh-CN" altLang="en-US" sz="3200" dirty="0">
              <a:solidFill>
                <a:schemeClr val="bg1"/>
              </a:solidFill>
              <a:cs typeface="+mn-ea"/>
              <a:sym typeface="+mn-lt"/>
            </a:endParaRPr>
          </a:p>
        </p:txBody>
      </p:sp>
      <p:pic>
        <p:nvPicPr>
          <p:cNvPr id="3" name="图片 2"/>
          <p:cNvPicPr>
            <a:picLocks noChangeAspect="1"/>
          </p:cNvPicPr>
          <p:nvPr>
            <p:custDataLst>
              <p:tags r:id="rId3"/>
            </p:custDataLst>
          </p:nvPr>
        </p:nvPicPr>
        <p:blipFill>
          <a:blip r:embed="rId4"/>
          <a:stretch>
            <a:fillRect/>
          </a:stretch>
        </p:blipFill>
        <p:spPr>
          <a:xfrm>
            <a:off x="654685" y="1905000"/>
            <a:ext cx="4548505" cy="2303780"/>
          </a:xfrm>
          <a:prstGeom prst="rect">
            <a:avLst/>
          </a:prstGeom>
        </p:spPr>
      </p:pic>
      <p:sp>
        <p:nvSpPr>
          <p:cNvPr id="8" name="文本框 7"/>
          <p:cNvSpPr txBox="1"/>
          <p:nvPr/>
        </p:nvSpPr>
        <p:spPr>
          <a:xfrm>
            <a:off x="5675630" y="1905000"/>
            <a:ext cx="6096000" cy="2261235"/>
          </a:xfrm>
          <a:prstGeom prst="rect">
            <a:avLst/>
          </a:prstGeom>
          <a:noFill/>
        </p:spPr>
        <p:txBody>
          <a:bodyPr wrap="square" rtlCol="0" anchor="t">
            <a:noAutofit/>
          </a:bodyPr>
          <a:p>
            <a:r>
              <a:rPr lang="zh-CN" altLang="en-US" sz="2400">
                <a:solidFill>
                  <a:schemeClr val="bg1"/>
                </a:solidFill>
              </a:rPr>
              <a:t>src：源图像，可以为8位的灰度图，也可以为32位的彩色图像。</a:t>
            </a:r>
            <a:endParaRPr lang="zh-CN" altLang="en-US" sz="2400">
              <a:solidFill>
                <a:schemeClr val="bg1"/>
              </a:solidFill>
            </a:endParaRPr>
          </a:p>
          <a:p>
            <a:r>
              <a:rPr lang="zh-CN" altLang="en-US" sz="2400">
                <a:solidFill>
                  <a:schemeClr val="bg1"/>
                </a:solidFill>
              </a:rPr>
              <a:t>dst：输出图像</a:t>
            </a:r>
            <a:endParaRPr lang="zh-CN" altLang="en-US" sz="2400">
              <a:solidFill>
                <a:schemeClr val="bg1"/>
              </a:solidFill>
            </a:endParaRPr>
          </a:p>
          <a:p>
            <a:r>
              <a:rPr lang="zh-CN" altLang="en-US" sz="2400">
                <a:solidFill>
                  <a:schemeClr val="bg1"/>
                </a:solidFill>
              </a:rPr>
              <a:t>thresh：阈值</a:t>
            </a:r>
            <a:endParaRPr lang="zh-CN" altLang="en-US" sz="2400">
              <a:solidFill>
                <a:schemeClr val="bg1"/>
              </a:solidFill>
            </a:endParaRPr>
          </a:p>
          <a:p>
            <a:r>
              <a:rPr lang="zh-CN" altLang="en-US" sz="2400">
                <a:solidFill>
                  <a:schemeClr val="bg1"/>
                </a:solidFill>
              </a:rPr>
              <a:t>maxval：dst图像中最大值</a:t>
            </a:r>
            <a:endParaRPr lang="zh-CN" altLang="en-US" sz="2400">
              <a:solidFill>
                <a:schemeClr val="bg1"/>
              </a:solidFill>
            </a:endParaRPr>
          </a:p>
          <a:p>
            <a:r>
              <a:rPr lang="zh-CN" altLang="en-US" sz="2400">
                <a:solidFill>
                  <a:schemeClr val="bg1"/>
                </a:solidFill>
              </a:rPr>
              <a:t>type：阈值类型</a:t>
            </a:r>
            <a:r>
              <a:rPr lang="en-US" altLang="zh-CN" sz="2400">
                <a:solidFill>
                  <a:schemeClr val="bg1"/>
                </a:solidFill>
              </a:rPr>
              <a:t>(</a:t>
            </a:r>
            <a:r>
              <a:rPr lang="zh-CN" altLang="en-US" sz="2400">
                <a:solidFill>
                  <a:schemeClr val="bg1"/>
                </a:solidFill>
              </a:rPr>
              <a:t>二值化，反二值化，取零</a:t>
            </a:r>
            <a:r>
              <a:rPr lang="en-US" altLang="zh-CN" sz="2400">
                <a:solidFill>
                  <a:schemeClr val="bg1"/>
                </a:solidFill>
              </a:rPr>
              <a:t>...)</a:t>
            </a:r>
            <a:endParaRPr lang="en-US" altLang="zh-CN" sz="2400">
              <a:solidFill>
                <a:schemeClr val="bg1"/>
              </a:solidFill>
            </a:endParaRPr>
          </a:p>
        </p:txBody>
      </p:sp>
      <p:pic>
        <p:nvPicPr>
          <p:cNvPr id="10" name="图片 9" descr="二值化"/>
          <p:cNvPicPr>
            <a:picLocks noChangeAspect="1"/>
          </p:cNvPicPr>
          <p:nvPr/>
        </p:nvPicPr>
        <p:blipFill>
          <a:blip r:embed="rId5"/>
          <a:stretch>
            <a:fillRect/>
          </a:stretch>
        </p:blipFill>
        <p:spPr>
          <a:xfrm>
            <a:off x="4580255" y="4390390"/>
            <a:ext cx="1776095" cy="2286635"/>
          </a:xfrm>
          <a:prstGeom prst="rect">
            <a:avLst/>
          </a:prstGeom>
        </p:spPr>
      </p:pic>
      <p:pic>
        <p:nvPicPr>
          <p:cNvPr id="12" name="图片 11" descr="灰度图"/>
          <p:cNvPicPr>
            <a:picLocks noChangeAspect="1"/>
          </p:cNvPicPr>
          <p:nvPr/>
        </p:nvPicPr>
        <p:blipFill>
          <a:blip r:embed="rId6"/>
          <a:stretch>
            <a:fillRect/>
          </a:stretch>
        </p:blipFill>
        <p:spPr>
          <a:xfrm>
            <a:off x="1104265" y="4381500"/>
            <a:ext cx="1845310" cy="2295525"/>
          </a:xfrm>
          <a:prstGeom prst="rect">
            <a:avLst/>
          </a:prstGeom>
        </p:spPr>
      </p:pic>
      <p:pic>
        <p:nvPicPr>
          <p:cNvPr id="16" name="图片 15"/>
          <p:cNvPicPr>
            <a:picLocks noChangeAspect="1"/>
          </p:cNvPicPr>
          <p:nvPr>
            <p:custDataLst>
              <p:tags r:id="rId7"/>
            </p:custDataLst>
          </p:nvPr>
        </p:nvPicPr>
        <p:blipFill>
          <a:blip r:embed="rId8"/>
          <a:stretch>
            <a:fillRect/>
          </a:stretch>
        </p:blipFill>
        <p:spPr>
          <a:xfrm>
            <a:off x="8088630" y="4381500"/>
            <a:ext cx="1757680" cy="22955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3" name="文本占位符 2"/>
          <p:cNvSpPr>
            <a:spLocks noGrp="1"/>
          </p:cNvSpPr>
          <p:nvPr>
            <p:ph type="body" sz="quarter" idx="10"/>
            <p:custDataLst>
              <p:tags r:id="rId3"/>
            </p:custDataLst>
          </p:nvPr>
        </p:nvSpPr>
        <p:spPr>
          <a:xfrm>
            <a:off x="3850103" y="463467"/>
            <a:ext cx="4725726" cy="1446550"/>
          </a:xfrm>
        </p:spPr>
        <p:txBody>
          <a:bodyPr/>
          <a:p>
            <a:r>
              <a:rPr lang="zh-CN" altLang="en-US" dirty="0">
                <a:solidFill>
                  <a:schemeClr val="bg1"/>
                </a:solidFill>
              </a:rPr>
              <a:t>图像的平滑处理</a:t>
            </a:r>
            <a:endParaRPr lang="zh-CN" altLang="en-US" dirty="0">
              <a:solidFill>
                <a:schemeClr val="bg1"/>
              </a:solidFill>
            </a:endParaRPr>
          </a:p>
        </p:txBody>
      </p:sp>
      <p:sp>
        <p:nvSpPr>
          <p:cNvPr id="4" name="文本框 3"/>
          <p:cNvSpPr txBox="1"/>
          <p:nvPr>
            <p:custDataLst>
              <p:tags r:id="rId4"/>
            </p:custDataLst>
          </p:nvPr>
        </p:nvSpPr>
        <p:spPr>
          <a:xfrm>
            <a:off x="157116" y="908047"/>
            <a:ext cx="11438878" cy="800219"/>
          </a:xfrm>
          <a:prstGeom prst="rect">
            <a:avLst/>
          </a:prstGeom>
          <a:noFill/>
        </p:spPr>
        <p:txBody>
          <a:bodyPr wrap="square">
            <a:spAutoFit/>
          </a:bodyPr>
          <a:p>
            <a:r>
              <a:rPr lang="zh-CN" altLang="en-US" sz="2800" b="1" i="0" dirty="0">
                <a:solidFill>
                  <a:schemeClr val="bg1"/>
                </a:solidFill>
                <a:effectLst>
                  <a:outerShdw blurRad="38100" dist="38100" dir="2700000" algn="tl">
                    <a:srgbClr val="000000">
                      <a:alpha val="43137"/>
                    </a:srgbClr>
                  </a:outerShdw>
                </a:effectLst>
                <a:latin typeface="Helvetica Neue"/>
              </a:rPr>
              <a:t>图像滤波</a:t>
            </a:r>
            <a:r>
              <a:rPr lang="zh-CN" altLang="en-US" b="0" i="0" dirty="0">
                <a:solidFill>
                  <a:schemeClr val="bg1"/>
                </a:solidFill>
                <a:effectLst/>
                <a:latin typeface="Helvetica Neue"/>
              </a:rPr>
              <a:t>，即在尽量保留图像细节特征的条件下对目标图像的噪声进行抑制，是图像预处理中不可缺少的操作，其处理效果的好坏将直接影响到后续图像处理和分析的有效性和可靠性。</a:t>
            </a:r>
            <a:endParaRPr lang="zh-CN" altLang="en-US" b="0" i="0" dirty="0">
              <a:solidFill>
                <a:schemeClr val="bg1"/>
              </a:solidFill>
              <a:effectLst/>
              <a:latin typeface="Helvetica Neue"/>
            </a:endParaRPr>
          </a:p>
        </p:txBody>
      </p:sp>
      <p:pic>
        <p:nvPicPr>
          <p:cNvPr id="5" name="图片 4"/>
          <p:cNvPicPr>
            <a:picLocks noChangeAspect="1"/>
          </p:cNvPicPr>
          <p:nvPr>
            <p:custDataLst>
              <p:tags r:id="rId5"/>
            </p:custDataLst>
          </p:nvPr>
        </p:nvPicPr>
        <p:blipFill>
          <a:blip r:embed="rId6"/>
          <a:stretch>
            <a:fillRect/>
          </a:stretch>
        </p:blipFill>
        <p:spPr>
          <a:xfrm>
            <a:off x="256540" y="1764030"/>
            <a:ext cx="4042410" cy="1566545"/>
          </a:xfrm>
          <a:prstGeom prst="rect">
            <a:avLst/>
          </a:prstGeom>
        </p:spPr>
      </p:pic>
      <p:pic>
        <p:nvPicPr>
          <p:cNvPr id="8" name="图片 7"/>
          <p:cNvPicPr>
            <a:picLocks noChangeAspect="1"/>
          </p:cNvPicPr>
          <p:nvPr>
            <p:custDataLst>
              <p:tags r:id="rId7"/>
            </p:custDataLst>
          </p:nvPr>
        </p:nvPicPr>
        <p:blipFill>
          <a:blip r:embed="rId8"/>
          <a:stretch>
            <a:fillRect/>
          </a:stretch>
        </p:blipFill>
        <p:spPr>
          <a:xfrm>
            <a:off x="4448175" y="1723390"/>
            <a:ext cx="6975475" cy="4746625"/>
          </a:xfrm>
          <a:prstGeom prst="rect">
            <a:avLst/>
          </a:prstGeom>
        </p:spPr>
      </p:pic>
      <p:sp>
        <p:nvSpPr>
          <p:cNvPr id="11" name="文本框 10"/>
          <p:cNvSpPr txBox="1"/>
          <p:nvPr/>
        </p:nvSpPr>
        <p:spPr>
          <a:xfrm>
            <a:off x="256540" y="4026535"/>
            <a:ext cx="3968750" cy="2174875"/>
          </a:xfrm>
          <a:prstGeom prst="rect">
            <a:avLst/>
          </a:prstGeom>
          <a:noFill/>
        </p:spPr>
        <p:txBody>
          <a:bodyPr wrap="square" rtlCol="0">
            <a:noAutofit/>
          </a:bodyPr>
          <a:p>
            <a:r>
              <a:rPr lang="zh-CN" altLang="en-US" dirty="0">
                <a:solidFill>
                  <a:schemeClr val="bg1"/>
                </a:solidFill>
                <a:effectLst/>
                <a:latin typeface="Helvetica Neue"/>
                <a:sym typeface="+mn-ea"/>
              </a:rPr>
              <a:t>要构造一种有效抑制噪声的滤波器必须考虑两个基本问题：能有效地去除目标和背景中的噪声</a:t>
            </a:r>
            <a:r>
              <a:rPr lang="en-US" altLang="zh-CN" dirty="0">
                <a:solidFill>
                  <a:schemeClr val="bg1"/>
                </a:solidFill>
                <a:effectLst/>
                <a:latin typeface="Helvetica Neue"/>
                <a:sym typeface="+mn-ea"/>
              </a:rPr>
              <a:t>;</a:t>
            </a:r>
            <a:r>
              <a:rPr lang="zh-CN" altLang="en-US" dirty="0">
                <a:solidFill>
                  <a:schemeClr val="bg1"/>
                </a:solidFill>
                <a:effectLst/>
                <a:latin typeface="Helvetica Neue"/>
                <a:sym typeface="+mn-ea"/>
              </a:rPr>
              <a:t>同时，能很好地保护图像目标的形状、大小及特定的几何和拓扑结构特征</a:t>
            </a:r>
            <a:r>
              <a:rPr lang="zh-CN" altLang="en-US" baseline="30000" dirty="0">
                <a:solidFill>
                  <a:schemeClr val="bg1"/>
                </a:solidFill>
                <a:effectLst/>
                <a:latin typeface="Helvetica Neue"/>
                <a:sym typeface="+mn-ea"/>
              </a:rPr>
              <a:t> </a:t>
            </a:r>
            <a:r>
              <a:rPr lang="zh-CN" altLang="en-US" dirty="0">
                <a:solidFill>
                  <a:schemeClr val="bg1"/>
                </a:solidFill>
                <a:effectLst/>
                <a:latin typeface="Helvetica Neue"/>
                <a:sym typeface="+mn-ea"/>
              </a:rPr>
              <a:t>。</a:t>
            </a:r>
            <a:endParaRPr lang="zh-CN" altLang="en-US" dirty="0">
              <a:solidFill>
                <a:schemeClr val="bg1"/>
              </a:solidFill>
              <a:effectLst/>
              <a:latin typeface="Helvetica Neue"/>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占位符 1"/>
          <p:cNvSpPr>
            <a:spLocks noGrp="1"/>
          </p:cNvSpPr>
          <p:nvPr>
            <p:ph type="body" sz="quarter" idx="10"/>
            <p:custDataLst>
              <p:tags r:id="rId3"/>
            </p:custDataLst>
          </p:nvPr>
        </p:nvSpPr>
        <p:spPr>
          <a:xfrm>
            <a:off x="4045058" y="130551"/>
            <a:ext cx="4012399" cy="1446550"/>
          </a:xfrm>
        </p:spPr>
        <p:txBody>
          <a:bodyPr/>
          <a:p>
            <a:r>
              <a:rPr lang="zh-CN" altLang="en-US" dirty="0">
                <a:solidFill>
                  <a:schemeClr val="bg1"/>
                </a:solidFill>
              </a:rPr>
              <a:t>归一化滤波器</a:t>
            </a:r>
            <a:endParaRPr lang="zh-CN" altLang="en-US" dirty="0">
              <a:solidFill>
                <a:schemeClr val="bg1"/>
              </a:solidFill>
            </a:endParaRPr>
          </a:p>
        </p:txBody>
      </p:sp>
      <p:pic>
        <p:nvPicPr>
          <p:cNvPr id="5" name="图片 4"/>
          <p:cNvPicPr>
            <a:picLocks noChangeAspect="1"/>
          </p:cNvPicPr>
          <p:nvPr>
            <p:custDataLst>
              <p:tags r:id="rId4"/>
            </p:custDataLst>
          </p:nvPr>
        </p:nvPicPr>
        <p:blipFill>
          <a:blip r:embed="rId5"/>
          <a:stretch>
            <a:fillRect/>
          </a:stretch>
        </p:blipFill>
        <p:spPr>
          <a:xfrm>
            <a:off x="388166" y="1577101"/>
            <a:ext cx="7917866" cy="2088061"/>
          </a:xfrm>
          <a:prstGeom prst="rect">
            <a:avLst/>
          </a:prstGeom>
        </p:spPr>
      </p:pic>
      <p:sp>
        <p:nvSpPr>
          <p:cNvPr id="8" name="文本框 7"/>
          <p:cNvSpPr txBox="1"/>
          <p:nvPr>
            <p:custDataLst>
              <p:tags r:id="rId6"/>
            </p:custDataLst>
          </p:nvPr>
        </p:nvSpPr>
        <p:spPr>
          <a:xfrm>
            <a:off x="501588" y="5045138"/>
            <a:ext cx="6507332" cy="1477328"/>
          </a:xfrm>
          <a:prstGeom prst="rect">
            <a:avLst/>
          </a:prstGeom>
          <a:noFill/>
        </p:spPr>
        <p:txBody>
          <a:bodyPr wrap="square">
            <a:spAutoFit/>
          </a:bodyPr>
          <a:p>
            <a:pPr algn="just">
              <a:buFont typeface="Arial" panose="020B0604020202020204" pitchFamily="34" charset="0"/>
              <a:buChar char="•"/>
            </a:pPr>
            <a:r>
              <a:rPr lang="en-US" altLang="zh-CN" b="0" i="1" dirty="0" err="1">
                <a:solidFill>
                  <a:schemeClr val="bg1"/>
                </a:solidFill>
                <a:effectLst/>
                <a:latin typeface="Arial" panose="020B0604020202020204" pitchFamily="34" charset="0"/>
              </a:rPr>
              <a:t>src</a:t>
            </a:r>
            <a:r>
              <a:rPr lang="en-US" altLang="zh-CN" b="0" i="0" dirty="0">
                <a:solidFill>
                  <a:schemeClr val="bg1"/>
                </a:solidFill>
                <a:effectLst/>
                <a:latin typeface="Arial" panose="020B0604020202020204" pitchFamily="34" charset="0"/>
              </a:rPr>
              <a:t>: </a:t>
            </a:r>
            <a:r>
              <a:rPr lang="zh-CN" altLang="en-US" b="0" i="0" dirty="0">
                <a:solidFill>
                  <a:schemeClr val="bg1"/>
                </a:solidFill>
                <a:effectLst/>
                <a:latin typeface="Arial" panose="020B0604020202020204" pitchFamily="34" charset="0"/>
              </a:rPr>
              <a:t>输入图像</a:t>
            </a:r>
            <a:endParaRPr lang="zh-CN" altLang="en-US" b="0" i="0" dirty="0">
              <a:solidFill>
                <a:schemeClr val="bg1"/>
              </a:solidFill>
              <a:effectLst/>
              <a:latin typeface="Arial" panose="020B0604020202020204" pitchFamily="34" charset="0"/>
            </a:endParaRPr>
          </a:p>
          <a:p>
            <a:pPr algn="just">
              <a:buFont typeface="Arial" panose="020B0604020202020204" pitchFamily="34" charset="0"/>
              <a:buChar char="•"/>
            </a:pPr>
            <a:r>
              <a:rPr lang="en-US" altLang="zh-CN" b="0" i="1" dirty="0" err="1">
                <a:solidFill>
                  <a:schemeClr val="bg1"/>
                </a:solidFill>
                <a:effectLst/>
                <a:latin typeface="Arial" panose="020B0604020202020204" pitchFamily="34" charset="0"/>
              </a:rPr>
              <a:t>dst</a:t>
            </a:r>
            <a:r>
              <a:rPr lang="en-US" altLang="zh-CN" b="0" i="0" dirty="0">
                <a:solidFill>
                  <a:schemeClr val="bg1"/>
                </a:solidFill>
                <a:effectLst/>
                <a:latin typeface="Arial" panose="020B0604020202020204" pitchFamily="34" charset="0"/>
              </a:rPr>
              <a:t>: </a:t>
            </a:r>
            <a:r>
              <a:rPr lang="zh-CN" altLang="en-US" b="0" i="0" dirty="0">
                <a:solidFill>
                  <a:schemeClr val="bg1"/>
                </a:solidFill>
                <a:effectLst/>
                <a:latin typeface="Arial" panose="020B0604020202020204" pitchFamily="34" charset="0"/>
              </a:rPr>
              <a:t>输出图像</a:t>
            </a:r>
            <a:endParaRPr lang="zh-CN" altLang="en-US" b="0" i="0" dirty="0">
              <a:solidFill>
                <a:schemeClr val="bg1"/>
              </a:solidFill>
              <a:effectLst/>
              <a:latin typeface="Arial" panose="020B0604020202020204" pitchFamily="34" charset="0"/>
            </a:endParaRPr>
          </a:p>
          <a:p>
            <a:pPr algn="just">
              <a:buFont typeface="Arial" panose="020B0604020202020204" pitchFamily="34" charset="0"/>
              <a:buChar char="•"/>
            </a:pPr>
            <a:r>
              <a:rPr lang="en-US" altLang="zh-CN" b="0" i="1" dirty="0">
                <a:solidFill>
                  <a:schemeClr val="bg1"/>
                </a:solidFill>
                <a:effectLst/>
                <a:latin typeface="Arial" panose="020B0604020202020204" pitchFamily="34" charset="0"/>
              </a:rPr>
              <a:t>Size( </a:t>
            </a:r>
            <a:r>
              <a:rPr lang="en-US" altLang="zh-CN" b="0" i="1" dirty="0" err="1">
                <a:solidFill>
                  <a:schemeClr val="bg1"/>
                </a:solidFill>
                <a:effectLst/>
                <a:latin typeface="Arial" panose="020B0604020202020204" pitchFamily="34" charset="0"/>
              </a:rPr>
              <a:t>w,h</a:t>
            </a:r>
            <a:r>
              <a:rPr lang="en-US" altLang="zh-CN" b="0" i="1" dirty="0">
                <a:solidFill>
                  <a:schemeClr val="bg1"/>
                </a:solidFill>
                <a:effectLst/>
                <a:latin typeface="Arial" panose="020B0604020202020204" pitchFamily="34" charset="0"/>
              </a:rPr>
              <a:t> )</a:t>
            </a:r>
            <a:r>
              <a:rPr lang="en-US" altLang="zh-CN" b="0" i="0" dirty="0">
                <a:solidFill>
                  <a:schemeClr val="bg1"/>
                </a:solidFill>
                <a:effectLst/>
                <a:latin typeface="Arial" panose="020B0604020202020204" pitchFamily="34" charset="0"/>
              </a:rPr>
              <a:t>: </a:t>
            </a:r>
            <a:r>
              <a:rPr lang="zh-CN" altLang="en-US" b="0" i="0" dirty="0">
                <a:solidFill>
                  <a:schemeClr val="bg1"/>
                </a:solidFill>
                <a:effectLst/>
                <a:latin typeface="Arial" panose="020B0604020202020204" pitchFamily="34" charset="0"/>
              </a:rPr>
              <a:t>定义内核大小</a:t>
            </a:r>
            <a:r>
              <a:rPr lang="en-US" altLang="zh-CN" b="0" i="0" dirty="0">
                <a:solidFill>
                  <a:schemeClr val="bg1"/>
                </a:solidFill>
                <a:effectLst/>
                <a:latin typeface="Arial" panose="020B0604020202020204" pitchFamily="34" charset="0"/>
              </a:rPr>
              <a:t>( </a:t>
            </a:r>
            <a:r>
              <a:rPr lang="en-US" altLang="zh-CN" b="0" i="1" dirty="0">
                <a:solidFill>
                  <a:schemeClr val="bg1"/>
                </a:solidFill>
                <a:effectLst/>
                <a:latin typeface="Arial" panose="020B0604020202020204" pitchFamily="34" charset="0"/>
              </a:rPr>
              <a:t>w</a:t>
            </a:r>
            <a:r>
              <a:rPr lang="zh-CN" altLang="en-US" b="0" i="0" dirty="0">
                <a:solidFill>
                  <a:schemeClr val="bg1"/>
                </a:solidFill>
                <a:effectLst/>
                <a:latin typeface="Arial" panose="020B0604020202020204" pitchFamily="34" charset="0"/>
              </a:rPr>
              <a:t> 像素宽度， </a:t>
            </a:r>
            <a:r>
              <a:rPr lang="en-US" altLang="zh-CN" b="0" i="1" dirty="0">
                <a:solidFill>
                  <a:schemeClr val="bg1"/>
                </a:solidFill>
                <a:effectLst/>
                <a:latin typeface="Arial" panose="020B0604020202020204" pitchFamily="34" charset="0"/>
              </a:rPr>
              <a:t>h</a:t>
            </a:r>
            <a:r>
              <a:rPr lang="zh-CN" altLang="en-US" b="0" i="0" dirty="0">
                <a:solidFill>
                  <a:schemeClr val="bg1"/>
                </a:solidFill>
                <a:effectLst/>
                <a:latin typeface="Arial" panose="020B0604020202020204" pitchFamily="34" charset="0"/>
              </a:rPr>
              <a:t> 像素高度</a:t>
            </a:r>
            <a:r>
              <a:rPr lang="en-US" altLang="zh-CN" b="0" i="0" dirty="0">
                <a:solidFill>
                  <a:schemeClr val="bg1"/>
                </a:solidFill>
                <a:effectLst/>
                <a:latin typeface="Arial" panose="020B0604020202020204" pitchFamily="34" charset="0"/>
              </a:rPr>
              <a:t>)</a:t>
            </a:r>
            <a:endParaRPr lang="en-US" altLang="zh-CN" b="0" i="0" dirty="0">
              <a:solidFill>
                <a:schemeClr val="bg1"/>
              </a:solidFill>
              <a:effectLst/>
              <a:latin typeface="Arial" panose="020B0604020202020204" pitchFamily="34" charset="0"/>
            </a:endParaRPr>
          </a:p>
          <a:p>
            <a:pPr algn="just">
              <a:buFont typeface="Arial" panose="020B0604020202020204" pitchFamily="34" charset="0"/>
              <a:buChar char="•"/>
            </a:pPr>
            <a:r>
              <a:rPr lang="en-US" altLang="zh-CN" b="0" i="1" dirty="0">
                <a:solidFill>
                  <a:schemeClr val="bg1"/>
                </a:solidFill>
                <a:effectLst/>
                <a:latin typeface="Arial" panose="020B0604020202020204" pitchFamily="34" charset="0"/>
              </a:rPr>
              <a:t>Point(-1, -1)</a:t>
            </a:r>
            <a:r>
              <a:rPr lang="en-US" altLang="zh-CN" b="0" i="0" dirty="0">
                <a:solidFill>
                  <a:schemeClr val="bg1"/>
                </a:solidFill>
                <a:effectLst/>
                <a:latin typeface="Arial" panose="020B0604020202020204" pitchFamily="34" charset="0"/>
              </a:rPr>
              <a:t>: </a:t>
            </a:r>
            <a:r>
              <a:rPr lang="zh-CN" altLang="en-US" b="0" i="0" dirty="0">
                <a:solidFill>
                  <a:schemeClr val="bg1"/>
                </a:solidFill>
                <a:effectLst/>
                <a:latin typeface="Arial" panose="020B0604020202020204" pitchFamily="34" charset="0"/>
              </a:rPr>
              <a:t>指定锚点位置</a:t>
            </a:r>
            <a:r>
              <a:rPr lang="en-US" altLang="zh-CN" b="0" i="0" dirty="0">
                <a:solidFill>
                  <a:schemeClr val="bg1"/>
                </a:solidFill>
                <a:effectLst/>
                <a:latin typeface="Arial" panose="020B0604020202020204" pitchFamily="34" charset="0"/>
              </a:rPr>
              <a:t>(</a:t>
            </a:r>
            <a:r>
              <a:rPr lang="zh-CN" altLang="en-US" b="0" i="0" dirty="0">
                <a:solidFill>
                  <a:schemeClr val="bg1"/>
                </a:solidFill>
                <a:effectLst/>
                <a:latin typeface="Arial" panose="020B0604020202020204" pitchFamily="34" charset="0"/>
              </a:rPr>
              <a:t>被平滑点</a:t>
            </a:r>
            <a:r>
              <a:rPr lang="en-US" altLang="zh-CN" b="0" i="0" dirty="0">
                <a:solidFill>
                  <a:schemeClr val="bg1"/>
                </a:solidFill>
                <a:effectLst/>
                <a:latin typeface="Arial" panose="020B0604020202020204" pitchFamily="34" charset="0"/>
              </a:rPr>
              <a:t>)</a:t>
            </a:r>
            <a:r>
              <a:rPr lang="zh-CN" altLang="en-US" b="0" i="0" dirty="0">
                <a:solidFill>
                  <a:schemeClr val="bg1"/>
                </a:solidFill>
                <a:effectLst/>
                <a:latin typeface="Arial" panose="020B0604020202020204" pitchFamily="34" charset="0"/>
              </a:rPr>
              <a:t>， 如果是负值，取核的中心为锚点。</a:t>
            </a:r>
            <a:endParaRPr lang="zh-CN" altLang="en-US" b="0" i="0" dirty="0">
              <a:solidFill>
                <a:schemeClr val="bg1"/>
              </a:solidFill>
              <a:effectLst/>
              <a:latin typeface="Arial" panose="020B0604020202020204" pitchFamily="34" charset="0"/>
            </a:endParaRPr>
          </a:p>
        </p:txBody>
      </p:sp>
      <p:pic>
        <p:nvPicPr>
          <p:cNvPr id="3" name="图片 2"/>
          <p:cNvPicPr>
            <a:picLocks noChangeAspect="1"/>
          </p:cNvPicPr>
          <p:nvPr>
            <p:custDataLst>
              <p:tags r:id="rId7"/>
            </p:custDataLst>
          </p:nvPr>
        </p:nvPicPr>
        <p:blipFill>
          <a:blip r:embed="rId8"/>
          <a:stretch>
            <a:fillRect/>
          </a:stretch>
        </p:blipFill>
        <p:spPr>
          <a:xfrm>
            <a:off x="388166" y="3854695"/>
            <a:ext cx="8934478" cy="1001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占位符 1"/>
          <p:cNvSpPr>
            <a:spLocks noGrp="1"/>
          </p:cNvSpPr>
          <p:nvPr>
            <p:ph type="body" sz="quarter" idx="10"/>
            <p:custDataLst>
              <p:tags r:id="rId3"/>
            </p:custDataLst>
          </p:nvPr>
        </p:nvSpPr>
        <p:spPr>
          <a:xfrm>
            <a:off x="4169700" y="111104"/>
            <a:ext cx="3852600" cy="1446550"/>
          </a:xfrm>
        </p:spPr>
        <p:txBody>
          <a:bodyPr/>
          <a:p>
            <a:r>
              <a:rPr lang="zh-CN" altLang="en-US" dirty="0">
                <a:solidFill>
                  <a:schemeClr val="bg1"/>
                </a:solidFill>
              </a:rPr>
              <a:t>高斯滤波器</a:t>
            </a:r>
            <a:endParaRPr lang="zh-CN" altLang="en-US" dirty="0">
              <a:solidFill>
                <a:schemeClr val="bg1"/>
              </a:solidFill>
            </a:endParaRPr>
          </a:p>
        </p:txBody>
      </p:sp>
      <p:pic>
        <p:nvPicPr>
          <p:cNvPr id="5" name="图片 4"/>
          <p:cNvPicPr>
            <a:picLocks noChangeAspect="1"/>
          </p:cNvPicPr>
          <p:nvPr>
            <p:custDataLst>
              <p:tags r:id="rId4"/>
            </p:custDataLst>
          </p:nvPr>
        </p:nvPicPr>
        <p:blipFill>
          <a:blip r:embed="rId5"/>
          <a:stretch>
            <a:fillRect/>
          </a:stretch>
        </p:blipFill>
        <p:spPr>
          <a:xfrm>
            <a:off x="257199" y="1189547"/>
            <a:ext cx="10097375" cy="3093988"/>
          </a:xfrm>
          <a:prstGeom prst="rect">
            <a:avLst/>
          </a:prstGeom>
        </p:spPr>
      </p:pic>
      <p:pic>
        <p:nvPicPr>
          <p:cNvPr id="3" name="图片 2"/>
          <p:cNvPicPr>
            <a:picLocks noChangeAspect="1"/>
          </p:cNvPicPr>
          <p:nvPr>
            <p:custDataLst>
              <p:tags r:id="rId6"/>
            </p:custDataLst>
          </p:nvPr>
        </p:nvPicPr>
        <p:blipFill>
          <a:blip r:embed="rId7"/>
          <a:stretch>
            <a:fillRect/>
          </a:stretch>
        </p:blipFill>
        <p:spPr>
          <a:xfrm>
            <a:off x="257199" y="4283535"/>
            <a:ext cx="9415084" cy="1010345"/>
          </a:xfrm>
          <a:prstGeom prst="rect">
            <a:avLst/>
          </a:prstGeom>
        </p:spPr>
      </p:pic>
      <p:pic>
        <p:nvPicPr>
          <p:cNvPr id="4" name="图片 3"/>
          <p:cNvPicPr>
            <a:picLocks noChangeAspect="1"/>
          </p:cNvPicPr>
          <p:nvPr>
            <p:custDataLst>
              <p:tags r:id="rId8"/>
            </p:custDataLst>
          </p:nvPr>
        </p:nvPicPr>
        <p:blipFill>
          <a:blip r:embed="rId9"/>
          <a:stretch>
            <a:fillRect/>
          </a:stretch>
        </p:blipFill>
        <p:spPr>
          <a:xfrm>
            <a:off x="257199" y="5361978"/>
            <a:ext cx="9559173" cy="136938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10" name="图片 9"/>
          <p:cNvPicPr>
            <a:picLocks noChangeAspect="1"/>
          </p:cNvPicPr>
          <p:nvPr>
            <p:custDataLst>
              <p:tags r:id="rId3"/>
            </p:custDataLst>
          </p:nvPr>
        </p:nvPicPr>
        <p:blipFill>
          <a:blip r:embed="rId4"/>
          <a:stretch>
            <a:fillRect/>
          </a:stretch>
        </p:blipFill>
        <p:spPr>
          <a:xfrm>
            <a:off x="5962088" y="3443477"/>
            <a:ext cx="4458086" cy="2972058"/>
          </a:xfrm>
          <a:prstGeom prst="rect">
            <a:avLst/>
          </a:prstGeom>
        </p:spPr>
      </p:pic>
      <p:sp>
        <p:nvSpPr>
          <p:cNvPr id="3" name="文本占位符 1"/>
          <p:cNvSpPr>
            <a:spLocks noGrp="1"/>
          </p:cNvSpPr>
          <p:nvPr>
            <p:custDataLst>
              <p:tags r:id="rId5"/>
            </p:custDataLst>
          </p:nvPr>
        </p:nvSpPr>
        <p:spPr>
          <a:xfrm>
            <a:off x="3071982" y="459081"/>
            <a:ext cx="6453758" cy="768350"/>
          </a:xfrm>
          <a:prstGeom prst="rect">
            <a:avLst/>
          </a:prstGeom>
        </p:spPr>
        <p:txBody>
          <a:bodyPr vert="horz" lIns="91440" tIns="45720" rIns="91440" bIns="45720" rtlCol="0" anchor="ctr">
            <a:spAutoFit/>
          </a:bodyPr>
          <a:lstStyle>
            <a:lvl1pPr marL="0" marR="0" indent="0" algn="ctr" defTabSz="457200" rtl="0" eaLnBrk="1" fontAlgn="auto" latinLnBrk="0" hangingPunct="1">
              <a:lnSpc>
                <a:spcPct val="100000"/>
              </a:lnSpc>
              <a:spcBef>
                <a:spcPts val="0"/>
              </a:spcBef>
              <a:spcAft>
                <a:spcPts val="0"/>
              </a:spcAft>
              <a:buClrTx/>
              <a:buSzTx/>
              <a:buFontTx/>
              <a:buNone/>
              <a:defRPr lang="zh-CN" altLang="en-US" sz="4400" kern="1200" cap="small" spc="600" noProof="0">
                <a:ln>
                  <a:gradFill>
                    <a:gsLst>
                      <a:gs pos="0">
                        <a:schemeClr val="tx1"/>
                      </a:gs>
                      <a:gs pos="100000">
                        <a:schemeClr val="accent1">
                          <a:lumMod val="30000"/>
                          <a:lumOff val="7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6240000" sx="103000" sy="103000" algn="t" rotWithShape="0">
                    <a:prstClr val="black">
                      <a:alpha val="50000"/>
                    </a:prstClr>
                  </a:outerShdw>
                </a:effectLst>
                <a:latin typeface="PangMenZhengDao" panose="02010600030101010101" pitchFamily="2" charset="-122"/>
                <a:ea typeface="PangMenZhengDao" panose="02010600030101010101" pitchFamily="2" charset="-122"/>
                <a:cs typeface="+mn-cs"/>
              </a:defRPr>
            </a:lvl1pPr>
            <a:lvl2pPr marL="742950" indent="-285750" algn="l" defTabSz="457200" rtl="0" eaLnBrk="1" latinLnBrk="0" hangingPunct="1">
              <a:spcBef>
                <a:spcPct val="20000"/>
              </a:spcBef>
              <a:spcAft>
                <a:spcPts val="600"/>
              </a:spcAft>
              <a:buClr>
                <a:schemeClr val="tx1"/>
              </a:buClr>
              <a:buSzPct val="100000"/>
              <a:buFont typeface="Arial" panose="020B0604020202020204"/>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panose="020B0604020202020204"/>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zh-CN" altLang="en-US" dirty="0">
                <a:solidFill>
                  <a:schemeClr val="bg1"/>
                </a:solidFill>
                <a:latin typeface="宋体" pitchFamily="2" charset="-122"/>
                <a:ea typeface="宋体" pitchFamily="2" charset="-122"/>
              </a:rPr>
              <a:t>中值滤波与双边滤波</a:t>
            </a:r>
            <a:endParaRPr lang="zh-CN" altLang="en-US" dirty="0">
              <a:solidFill>
                <a:schemeClr val="bg1"/>
              </a:solidFill>
              <a:latin typeface="宋体" pitchFamily="2" charset="-122"/>
              <a:ea typeface="宋体" pitchFamily="2" charset="-122"/>
            </a:endParaRPr>
          </a:p>
        </p:txBody>
      </p:sp>
      <p:pic>
        <p:nvPicPr>
          <p:cNvPr id="5" name="图片 4"/>
          <p:cNvPicPr>
            <a:picLocks noChangeAspect="1"/>
          </p:cNvPicPr>
          <p:nvPr>
            <p:custDataLst>
              <p:tags r:id="rId6"/>
            </p:custDataLst>
          </p:nvPr>
        </p:nvPicPr>
        <p:blipFill>
          <a:blip r:embed="rId7"/>
          <a:stretch>
            <a:fillRect/>
          </a:stretch>
        </p:blipFill>
        <p:spPr>
          <a:xfrm>
            <a:off x="0" y="1281933"/>
            <a:ext cx="12192000" cy="2147067"/>
          </a:xfrm>
          <a:prstGeom prst="rect">
            <a:avLst/>
          </a:prstGeom>
        </p:spPr>
      </p:pic>
      <p:pic>
        <p:nvPicPr>
          <p:cNvPr id="6" name="图片 5"/>
          <p:cNvPicPr>
            <a:picLocks noChangeAspect="1"/>
          </p:cNvPicPr>
          <p:nvPr>
            <p:custDataLst>
              <p:tags r:id="rId8"/>
            </p:custDataLst>
          </p:nvPr>
        </p:nvPicPr>
        <p:blipFill>
          <a:blip r:embed="rId9"/>
          <a:stretch>
            <a:fillRect/>
          </a:stretch>
        </p:blipFill>
        <p:spPr>
          <a:xfrm>
            <a:off x="0" y="3691148"/>
            <a:ext cx="5235394" cy="24767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3" name="文本占位符 2"/>
          <p:cNvSpPr>
            <a:spLocks noGrp="1"/>
          </p:cNvSpPr>
          <p:nvPr>
            <p:ph type="body" sz="quarter" idx="10"/>
            <p:custDataLst>
              <p:tags r:id="rId3"/>
            </p:custDataLst>
          </p:nvPr>
        </p:nvSpPr>
        <p:spPr>
          <a:xfrm>
            <a:off x="4396018" y="716506"/>
            <a:ext cx="4474037" cy="1446550"/>
          </a:xfrm>
        </p:spPr>
        <p:txBody>
          <a:bodyPr/>
          <a:p>
            <a:r>
              <a:rPr lang="zh-CN" altLang="en-US" sz="3600" dirty="0">
                <a:solidFill>
                  <a:schemeClr val="bg1"/>
                </a:solidFill>
              </a:rPr>
              <a:t>滤波效果对比</a:t>
            </a:r>
            <a:endParaRPr lang="zh-CN" altLang="en-US" sz="3600" dirty="0">
              <a:solidFill>
                <a:schemeClr val="bg1"/>
              </a:solidFill>
            </a:endParaRPr>
          </a:p>
        </p:txBody>
      </p:sp>
      <p:pic>
        <p:nvPicPr>
          <p:cNvPr id="5" name="图片 4"/>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15718" y="1546471"/>
            <a:ext cx="5477263" cy="4081971"/>
          </a:xfrm>
          <a:prstGeom prst="rect">
            <a:avLst/>
          </a:prstGeom>
        </p:spPr>
      </p:pic>
      <p:pic>
        <p:nvPicPr>
          <p:cNvPr id="8" name="图片 7"/>
          <p:cNvPicPr>
            <a:picLocks noChangeAspect="1"/>
          </p:cNvPicPr>
          <p:nvPr>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6599020" y="1546471"/>
            <a:ext cx="5477262" cy="40819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10" name="文本占位符 9"/>
          <p:cNvSpPr>
            <a:spLocks noGrp="1"/>
          </p:cNvSpPr>
          <p:nvPr>
            <p:ph type="body" sz="quarter" idx="10"/>
            <p:custDataLst>
              <p:tags r:id="rId3"/>
            </p:custDataLst>
          </p:nvPr>
        </p:nvSpPr>
        <p:spPr>
          <a:xfrm>
            <a:off x="4673260" y="1011484"/>
            <a:ext cx="3722395" cy="1446550"/>
          </a:xfrm>
        </p:spPr>
        <p:txBody>
          <a:bodyPr/>
          <a:p>
            <a:r>
              <a:rPr lang="zh-CN" altLang="en-US" dirty="0">
                <a:solidFill>
                  <a:schemeClr val="bg1"/>
                </a:solidFill>
              </a:rPr>
              <a:t>形态学处理</a:t>
            </a:r>
            <a:endParaRPr lang="zh-CN" altLang="en-US" dirty="0">
              <a:solidFill>
                <a:schemeClr val="bg1"/>
              </a:solidFill>
            </a:endParaRPr>
          </a:p>
        </p:txBody>
      </p:sp>
      <p:sp>
        <p:nvSpPr>
          <p:cNvPr id="11" name="文本框 10"/>
          <p:cNvSpPr txBox="1"/>
          <p:nvPr>
            <p:custDataLst>
              <p:tags r:id="rId4"/>
            </p:custDataLst>
          </p:nvPr>
        </p:nvSpPr>
        <p:spPr>
          <a:xfrm>
            <a:off x="982462" y="1593164"/>
            <a:ext cx="10227076" cy="3970318"/>
          </a:xfrm>
          <a:prstGeom prst="rect">
            <a:avLst/>
          </a:prstGeom>
          <a:noFill/>
        </p:spPr>
        <p:txBody>
          <a:bodyPr wrap="square" rtlCol="0">
            <a:spAutoFit/>
          </a:bodyPr>
          <a:p>
            <a:r>
              <a:rPr lang="zh-CN" altLang="en-US" dirty="0">
                <a:solidFill>
                  <a:schemeClr val="bg1"/>
                </a:solidFill>
              </a:rPr>
              <a:t>形态学处理又称为形态学变换（</a:t>
            </a:r>
            <a:r>
              <a:rPr lang="en-US" altLang="zh-CN" dirty="0">
                <a:solidFill>
                  <a:schemeClr val="bg1"/>
                </a:solidFill>
              </a:rPr>
              <a:t>Morphological Transformations</a:t>
            </a:r>
            <a:r>
              <a:rPr lang="zh-CN" altLang="en-US" dirty="0">
                <a:solidFill>
                  <a:schemeClr val="bg1"/>
                </a:solidFill>
              </a:rPr>
              <a:t>），是图像处理中一种基于形状的简单变换。它的处理对象通常是二值化图像，也即只有黑白两种颜色。通常，形态学变换有两个输入：原二值图像，卷积核；一个输出：变换后的图像。</a:t>
            </a:r>
            <a:endParaRPr lang="en-US" altLang="zh-CN" dirty="0">
              <a:solidFill>
                <a:schemeClr val="bg1"/>
              </a:solidFill>
            </a:endParaRPr>
          </a:p>
          <a:p>
            <a:r>
              <a:rPr lang="zh-CN" altLang="en-US" dirty="0">
                <a:solidFill>
                  <a:schemeClr val="bg1"/>
                </a:solidFill>
              </a:rPr>
              <a:t>膨胀与腐蚀是最基本的两种形态学变换方法，而除此之外的形态学处理的常规操作（开运算、闭运算、梯度运算、礼帽运算以及黑帽运算等）则是这两种方法的组合。膨胀和腐蚀是针对较亮的像素的两种相反的操作，即较亮的像素范围会膨胀扩大和被暗色腐蚀变小。</a:t>
            </a:r>
            <a:endParaRPr lang="en-US" altLang="zh-CN" dirty="0">
              <a:solidFill>
                <a:schemeClr val="bg1"/>
              </a:solidFill>
            </a:endParaRPr>
          </a:p>
          <a:p>
            <a:r>
              <a:rPr lang="zh-CN" altLang="en-US" dirty="0">
                <a:solidFill>
                  <a:schemeClr val="bg1"/>
                </a:solidFill>
              </a:rPr>
              <a:t>腐蚀：卷积核的中心点逐个像素扫描原始图像，被扫描到的原始图像中的像素点，只有当卷积核对应的元素全为</a:t>
            </a:r>
            <a:r>
              <a:rPr lang="en-US" altLang="zh-CN" dirty="0">
                <a:solidFill>
                  <a:schemeClr val="bg1"/>
                </a:solidFill>
              </a:rPr>
              <a:t>1</a:t>
            </a:r>
            <a:r>
              <a:rPr lang="zh-CN" altLang="en-US" dirty="0">
                <a:solidFill>
                  <a:schemeClr val="bg1"/>
                </a:solidFill>
              </a:rPr>
              <a:t>时，其值才为</a:t>
            </a:r>
            <a:r>
              <a:rPr lang="en-US" altLang="zh-CN" dirty="0">
                <a:solidFill>
                  <a:schemeClr val="bg1"/>
                </a:solidFill>
              </a:rPr>
              <a:t>1</a:t>
            </a:r>
            <a:r>
              <a:rPr lang="zh-CN" altLang="en-US" dirty="0">
                <a:solidFill>
                  <a:schemeClr val="bg1"/>
                </a:solidFill>
              </a:rPr>
              <a:t>，否则均为</a:t>
            </a:r>
            <a:r>
              <a:rPr lang="en-US" altLang="zh-CN" dirty="0">
                <a:solidFill>
                  <a:schemeClr val="bg1"/>
                </a:solidFill>
              </a:rPr>
              <a:t>0</a:t>
            </a:r>
            <a:r>
              <a:rPr lang="zh-CN" altLang="en-US" dirty="0">
                <a:solidFill>
                  <a:schemeClr val="bg1"/>
                </a:solidFill>
              </a:rPr>
              <a:t>。</a:t>
            </a:r>
            <a:endParaRPr lang="en-US" altLang="zh-CN" dirty="0">
              <a:solidFill>
                <a:schemeClr val="bg1"/>
              </a:solidFill>
            </a:endParaRPr>
          </a:p>
          <a:p>
            <a:r>
              <a:rPr lang="zh-CN" altLang="en-US" dirty="0">
                <a:solidFill>
                  <a:schemeClr val="bg1"/>
                </a:solidFill>
              </a:rPr>
              <a:t>膨胀：卷积核的中心点逐个像素扫描原始图像，被扫描到的原始图像中的像素点，当卷积核对应的元素只要有一个为</a:t>
            </a:r>
            <a:r>
              <a:rPr lang="en-US" altLang="zh-CN" dirty="0">
                <a:solidFill>
                  <a:schemeClr val="bg1"/>
                </a:solidFill>
              </a:rPr>
              <a:t>1</a:t>
            </a:r>
            <a:r>
              <a:rPr lang="zh-CN" altLang="en-US" dirty="0">
                <a:solidFill>
                  <a:schemeClr val="bg1"/>
                </a:solidFill>
              </a:rPr>
              <a:t>时，其值便为</a:t>
            </a:r>
            <a:r>
              <a:rPr lang="en-US" altLang="zh-CN" dirty="0">
                <a:solidFill>
                  <a:schemeClr val="bg1"/>
                </a:solidFill>
              </a:rPr>
              <a:t>1</a:t>
            </a:r>
            <a:r>
              <a:rPr lang="zh-CN" altLang="en-US" dirty="0">
                <a:solidFill>
                  <a:schemeClr val="bg1"/>
                </a:solidFill>
              </a:rPr>
              <a:t>，否则为</a:t>
            </a:r>
            <a:r>
              <a:rPr lang="en-US" altLang="zh-CN" dirty="0">
                <a:solidFill>
                  <a:schemeClr val="bg1"/>
                </a:solidFill>
              </a:rPr>
              <a:t>0</a:t>
            </a:r>
            <a:r>
              <a:rPr lang="zh-CN" altLang="en-US" dirty="0">
                <a:solidFill>
                  <a:schemeClr val="bg1"/>
                </a:solidFill>
              </a:rPr>
              <a:t>。</a:t>
            </a:r>
            <a:endParaRPr lang="en-US" altLang="zh-CN" dirty="0">
              <a:solidFill>
                <a:schemeClr val="bg1"/>
              </a:solidFill>
            </a:endParaRPr>
          </a:p>
          <a:p>
            <a:r>
              <a:rPr lang="zh-CN" altLang="en-US" dirty="0">
                <a:solidFill>
                  <a:schemeClr val="bg1"/>
                </a:solidFill>
              </a:rPr>
              <a:t>开运算：图像被腐蚀后，去除了噪声，但是会压缩图像。对腐蚀后的图像，进行膨胀处理，可以去除噪声，并保持原有形状。也即：开运算（</a:t>
            </a:r>
            <a:r>
              <a:rPr lang="en-US" altLang="zh-CN" dirty="0">
                <a:solidFill>
                  <a:schemeClr val="bg1"/>
                </a:solidFill>
              </a:rPr>
              <a:t>image</a:t>
            </a:r>
            <a:r>
              <a:rPr lang="zh-CN" altLang="en-US" dirty="0">
                <a:solidFill>
                  <a:schemeClr val="bg1"/>
                </a:solidFill>
              </a:rPr>
              <a:t>）</a:t>
            </a:r>
            <a:r>
              <a:rPr lang="en-US" altLang="zh-CN" dirty="0">
                <a:solidFill>
                  <a:schemeClr val="bg1"/>
                </a:solidFill>
              </a:rPr>
              <a:t>=</a:t>
            </a:r>
            <a:r>
              <a:rPr lang="zh-CN" altLang="en-US" dirty="0">
                <a:solidFill>
                  <a:schemeClr val="bg1"/>
                </a:solidFill>
              </a:rPr>
              <a:t>膨胀（腐蚀（</a:t>
            </a:r>
            <a:r>
              <a:rPr lang="en-US" altLang="zh-CN" dirty="0">
                <a:solidFill>
                  <a:schemeClr val="bg1"/>
                </a:solidFill>
              </a:rPr>
              <a:t>image</a:t>
            </a:r>
            <a:r>
              <a:rPr lang="zh-CN" altLang="en-US" dirty="0">
                <a:solidFill>
                  <a:schemeClr val="bg1"/>
                </a:solidFill>
              </a:rPr>
              <a:t>））。</a:t>
            </a:r>
            <a:endParaRPr lang="en-US" altLang="zh-CN" dirty="0">
              <a:solidFill>
                <a:schemeClr val="bg1"/>
              </a:solidFill>
            </a:endParaRPr>
          </a:p>
          <a:p>
            <a:r>
              <a:rPr lang="zh-CN" altLang="en-US" dirty="0">
                <a:solidFill>
                  <a:schemeClr val="bg1"/>
                </a:solidFill>
              </a:rPr>
              <a:t>闭运算：与开运算相反，闭运算是先膨胀，后腐蚀，它有助于关闭前景物体内部的小孔，或物体上的小黑点。也即：闭运算（</a:t>
            </a:r>
            <a:r>
              <a:rPr lang="en-US" altLang="zh-CN" dirty="0">
                <a:solidFill>
                  <a:schemeClr val="bg1"/>
                </a:solidFill>
              </a:rPr>
              <a:t>image</a:t>
            </a:r>
            <a:r>
              <a:rPr lang="zh-CN" altLang="en-US" dirty="0">
                <a:solidFill>
                  <a:schemeClr val="bg1"/>
                </a:solidFill>
              </a:rPr>
              <a:t>）</a:t>
            </a:r>
            <a:r>
              <a:rPr lang="en-US" altLang="zh-CN" dirty="0">
                <a:solidFill>
                  <a:schemeClr val="bg1"/>
                </a:solidFill>
              </a:rPr>
              <a:t>=</a:t>
            </a:r>
            <a:r>
              <a:rPr lang="zh-CN" altLang="en-US" dirty="0">
                <a:solidFill>
                  <a:schemeClr val="bg1"/>
                </a:solidFill>
              </a:rPr>
              <a:t>腐蚀（膨胀（</a:t>
            </a:r>
            <a:r>
              <a:rPr lang="en-US" altLang="zh-CN" dirty="0">
                <a:solidFill>
                  <a:schemeClr val="bg1"/>
                </a:solidFill>
              </a:rPr>
              <a:t>image</a:t>
            </a:r>
            <a:r>
              <a:rPr lang="zh-CN" altLang="en-US" dirty="0">
                <a:solidFill>
                  <a:schemeClr val="bg1"/>
                </a:solidFill>
              </a:rPr>
              <a:t>））</a:t>
            </a:r>
            <a:endParaRPr lang="zh-CN" alt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3" name="文本占位符 2"/>
          <p:cNvSpPr>
            <a:spLocks noGrp="1"/>
          </p:cNvSpPr>
          <p:nvPr>
            <p:ph type="body" sz="quarter" idx="10"/>
            <p:custDataLst>
              <p:tags r:id="rId3"/>
            </p:custDataLst>
          </p:nvPr>
        </p:nvSpPr>
        <p:spPr>
          <a:xfrm>
            <a:off x="4899025" y="585470"/>
            <a:ext cx="2603500" cy="1446550"/>
          </a:xfrm>
        </p:spPr>
        <p:txBody>
          <a:bodyPr/>
          <a:p>
            <a:r>
              <a:rPr lang="zh-CN" altLang="en-US" dirty="0">
                <a:solidFill>
                  <a:schemeClr val="bg1"/>
                </a:solidFill>
              </a:rPr>
              <a:t>膨胀</a:t>
            </a:r>
            <a:r>
              <a:rPr lang="en-US" altLang="zh-CN" dirty="0">
                <a:solidFill>
                  <a:schemeClr val="bg1"/>
                </a:solidFill>
              </a:rPr>
              <a:t>dilate</a:t>
            </a:r>
            <a:endParaRPr lang="en-US" altLang="zh-CN" dirty="0">
              <a:solidFill>
                <a:schemeClr val="bg1"/>
              </a:solidFill>
            </a:endParaRPr>
          </a:p>
        </p:txBody>
      </p:sp>
      <p:sp>
        <p:nvSpPr>
          <p:cNvPr id="5" name="文本框 4"/>
          <p:cNvSpPr txBox="1"/>
          <p:nvPr>
            <p:custDataLst>
              <p:tags r:id="rId4"/>
            </p:custDataLst>
          </p:nvPr>
        </p:nvSpPr>
        <p:spPr>
          <a:xfrm>
            <a:off x="1252220" y="1254760"/>
            <a:ext cx="9775190" cy="1322070"/>
          </a:xfrm>
          <a:prstGeom prst="rect">
            <a:avLst/>
          </a:prstGeom>
          <a:noFill/>
        </p:spPr>
        <p:txBody>
          <a:bodyPr wrap="square" rtlCol="0">
            <a:spAutoFit/>
          </a:bodyPr>
          <a:p>
            <a:r>
              <a:rPr lang="zh-CN" altLang="en-US" sz="1600" dirty="0">
                <a:solidFill>
                  <a:schemeClr val="bg1"/>
                </a:solidFill>
              </a:rPr>
              <a:t>跟卷积操作类似，假设有图像</a:t>
            </a:r>
            <a:r>
              <a:rPr lang="en-US" altLang="zh-CN" sz="1600" dirty="0">
                <a:solidFill>
                  <a:schemeClr val="bg1"/>
                </a:solidFill>
              </a:rPr>
              <a:t>A</a:t>
            </a:r>
            <a:r>
              <a:rPr lang="zh-CN" altLang="en-US" sz="1600" dirty="0">
                <a:solidFill>
                  <a:schemeClr val="bg1"/>
                </a:solidFill>
              </a:rPr>
              <a:t>和结构元素</a:t>
            </a:r>
            <a:r>
              <a:rPr lang="en-US" altLang="zh-CN" sz="1600" dirty="0">
                <a:solidFill>
                  <a:schemeClr val="bg1"/>
                </a:solidFill>
              </a:rPr>
              <a:t>B</a:t>
            </a:r>
            <a:r>
              <a:rPr lang="zh-CN" altLang="en-US" sz="1600" dirty="0">
                <a:solidFill>
                  <a:schemeClr val="bg1"/>
                </a:solidFill>
              </a:rPr>
              <a:t>，结构元素</a:t>
            </a:r>
            <a:r>
              <a:rPr lang="en-US" altLang="zh-CN" sz="1600" dirty="0">
                <a:solidFill>
                  <a:schemeClr val="bg1"/>
                </a:solidFill>
              </a:rPr>
              <a:t>B</a:t>
            </a:r>
            <a:r>
              <a:rPr lang="zh-CN" altLang="en-US" sz="1600" dirty="0">
                <a:solidFill>
                  <a:schemeClr val="bg1"/>
                </a:solidFill>
              </a:rPr>
              <a:t>在</a:t>
            </a:r>
            <a:r>
              <a:rPr lang="en-US" altLang="zh-CN" sz="1600" dirty="0">
                <a:solidFill>
                  <a:schemeClr val="bg1"/>
                </a:solidFill>
              </a:rPr>
              <a:t>A</a:t>
            </a:r>
            <a:r>
              <a:rPr lang="zh-CN" altLang="en-US" sz="1600" dirty="0">
                <a:solidFill>
                  <a:schemeClr val="bg1"/>
                </a:solidFill>
              </a:rPr>
              <a:t>上面移动，其中</a:t>
            </a:r>
            <a:r>
              <a:rPr lang="en-US" altLang="zh-CN" sz="1600" dirty="0">
                <a:solidFill>
                  <a:schemeClr val="bg1"/>
                </a:solidFill>
              </a:rPr>
              <a:t>B</a:t>
            </a:r>
            <a:r>
              <a:rPr lang="zh-CN" altLang="en-US" sz="1600" dirty="0">
                <a:solidFill>
                  <a:schemeClr val="bg1"/>
                </a:solidFill>
              </a:rPr>
              <a:t>定义其中心为锚点，计算</a:t>
            </a:r>
            <a:r>
              <a:rPr lang="en-US" altLang="zh-CN" sz="1600" dirty="0">
                <a:solidFill>
                  <a:schemeClr val="bg1"/>
                </a:solidFill>
              </a:rPr>
              <a:t>B</a:t>
            </a:r>
            <a:r>
              <a:rPr lang="zh-CN" altLang="en-US" sz="1600" dirty="0">
                <a:solidFill>
                  <a:schemeClr val="bg1"/>
                </a:solidFill>
              </a:rPr>
              <a:t>覆盖下</a:t>
            </a:r>
            <a:r>
              <a:rPr lang="en-US" altLang="zh-CN" sz="1600" dirty="0">
                <a:solidFill>
                  <a:schemeClr val="bg1"/>
                </a:solidFill>
              </a:rPr>
              <a:t>A</a:t>
            </a:r>
            <a:r>
              <a:rPr lang="zh-CN" altLang="en-US" sz="1600" dirty="0">
                <a:solidFill>
                  <a:schemeClr val="bg1"/>
                </a:solidFill>
              </a:rPr>
              <a:t>的最大像素值用来替换锚点的像素，其中</a:t>
            </a:r>
            <a:r>
              <a:rPr lang="en-US" altLang="zh-CN" sz="1600" dirty="0">
                <a:solidFill>
                  <a:schemeClr val="bg1"/>
                </a:solidFill>
              </a:rPr>
              <a:t>B</a:t>
            </a:r>
            <a:r>
              <a:rPr lang="zh-CN" altLang="en-US" sz="1600" dirty="0">
                <a:solidFill>
                  <a:schemeClr val="bg1"/>
                </a:solidFill>
              </a:rPr>
              <a:t>作为结构体可以是任意形状。我们回忆一下中值平滑操作</a:t>
            </a:r>
            <a:r>
              <a:rPr lang="en-US" altLang="zh-CN" sz="1600" dirty="0">
                <a:solidFill>
                  <a:schemeClr val="bg1"/>
                </a:solidFill>
              </a:rPr>
              <a:t>——</a:t>
            </a:r>
            <a:r>
              <a:rPr lang="zh-CN" altLang="en-US" sz="1600" dirty="0">
                <a:solidFill>
                  <a:schemeClr val="bg1"/>
                </a:solidFill>
              </a:rPr>
              <a:t>取每一个位置的矩形领域内值的中值作为该位置的输出灰度值，图像的膨胀操作与中值平滑操作类似，它是取每一个位置的矩形领域内值的最大值作为该位置的输出灰度值。不同的是，这里的领域不再单纯是矩形结构的，也可以是</a:t>
            </a:r>
            <a:r>
              <a:rPr lang="zh-CN" altLang="en-US" sz="1600" dirty="0">
                <a:solidFill>
                  <a:schemeClr val="bg1"/>
                </a:solidFill>
                <a:highlight>
                  <a:srgbClr val="FF0000"/>
                </a:highlight>
              </a:rPr>
              <a:t>椭圆形结构</a:t>
            </a:r>
            <a:r>
              <a:rPr lang="zh-CN" altLang="en-US" sz="1600" dirty="0">
                <a:solidFill>
                  <a:schemeClr val="bg1"/>
                </a:solidFill>
              </a:rPr>
              <a:t>的、</a:t>
            </a:r>
            <a:r>
              <a:rPr lang="zh-CN" altLang="en-US" sz="1600" dirty="0">
                <a:solidFill>
                  <a:schemeClr val="bg1"/>
                </a:solidFill>
                <a:highlight>
                  <a:srgbClr val="FF0000"/>
                </a:highlight>
              </a:rPr>
              <a:t>十字交叉形结构</a:t>
            </a:r>
            <a:r>
              <a:rPr lang="zh-CN" altLang="en-US" sz="1600" dirty="0">
                <a:solidFill>
                  <a:schemeClr val="bg1"/>
                </a:solidFill>
              </a:rPr>
              <a:t>的等。</a:t>
            </a:r>
            <a:endParaRPr lang="zh-CN" altLang="en-US" sz="1600" dirty="0">
              <a:solidFill>
                <a:schemeClr val="bg1"/>
              </a:solidFill>
            </a:endParaRPr>
          </a:p>
        </p:txBody>
      </p:sp>
      <p:sp>
        <p:nvSpPr>
          <p:cNvPr id="11" name="文本占位符 1"/>
          <p:cNvSpPr>
            <a:spLocks noGrp="1"/>
          </p:cNvSpPr>
          <p:nvPr>
            <p:custDataLst>
              <p:tags r:id="rId5"/>
            </p:custDataLst>
          </p:nvPr>
        </p:nvSpPr>
        <p:spPr>
          <a:xfrm>
            <a:off x="4724400" y="2757820"/>
            <a:ext cx="2603500" cy="1446550"/>
          </a:xfrm>
          <a:prstGeom prst="rect">
            <a:avLst/>
          </a:prstGeom>
        </p:spPr>
        <p:txBody>
          <a:bodyPr vert="horz" lIns="91440" tIns="45720" rIns="91440" bIns="45720" rtlCol="0" anchor="ctr">
            <a:spAutoFit/>
          </a:bodyPr>
          <a:lstStyle>
            <a:lvl1pPr marL="0" marR="0" indent="0" algn="ctr" defTabSz="457200" rtl="0" eaLnBrk="1" fontAlgn="auto" latinLnBrk="0" hangingPunct="1">
              <a:lnSpc>
                <a:spcPct val="100000"/>
              </a:lnSpc>
              <a:spcBef>
                <a:spcPts val="0"/>
              </a:spcBef>
              <a:spcAft>
                <a:spcPts val="0"/>
              </a:spcAft>
              <a:buClrTx/>
              <a:buSzTx/>
              <a:buFontTx/>
              <a:buNone/>
              <a:defRPr lang="zh-CN" altLang="en-US" sz="4400" kern="1200" cap="small" spc="600" noProof="0">
                <a:ln>
                  <a:gradFill>
                    <a:gsLst>
                      <a:gs pos="0">
                        <a:schemeClr val="tx1"/>
                      </a:gs>
                      <a:gs pos="100000">
                        <a:schemeClr val="accent1">
                          <a:lumMod val="30000"/>
                          <a:lumOff val="7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6240000" sx="103000" sy="103000" algn="t" rotWithShape="0">
                    <a:prstClr val="black">
                      <a:alpha val="50000"/>
                    </a:prstClr>
                  </a:outerShdw>
                </a:effectLst>
                <a:latin typeface="PangMenZhengDao" panose="02010600030101010101" pitchFamily="2" charset="-122"/>
                <a:ea typeface="PangMenZhengDao" panose="02010600030101010101" pitchFamily="2" charset="-122"/>
                <a:cs typeface="+mn-cs"/>
              </a:defRPr>
            </a:lvl1pPr>
            <a:lvl2pPr marL="742950" indent="-285750" algn="l" defTabSz="457200" rtl="0" eaLnBrk="1" latinLnBrk="0" hangingPunct="1">
              <a:spcBef>
                <a:spcPct val="20000"/>
              </a:spcBef>
              <a:spcAft>
                <a:spcPts val="600"/>
              </a:spcAft>
              <a:buClr>
                <a:schemeClr val="tx1"/>
              </a:buClr>
              <a:buSzPct val="100000"/>
              <a:buFont typeface="Arial" panose="020B0604020202020204"/>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panose="020B0604020202020204"/>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panose="020B0604020202020204"/>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panose="020B0604020202020204"/>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zh-CN" altLang="en-US" dirty="0">
                <a:solidFill>
                  <a:schemeClr val="bg1"/>
                </a:solidFill>
              </a:rPr>
              <a:t>腐蚀</a:t>
            </a:r>
            <a:r>
              <a:rPr lang="en-US" altLang="zh-CN" dirty="0">
                <a:solidFill>
                  <a:schemeClr val="bg1"/>
                </a:solidFill>
              </a:rPr>
              <a:t>erode</a:t>
            </a:r>
            <a:endParaRPr lang="en-US" altLang="zh-CN" dirty="0">
              <a:solidFill>
                <a:schemeClr val="bg1"/>
              </a:solidFill>
            </a:endParaRPr>
          </a:p>
        </p:txBody>
      </p:sp>
      <p:sp>
        <p:nvSpPr>
          <p:cNvPr id="12" name="文本框 11"/>
          <p:cNvSpPr txBox="1"/>
          <p:nvPr>
            <p:custDataLst>
              <p:tags r:id="rId6"/>
            </p:custDataLst>
          </p:nvPr>
        </p:nvSpPr>
        <p:spPr>
          <a:xfrm>
            <a:off x="1252923" y="4058267"/>
            <a:ext cx="9774315" cy="923330"/>
          </a:xfrm>
          <a:prstGeom prst="rect">
            <a:avLst/>
          </a:prstGeom>
          <a:noFill/>
        </p:spPr>
        <p:txBody>
          <a:bodyPr wrap="square" rtlCol="0">
            <a:spAutoFit/>
          </a:bodyPr>
          <a:lstStyle/>
          <a:p>
            <a:r>
              <a:rPr lang="zh-CN" altLang="en-US" b="0" i="0" dirty="0">
                <a:solidFill>
                  <a:schemeClr val="bg1"/>
                </a:solidFill>
                <a:effectLst/>
                <a:latin typeface="-apple-system"/>
              </a:rPr>
              <a:t>腐蚀操作与膨胀操作类似，只是它取结构元所指定的领域内值的最小值作为该位置的输出灰度值。因为取每个位置领域内最小值，所以腐蚀后输出图像的总体亮度的平均值比起原图会有所降低，图像中比较亮的区域的面积会变小甚至消失，而较暗物体的尺寸会扩大。</a:t>
            </a:r>
            <a:endParaRPr lang="zh-CN" altLang="en-US" b="0" i="0" dirty="0">
              <a:solidFill>
                <a:schemeClr val="bg1"/>
              </a:solidFill>
              <a:effectLst/>
              <a:latin typeface="-apple-system"/>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554990" y="2036445"/>
            <a:ext cx="3357245" cy="3449320"/>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8150225" y="2036445"/>
            <a:ext cx="3355975" cy="3449320"/>
          </a:xfrm>
          <a:prstGeom prst="rect">
            <a:avLst/>
          </a:prstGeom>
        </p:spPr>
      </p:pic>
      <p:pic>
        <p:nvPicPr>
          <p:cNvPr id="8" name="图片 7"/>
          <p:cNvPicPr>
            <a:picLocks noChangeAspect="1"/>
          </p:cNvPicPr>
          <p:nvPr>
            <p:custDataLst>
              <p:tags r:id="rId7"/>
            </p:custDataLst>
          </p:nvPr>
        </p:nvPicPr>
        <p:blipFill>
          <a:blip r:embed="rId8"/>
          <a:stretch>
            <a:fillRect/>
          </a:stretch>
        </p:blipFill>
        <p:spPr>
          <a:xfrm>
            <a:off x="4347845" y="2025650"/>
            <a:ext cx="3362325" cy="3455670"/>
          </a:xfrm>
          <a:prstGeom prst="rect">
            <a:avLst/>
          </a:prstGeom>
        </p:spPr>
      </p:pic>
      <p:sp>
        <p:nvSpPr>
          <p:cNvPr id="10" name="文本框 9"/>
          <p:cNvSpPr txBox="1"/>
          <p:nvPr/>
        </p:nvSpPr>
        <p:spPr>
          <a:xfrm>
            <a:off x="430530" y="173990"/>
            <a:ext cx="5464810" cy="1066800"/>
          </a:xfrm>
          <a:prstGeom prst="rect">
            <a:avLst/>
          </a:prstGeom>
          <a:noFill/>
        </p:spPr>
        <p:txBody>
          <a:bodyPr wrap="square" rtlCol="0">
            <a:noAutofit/>
          </a:bodyPr>
          <a:p>
            <a:r>
              <a:rPr lang="zh-CN" altLang="en-US" sz="2800">
                <a:solidFill>
                  <a:schemeClr val="bg1"/>
                </a:solidFill>
              </a:rPr>
              <a:t>腐蚀、膨胀。开运算、闭运算</a:t>
            </a:r>
            <a:endParaRPr lang="zh-CN" altLang="en-US" sz="2800">
              <a:solidFill>
                <a:schemeClr val="bg1"/>
              </a:solidFill>
            </a:endParaRPr>
          </a:p>
        </p:txBody>
      </p:sp>
      <p:pic>
        <p:nvPicPr>
          <p:cNvPr id="11" name="图片 10"/>
          <p:cNvPicPr>
            <a:picLocks noChangeAspect="1"/>
          </p:cNvPicPr>
          <p:nvPr>
            <p:custDataLst>
              <p:tags r:id="rId9"/>
            </p:custDataLst>
          </p:nvPr>
        </p:nvPicPr>
        <p:blipFill>
          <a:blip r:embed="rId10"/>
          <a:stretch>
            <a:fillRect/>
          </a:stretch>
        </p:blipFill>
        <p:spPr>
          <a:xfrm>
            <a:off x="554990" y="916305"/>
            <a:ext cx="4888865" cy="998220"/>
          </a:xfrm>
          <a:prstGeom prst="rect">
            <a:avLst/>
          </a:prstGeom>
        </p:spPr>
      </p:pic>
      <p:sp>
        <p:nvSpPr>
          <p:cNvPr id="13" name="文本框 12"/>
          <p:cNvSpPr txBox="1"/>
          <p:nvPr>
            <p:custDataLst>
              <p:tags r:id="rId11"/>
            </p:custDataLst>
          </p:nvPr>
        </p:nvSpPr>
        <p:spPr>
          <a:xfrm>
            <a:off x="627892" y="5607519"/>
            <a:ext cx="8389398" cy="369332"/>
          </a:xfrm>
          <a:prstGeom prst="rect">
            <a:avLst/>
          </a:prstGeom>
          <a:noFill/>
        </p:spPr>
        <p:txBody>
          <a:bodyPr wrap="square" rtlCol="0">
            <a:spAutoFit/>
          </a:bodyPr>
          <a:p>
            <a:r>
              <a:rPr lang="zh-CN" altLang="en-US" b="0" i="0" dirty="0">
                <a:solidFill>
                  <a:schemeClr val="bg1"/>
                </a:solidFill>
                <a:effectLst/>
                <a:latin typeface="-apple-system"/>
              </a:rPr>
              <a:t>开运算 </a:t>
            </a:r>
            <a:r>
              <a:rPr lang="en-US" altLang="zh-CN" b="0" i="0" dirty="0">
                <a:solidFill>
                  <a:schemeClr val="bg1"/>
                </a:solidFill>
                <a:effectLst/>
                <a:latin typeface="-apple-system"/>
              </a:rPr>
              <a:t>= </a:t>
            </a:r>
            <a:r>
              <a:rPr lang="zh-CN" altLang="en-US" b="0" i="0" dirty="0">
                <a:solidFill>
                  <a:schemeClr val="bg1"/>
                </a:solidFill>
                <a:effectLst/>
                <a:latin typeface="-apple-system"/>
              </a:rPr>
              <a:t>先腐蚀运算，再膨胀运算（看上去把细微连在一起的两块目标分开了）</a:t>
            </a:r>
            <a:endParaRPr lang="zh-CN" altLang="en-US" b="0" i="0" dirty="0">
              <a:solidFill>
                <a:schemeClr val="bg1"/>
              </a:solidFill>
              <a:effectLst/>
              <a:latin typeface="-apple-system"/>
            </a:endParaRPr>
          </a:p>
        </p:txBody>
      </p:sp>
      <p:sp>
        <p:nvSpPr>
          <p:cNvPr id="14" name="文本框 13"/>
          <p:cNvSpPr txBox="1"/>
          <p:nvPr>
            <p:custDataLst>
              <p:tags r:id="rId12"/>
            </p:custDataLst>
          </p:nvPr>
        </p:nvSpPr>
        <p:spPr>
          <a:xfrm>
            <a:off x="627836" y="6098683"/>
            <a:ext cx="9343748" cy="369332"/>
          </a:xfrm>
          <a:prstGeom prst="rect">
            <a:avLst/>
          </a:prstGeom>
          <a:noFill/>
        </p:spPr>
        <p:txBody>
          <a:bodyPr wrap="square">
            <a:spAutoFit/>
          </a:bodyPr>
          <a:p>
            <a:r>
              <a:rPr lang="zh-CN" altLang="en-US" b="0" i="0" dirty="0">
                <a:solidFill>
                  <a:schemeClr val="bg1"/>
                </a:solidFill>
                <a:effectLst/>
                <a:latin typeface="-apple-system"/>
              </a:rPr>
              <a:t>闭运算 </a:t>
            </a:r>
            <a:r>
              <a:rPr lang="en-US" altLang="zh-CN" b="0" i="0" dirty="0">
                <a:solidFill>
                  <a:schemeClr val="bg1"/>
                </a:solidFill>
                <a:effectLst/>
                <a:latin typeface="-apple-system"/>
              </a:rPr>
              <a:t>= </a:t>
            </a:r>
            <a:r>
              <a:rPr lang="zh-CN" altLang="en-US" b="0" i="0" dirty="0">
                <a:solidFill>
                  <a:schemeClr val="bg1"/>
                </a:solidFill>
                <a:effectLst/>
                <a:latin typeface="-apple-system"/>
              </a:rPr>
              <a:t>先膨胀运算，再腐蚀运算（看上去将两个细微连接的图块封闭在一起）</a:t>
            </a:r>
            <a:endParaRPr lang="zh-CN" altLang="en-US" b="0" i="0" dirty="0">
              <a:solidFill>
                <a:schemeClr val="bg1"/>
              </a:solidFill>
              <a:effectLst/>
              <a:latin typeface="-apple-system"/>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338455" y="1146810"/>
            <a:ext cx="7273925" cy="821690"/>
          </a:xfrm>
          <a:prstGeom prst="rect">
            <a:avLst/>
          </a:prstGeom>
        </p:spPr>
      </p:pic>
      <p:sp>
        <p:nvSpPr>
          <p:cNvPr id="5" name="文本框 4"/>
          <p:cNvSpPr txBox="1"/>
          <p:nvPr/>
        </p:nvSpPr>
        <p:spPr>
          <a:xfrm>
            <a:off x="208915" y="667385"/>
            <a:ext cx="6096000" cy="460375"/>
          </a:xfrm>
          <a:prstGeom prst="rect">
            <a:avLst/>
          </a:prstGeom>
          <a:noFill/>
        </p:spPr>
        <p:txBody>
          <a:bodyPr wrap="square" rtlCol="0" anchor="t">
            <a:spAutoFit/>
          </a:bodyPr>
          <a:p>
            <a:r>
              <a:rPr lang="zh-CN" altLang="en-US" sz="2400">
                <a:solidFill>
                  <a:schemeClr val="bg1"/>
                </a:solidFill>
              </a:rPr>
              <a:t>findContours()寻找图像中物体的轮廓</a:t>
            </a:r>
            <a:endParaRPr lang="zh-CN" altLang="en-US" sz="2400">
              <a:solidFill>
                <a:schemeClr val="bg1"/>
              </a:solidFill>
            </a:endParaRPr>
          </a:p>
        </p:txBody>
      </p:sp>
      <p:pic>
        <p:nvPicPr>
          <p:cNvPr id="8" name="图片 7"/>
          <p:cNvPicPr>
            <a:picLocks noChangeAspect="1"/>
          </p:cNvPicPr>
          <p:nvPr>
            <p:custDataLst>
              <p:tags r:id="rId5"/>
            </p:custDataLst>
          </p:nvPr>
        </p:nvPicPr>
        <p:blipFill>
          <a:blip r:embed="rId6"/>
          <a:stretch>
            <a:fillRect/>
          </a:stretch>
        </p:blipFill>
        <p:spPr>
          <a:xfrm>
            <a:off x="6464300" y="3545205"/>
            <a:ext cx="5070475" cy="3023870"/>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338455" y="3834765"/>
            <a:ext cx="4570730" cy="1572895"/>
          </a:xfrm>
          <a:prstGeom prst="rect">
            <a:avLst/>
          </a:prstGeom>
        </p:spPr>
      </p:pic>
      <p:pic>
        <p:nvPicPr>
          <p:cNvPr id="11" name="图片 10"/>
          <p:cNvPicPr>
            <a:picLocks noChangeAspect="1"/>
          </p:cNvPicPr>
          <p:nvPr>
            <p:custDataLst>
              <p:tags r:id="rId9"/>
            </p:custDataLst>
          </p:nvPr>
        </p:nvPicPr>
        <p:blipFill>
          <a:blip r:embed="rId10"/>
          <a:stretch>
            <a:fillRect/>
          </a:stretch>
        </p:blipFill>
        <p:spPr>
          <a:xfrm>
            <a:off x="276225" y="5414645"/>
            <a:ext cx="5168265" cy="1368425"/>
          </a:xfrm>
          <a:prstGeom prst="rect">
            <a:avLst/>
          </a:prstGeom>
        </p:spPr>
      </p:pic>
      <p:pic>
        <p:nvPicPr>
          <p:cNvPr id="12" name="图片 11"/>
          <p:cNvPicPr>
            <a:picLocks noChangeAspect="1"/>
          </p:cNvPicPr>
          <p:nvPr>
            <p:custDataLst>
              <p:tags r:id="rId11"/>
            </p:custDataLst>
          </p:nvPr>
        </p:nvPicPr>
        <p:blipFill>
          <a:blip r:embed="rId12"/>
          <a:stretch>
            <a:fillRect/>
          </a:stretch>
        </p:blipFill>
        <p:spPr>
          <a:xfrm>
            <a:off x="6365875" y="2430145"/>
            <a:ext cx="5405755" cy="1115060"/>
          </a:xfrm>
          <a:prstGeom prst="rect">
            <a:avLst/>
          </a:prstGeom>
        </p:spPr>
      </p:pic>
      <p:pic>
        <p:nvPicPr>
          <p:cNvPr id="4" name="图片 3"/>
          <p:cNvPicPr>
            <a:picLocks noChangeAspect="1"/>
          </p:cNvPicPr>
          <p:nvPr>
            <p:custDataLst>
              <p:tags r:id="rId13"/>
            </p:custDataLst>
          </p:nvPr>
        </p:nvPicPr>
        <p:blipFill>
          <a:blip r:embed="rId14"/>
          <a:stretch>
            <a:fillRect/>
          </a:stretch>
        </p:blipFill>
        <p:spPr>
          <a:xfrm>
            <a:off x="338455" y="2131060"/>
            <a:ext cx="4772660" cy="1696720"/>
          </a:xfrm>
          <a:prstGeom prst="rect">
            <a:avLst/>
          </a:prstGeom>
        </p:spPr>
      </p:pic>
      <p:pic>
        <p:nvPicPr>
          <p:cNvPr id="6" name="图片 5"/>
          <p:cNvPicPr>
            <a:picLocks noChangeAspect="1"/>
          </p:cNvPicPr>
          <p:nvPr>
            <p:custDataLst>
              <p:tags r:id="rId15"/>
            </p:custDataLst>
          </p:nvPr>
        </p:nvPicPr>
        <p:blipFill>
          <a:blip r:embed="rId16"/>
          <a:stretch>
            <a:fillRect/>
          </a:stretch>
        </p:blipFill>
        <p:spPr>
          <a:xfrm>
            <a:off x="5782945" y="1968500"/>
            <a:ext cx="4688840" cy="4203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492760" y="1149985"/>
            <a:ext cx="4197985" cy="2942590"/>
          </a:xfrm>
          <a:prstGeom prst="rect">
            <a:avLst/>
          </a:prstGeom>
        </p:spPr>
      </p:pic>
      <p:sp>
        <p:nvSpPr>
          <p:cNvPr id="5" name="文本框 4"/>
          <p:cNvSpPr txBox="1"/>
          <p:nvPr/>
        </p:nvSpPr>
        <p:spPr>
          <a:xfrm>
            <a:off x="492760" y="4344670"/>
            <a:ext cx="4064000" cy="1753235"/>
          </a:xfrm>
          <a:prstGeom prst="rect">
            <a:avLst/>
          </a:prstGeom>
          <a:noFill/>
        </p:spPr>
        <p:txBody>
          <a:bodyPr wrap="square" rtlCol="0">
            <a:spAutoFit/>
          </a:bodyPr>
          <a:p>
            <a:r>
              <a:rPr lang="zh-CN" altLang="en-US">
                <a:solidFill>
                  <a:schemeClr val="bg1"/>
                </a:solidFill>
              </a:rPr>
              <a:t>mode取值“CV_RETR_EXTERNAL”，method取值“CV_CHAIN_APPROX_NONE”，即只检测最外层轮廓，并且保存轮廓上所有点</a:t>
            </a:r>
            <a:endParaRPr lang="zh-CN" altLang="en-US">
              <a:solidFill>
                <a:schemeClr val="bg1"/>
              </a:solidFill>
            </a:endParaRPr>
          </a:p>
        </p:txBody>
      </p:sp>
      <p:pic>
        <p:nvPicPr>
          <p:cNvPr id="6" name="图片 5"/>
          <p:cNvPicPr>
            <a:picLocks noChangeAspect="1"/>
          </p:cNvPicPr>
          <p:nvPr>
            <p:custDataLst>
              <p:tags r:id="rId5"/>
            </p:custDataLst>
          </p:nvPr>
        </p:nvPicPr>
        <p:blipFill>
          <a:blip r:embed="rId6"/>
          <a:stretch>
            <a:fillRect/>
          </a:stretch>
        </p:blipFill>
        <p:spPr>
          <a:xfrm>
            <a:off x="5553710" y="1149985"/>
            <a:ext cx="3950335" cy="3009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931545" y="828675"/>
            <a:ext cx="4580890" cy="3150235"/>
          </a:xfrm>
          <a:prstGeom prst="rect">
            <a:avLst/>
          </a:prstGeom>
        </p:spPr>
      </p:pic>
      <p:sp>
        <p:nvSpPr>
          <p:cNvPr id="2" name="文本框 1"/>
          <p:cNvSpPr txBox="1"/>
          <p:nvPr/>
        </p:nvSpPr>
        <p:spPr>
          <a:xfrm>
            <a:off x="6548755" y="988060"/>
            <a:ext cx="4064000" cy="1198880"/>
          </a:xfrm>
          <a:prstGeom prst="rect">
            <a:avLst/>
          </a:prstGeom>
          <a:noFill/>
        </p:spPr>
        <p:txBody>
          <a:bodyPr wrap="square" rtlCol="0">
            <a:spAutoFit/>
          </a:bodyPr>
          <a:p>
            <a:r>
              <a:rPr lang="zh-CN" altLang="en-US">
                <a:solidFill>
                  <a:schemeClr val="bg1"/>
                </a:solidFill>
              </a:rPr>
              <a:t>重温一下hierarchy向量</a:t>
            </a:r>
            <a:r>
              <a:rPr lang="en-US" altLang="zh-CN">
                <a:solidFill>
                  <a:schemeClr val="bg1"/>
                </a:solidFill>
              </a:rPr>
              <a:t>  </a:t>
            </a:r>
            <a:r>
              <a:rPr lang="zh-CN" altLang="en-US">
                <a:solidFill>
                  <a:schemeClr val="bg1"/>
                </a:solidFill>
              </a:rPr>
              <a:t>向量中每个元素的4个整形分别对应当前轮廓的后一个轮廓、前一个轮廓、父轮廓、内</a:t>
            </a:r>
            <a:endParaRPr lang="zh-CN" altLang="en-US">
              <a:solidFill>
                <a:schemeClr val="bg1"/>
              </a:solidFill>
            </a:endParaRPr>
          </a:p>
          <a:p>
            <a:r>
              <a:rPr lang="zh-CN" altLang="en-US">
                <a:solidFill>
                  <a:schemeClr val="bg1"/>
                </a:solidFill>
              </a:rPr>
              <a:t>嵌轮廓的索引编号。</a:t>
            </a:r>
            <a:endParaRPr lang="zh-CN" altLang="en-US">
              <a:solidFill>
                <a:schemeClr val="bg1"/>
              </a:solidFill>
            </a:endParaRPr>
          </a:p>
        </p:txBody>
      </p:sp>
      <p:pic>
        <p:nvPicPr>
          <p:cNvPr id="4" name="图片 3"/>
          <p:cNvPicPr>
            <a:picLocks noChangeAspect="1"/>
          </p:cNvPicPr>
          <p:nvPr>
            <p:custDataLst>
              <p:tags r:id="rId5"/>
            </p:custDataLst>
          </p:nvPr>
        </p:nvPicPr>
        <p:blipFill>
          <a:blip r:embed="rId6"/>
          <a:stretch>
            <a:fillRect/>
          </a:stretch>
        </p:blipFill>
        <p:spPr>
          <a:xfrm>
            <a:off x="462915" y="4167505"/>
            <a:ext cx="5518785" cy="1961515"/>
          </a:xfrm>
          <a:prstGeom prst="rect">
            <a:avLst/>
          </a:prstGeom>
        </p:spPr>
      </p:pic>
      <p:sp>
        <p:nvSpPr>
          <p:cNvPr id="5" name="文本框 4"/>
          <p:cNvSpPr txBox="1"/>
          <p:nvPr/>
        </p:nvSpPr>
        <p:spPr>
          <a:xfrm>
            <a:off x="6880225" y="3236595"/>
            <a:ext cx="4064000" cy="1753235"/>
          </a:xfrm>
          <a:prstGeom prst="rect">
            <a:avLst/>
          </a:prstGeom>
          <a:noFill/>
        </p:spPr>
        <p:txBody>
          <a:bodyPr wrap="square" rtlCol="0">
            <a:spAutoFit/>
          </a:bodyPr>
          <a:p>
            <a:r>
              <a:rPr lang="zh-CN" altLang="en-US">
                <a:solidFill>
                  <a:schemeClr val="bg1"/>
                </a:solidFill>
              </a:rPr>
              <a:t>内容为[2,0,-1,-1], “2”表示当前轮廓的后一个轮廓的编号为2，“0”表示当前轮廓的前一个轮廓编号为0，其后2个“-1”表示为空，因为只有最外层轮廓这一个等级，所以不存在父轮廓和内嵌轮廓。</a:t>
            </a:r>
            <a:endParaRPr lang="zh-CN"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54000" y="52070"/>
            <a:ext cx="10123805" cy="2334260"/>
          </a:xfrm>
          <a:prstGeom prst="rect">
            <a:avLst/>
          </a:prstGeom>
          <a:noFill/>
        </p:spPr>
        <p:txBody>
          <a:bodyPr wrap="square" rtlCol="0">
            <a:noAutofit/>
          </a:bodyPr>
          <a:p>
            <a:r>
              <a:rPr lang="zh-CN" altLang="en-US" sz="2800">
                <a:solidFill>
                  <a:schemeClr val="bg1"/>
                </a:solidFill>
              </a:rPr>
              <a:t>RETR_TREE :</a:t>
            </a:r>
            <a:endParaRPr lang="zh-CN" altLang="en-US" sz="2800">
              <a:solidFill>
                <a:schemeClr val="bg1"/>
              </a:solidFill>
            </a:endParaRPr>
          </a:p>
          <a:p>
            <a:r>
              <a:rPr lang="zh-CN" altLang="en-US" sz="2800">
                <a:solidFill>
                  <a:schemeClr val="bg1"/>
                </a:solidFill>
              </a:rPr>
              <a:t>这种模式会返回所有的轮廓，并创建一个完整的组织结构列表。它会告诉你谁是爸爸，谁是儿子。</a:t>
            </a:r>
            <a:endParaRPr lang="zh-CN" altLang="en-US" sz="2800">
              <a:solidFill>
                <a:schemeClr val="bg1"/>
              </a:solidFill>
            </a:endParaRPr>
          </a:p>
        </p:txBody>
      </p:sp>
      <p:sp>
        <p:nvSpPr>
          <p:cNvPr id="5" name="文本框 4"/>
          <p:cNvSpPr txBox="1"/>
          <p:nvPr/>
        </p:nvSpPr>
        <p:spPr>
          <a:xfrm>
            <a:off x="7075805" y="1459865"/>
            <a:ext cx="4572000" cy="4210685"/>
          </a:xfrm>
          <a:prstGeom prst="rect">
            <a:avLst/>
          </a:prstGeom>
          <a:noFill/>
        </p:spPr>
        <p:txBody>
          <a:bodyPr wrap="square" rtlCol="0">
            <a:noAutofit/>
          </a:bodyPr>
          <a:p>
            <a:r>
              <a:rPr lang="zh-CN" altLang="en-US" sz="2000">
                <a:solidFill>
                  <a:schemeClr val="bg1"/>
                </a:solidFill>
              </a:rPr>
              <a:t>轮廓0的组织结构为0，同一级next为7，没有previous。子轮廓是1，没有父轮廓。所以数组是[7, -1, 1, -1]。</a:t>
            </a:r>
            <a:endParaRPr lang="zh-CN" altLang="en-US" sz="2000">
              <a:solidFill>
                <a:schemeClr val="bg1"/>
              </a:solidFill>
            </a:endParaRPr>
          </a:p>
          <a:p>
            <a:endParaRPr lang="zh-CN" altLang="en-US" sz="2000">
              <a:solidFill>
                <a:schemeClr val="bg1"/>
              </a:solidFill>
            </a:endParaRPr>
          </a:p>
          <a:p>
            <a:r>
              <a:rPr lang="zh-CN" altLang="en-US" sz="2000">
                <a:solidFill>
                  <a:schemeClr val="bg1"/>
                </a:solidFill>
              </a:rPr>
              <a:t>轮廓1的组织结构为1，同一级中没有其他，没有previous。子轮廓是2，父轮廓是0.所以数组是[-1, -1, 2, 0]。</a:t>
            </a:r>
            <a:endParaRPr lang="zh-CN" altLang="en-US" sz="2000">
              <a:solidFill>
                <a:schemeClr val="bg1"/>
              </a:solidFill>
            </a:endParaRPr>
          </a:p>
          <a:p>
            <a:endParaRPr lang="zh-CN" altLang="en-US" sz="2000">
              <a:solidFill>
                <a:schemeClr val="bg1"/>
              </a:solidFill>
            </a:endParaRPr>
          </a:p>
          <a:p>
            <a:r>
              <a:rPr lang="zh-CN" altLang="en-US" sz="2000">
                <a:solidFill>
                  <a:schemeClr val="bg1"/>
                </a:solidFill>
              </a:rPr>
              <a:t>剩下的以此类推。</a:t>
            </a:r>
            <a:endParaRPr lang="zh-CN" altLang="en-US" sz="2000">
              <a:solidFill>
                <a:schemeClr val="bg1"/>
              </a:solidFill>
            </a:endParaRPr>
          </a:p>
        </p:txBody>
      </p:sp>
      <p:pic>
        <p:nvPicPr>
          <p:cNvPr id="8" name="图片 7"/>
          <p:cNvPicPr>
            <a:picLocks noChangeAspect="1"/>
          </p:cNvPicPr>
          <p:nvPr>
            <p:custDataLst>
              <p:tags r:id="rId3"/>
            </p:custDataLst>
          </p:nvPr>
        </p:nvPicPr>
        <p:blipFill>
          <a:blip r:embed="rId4"/>
          <a:stretch>
            <a:fillRect/>
          </a:stretch>
        </p:blipFill>
        <p:spPr>
          <a:xfrm>
            <a:off x="480695" y="1860550"/>
            <a:ext cx="6186805" cy="40100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边缘检测</a:t>
            </a:r>
            <a:endParaRPr lang="zh-CN" altLang="en-US" sz="3200"/>
          </a:p>
        </p:txBody>
      </p:sp>
      <p:sp>
        <p:nvSpPr>
          <p:cNvPr id="3" name="文本框 2"/>
          <p:cNvSpPr txBox="1"/>
          <p:nvPr/>
        </p:nvSpPr>
        <p:spPr>
          <a:xfrm>
            <a:off x="685800" y="1439545"/>
            <a:ext cx="5676900" cy="1377950"/>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000" kern="1200">
                <a:solidFill>
                  <a:sysClr val="window" lastClr="FFFFFF"/>
                </a:solidFill>
                <a:latin typeface="Calibri" panose="020F0502020204030204" charset="0"/>
                <a:ea typeface="宋体" pitchFamily="2" charset="-122"/>
              </a:rPr>
              <a:t>Sobel</a:t>
            </a:r>
            <a:endParaRPr lang="zh-CN" altLang="en-US" sz="20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2000" kern="1200">
                <a:solidFill>
                  <a:sysClr val="window" lastClr="FFFFFF"/>
                </a:solidFill>
                <a:latin typeface="Calibri" panose="020F0502020204030204" charset="0"/>
                <a:ea typeface="宋体" pitchFamily="2" charset="-122"/>
              </a:rPr>
              <a:t>算⼦是⼀个设计好的卷积核，⽤来检测图像中的⽔平和垂直边缘。它的数学表达式如下</a:t>
            </a:r>
            <a:endParaRPr lang="zh-CN" altLang="en-US" sz="2000" kern="1200">
              <a:solidFill>
                <a:sysClr val="window" lastClr="FFFFFF"/>
              </a:solidFill>
              <a:latin typeface="Calibri" panose="020F0502020204030204" charset="0"/>
              <a:ea typeface="宋体" pitchFamily="2" charset="-122"/>
            </a:endParaRPr>
          </a:p>
          <a:p>
            <a:pPr indent="0" algn="l" defTabSz="914400" rtl="0" eaLnBrk="1" latinLnBrk="0" hangingPunct="1">
              <a:lnSpc>
                <a:spcPct val="90000"/>
              </a:lnSpc>
              <a:spcBef>
                <a:spcPts val="1000"/>
              </a:spcBef>
              <a:buFont typeface="Arial" panose="020B0604020202020204" pitchFamily="34" charset="0"/>
              <a:buNone/>
            </a:pPr>
            <a:endParaRPr lang="zh-CN" altLang="en-US" sz="2000" kern="1200">
              <a:solidFill>
                <a:sysClr val="window" lastClr="FFFFFF"/>
              </a:solidFill>
              <a:latin typeface="Calibri" panose="020F0502020204030204" charset="0"/>
              <a:ea typeface="宋体" pitchFamily="2" charset="-122"/>
            </a:endParaRPr>
          </a:p>
        </p:txBody>
      </p:sp>
      <p:pic>
        <p:nvPicPr>
          <p:cNvPr id="4" name="图片 3"/>
          <p:cNvPicPr>
            <a:picLocks noChangeAspect="1"/>
          </p:cNvPicPr>
          <p:nvPr/>
        </p:nvPicPr>
        <p:blipFill>
          <a:blip r:embed="rId1"/>
          <a:stretch>
            <a:fillRect/>
          </a:stretch>
        </p:blipFill>
        <p:spPr>
          <a:xfrm>
            <a:off x="838200" y="3101975"/>
            <a:ext cx="2514600" cy="1952625"/>
          </a:xfrm>
          <a:prstGeom prst="rect">
            <a:avLst/>
          </a:prstGeom>
        </p:spPr>
      </p:pic>
      <p:sp>
        <p:nvSpPr>
          <p:cNvPr id="5" name="文本框 4"/>
          <p:cNvSpPr txBox="1"/>
          <p:nvPr/>
        </p:nvSpPr>
        <p:spPr>
          <a:xfrm>
            <a:off x="6206490" y="1210310"/>
            <a:ext cx="5676900" cy="3237865"/>
          </a:xfrm>
          <a:prstGeom prst="rect">
            <a:avLst/>
          </a:prstGeom>
        </p:spPr>
        <p:txBody>
          <a:bodyPr vert="horz" lIns="91440" tIns="45720" rIns="91440" bIns="45720" rtlCol="0">
            <a:normAutofit fontScale="25000"/>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7200" kern="1200">
                <a:solidFill>
                  <a:sysClr val="window" lastClr="FFFFFF"/>
                </a:solidFill>
                <a:latin typeface="Calibri" panose="020F0502020204030204" charset="0"/>
                <a:ea typeface="宋体" pitchFamily="2" charset="-122"/>
              </a:rPr>
              <a:t>Canny边缘检测是⼀种⾮常流⾏的边缘检测算法，它分为五步</a:t>
            </a:r>
            <a:endParaRPr lang="zh-CN" altLang="en-US" sz="72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7200" kern="1200">
                <a:solidFill>
                  <a:sysClr val="window" lastClr="FFFFFF"/>
                </a:solidFill>
                <a:latin typeface="Calibri" panose="020F0502020204030204" charset="0"/>
                <a:ea typeface="宋体" pitchFamily="2" charset="-122"/>
              </a:rPr>
              <a:t>1. ⽤⾼斯滤波器平滑图像，去除噪声</a:t>
            </a:r>
            <a:endParaRPr lang="zh-CN" altLang="en-US" sz="72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7200" kern="1200">
                <a:solidFill>
                  <a:sysClr val="window" lastClr="FFFFFF"/>
                </a:solidFill>
                <a:latin typeface="Calibri" panose="020F0502020204030204" charset="0"/>
                <a:ea typeface="宋体" pitchFamily="2" charset="-122"/>
              </a:rPr>
              <a:t>2. 计算图像中每个像素点的梯度幅值和⽅向。⾸先通过Sobel算⼦计算⽔平⽅向和竖直⽅向的梯度，计算每个像素点的梯度幅值和⽅向</a:t>
            </a:r>
            <a:endParaRPr lang="zh-CN" altLang="en-US" sz="72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7200" kern="1200">
                <a:solidFill>
                  <a:sysClr val="window" lastClr="FFFFFF"/>
                </a:solidFill>
                <a:latin typeface="Calibri" panose="020F0502020204030204" charset="0"/>
                <a:ea typeface="宋体" pitchFamily="2" charset="-122"/>
              </a:rPr>
              <a:t>3. 应⽤⾮极⼤值抑制(NMS)算法消除边缘检测带来的杂散响应</a:t>
            </a:r>
            <a:endParaRPr lang="zh-CN" altLang="en-US" sz="72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7200" kern="1200">
                <a:solidFill>
                  <a:sysClr val="window" lastClr="FFFFFF"/>
                </a:solidFill>
                <a:latin typeface="Calibri" panose="020F0502020204030204" charset="0"/>
                <a:ea typeface="宋体" pitchFamily="2" charset="-122"/>
              </a:rPr>
              <a:t>4. 应⽤双阈值划分强边缘和弱边缘</a:t>
            </a:r>
            <a:endParaRPr lang="zh-CN" altLang="en-US" sz="7200" kern="1200">
              <a:solidFill>
                <a:sysClr val="window" lastClr="FFFFFF"/>
              </a:solidFill>
              <a:latin typeface="Calibri" panose="020F0502020204030204" charset="0"/>
              <a:ea typeface="宋体" pitchFamily="2" charset="-122"/>
            </a:endParaRPr>
          </a:p>
          <a:p>
            <a:pPr marL="228600" indent="-228600" algn="l" defTabSz="914400" rtl="0" eaLnBrk="1" latinLnBrk="0" hangingPunct="1">
              <a:lnSpc>
                <a:spcPct val="90000"/>
              </a:lnSpc>
              <a:spcBef>
                <a:spcPts val="1000"/>
              </a:spcBef>
              <a:buFont typeface="Arial" panose="020B0604020202020204" pitchFamily="34" charset="0"/>
              <a:buChar char="•"/>
            </a:pPr>
            <a:r>
              <a:rPr lang="zh-CN" altLang="en-US" sz="7200" kern="1200">
                <a:solidFill>
                  <a:sysClr val="window" lastClr="FFFFFF"/>
                </a:solidFill>
                <a:latin typeface="Calibri" panose="020F0502020204030204" charset="0"/>
                <a:ea typeface="宋体" pitchFamily="2" charset="-122"/>
              </a:rPr>
              <a:t>5. 消除孤⽴的弱边缘</a:t>
            </a:r>
            <a:endParaRPr lang="zh-CN" altLang="en-US" sz="7200" kern="1200">
              <a:solidFill>
                <a:sysClr val="window" lastClr="FFFFFF"/>
              </a:solidFill>
              <a:latin typeface="Calibri" panose="020F0502020204030204" charset="0"/>
              <a:ea typeface="宋体"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3" name="文本框 2"/>
          <p:cNvSpPr txBox="1"/>
          <p:nvPr/>
        </p:nvSpPr>
        <p:spPr>
          <a:xfrm>
            <a:off x="2874010" y="2933700"/>
            <a:ext cx="6276975" cy="768350"/>
          </a:xfrm>
          <a:prstGeom prst="rect">
            <a:avLst/>
          </a:prstGeom>
          <a:noFill/>
        </p:spPr>
        <p:txBody>
          <a:bodyPr wrap="square" rtlCol="0">
            <a:spAutoFit/>
          </a:bodyPr>
          <a:p>
            <a:r>
              <a:rPr lang="zh-CN" altLang="en-US" sz="4400">
                <a:solidFill>
                  <a:schemeClr val="bg1"/>
                </a:solidFill>
              </a:rPr>
              <a:t>三维视觉</a:t>
            </a:r>
            <a:r>
              <a:rPr lang="en-US" altLang="zh-CN" sz="4400">
                <a:solidFill>
                  <a:schemeClr val="bg1"/>
                </a:solidFill>
              </a:rPr>
              <a:t>-PNP</a:t>
            </a:r>
            <a:r>
              <a:rPr lang="zh-CN" altLang="en-US" sz="4400">
                <a:solidFill>
                  <a:schemeClr val="bg1"/>
                </a:solidFill>
              </a:rPr>
              <a:t>算法简介</a:t>
            </a:r>
            <a:endParaRPr lang="zh-CN" altLang="en-US" sz="4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3" name="文本框 2"/>
          <p:cNvSpPr txBox="1"/>
          <p:nvPr/>
        </p:nvSpPr>
        <p:spPr>
          <a:xfrm>
            <a:off x="1795780" y="1694815"/>
            <a:ext cx="8599805" cy="2676525"/>
          </a:xfrm>
          <a:prstGeom prst="rect">
            <a:avLst/>
          </a:prstGeom>
          <a:noFill/>
        </p:spPr>
        <p:txBody>
          <a:bodyPr wrap="square" rtlCol="0" anchor="t">
            <a:spAutoFit/>
          </a:bodyPr>
          <a:p>
            <a:r>
              <a:rPr lang="zh-CN" altLang="en-US" sz="2400">
                <a:solidFill>
                  <a:schemeClr val="bg1"/>
                </a:solidFill>
              </a:rPr>
              <a:t>现实世界在空间上有三个维度，而照片却是二维的，图片在成像过程中损失了一个维度：深度。从仿生和类比的角度来说，人眼也能观察到三维信息，这是因为它是一个双目视觉系统。再加上人在基因中、成长过程中习得的大量先验信息，在大部分时候我们都可以轻松辨别物体的远近。为了更好地为下游任</a:t>
            </a:r>
            <a:endParaRPr lang="zh-CN" altLang="en-US" sz="2400">
              <a:solidFill>
                <a:schemeClr val="bg1"/>
              </a:solidFill>
            </a:endParaRPr>
          </a:p>
          <a:p>
            <a:r>
              <a:rPr lang="zh-CN" altLang="en-US" sz="2400">
                <a:solidFill>
                  <a:schemeClr val="bg1"/>
                </a:solidFill>
              </a:rPr>
              <a:t>务服务，我们就要想方设法让计算机也能理解图像中的深度信息。</a:t>
            </a:r>
            <a:endParaRPr lang="zh-CN" altLang="en-US" sz="2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390650" y="1543685"/>
            <a:ext cx="9410700" cy="2971800"/>
          </a:xfrm>
          <a:prstGeom prst="rect">
            <a:avLst/>
          </a:prstGeom>
        </p:spPr>
      </p:pic>
      <p:sp>
        <p:nvSpPr>
          <p:cNvPr id="4" name="文本框 3"/>
          <p:cNvSpPr txBox="1"/>
          <p:nvPr/>
        </p:nvSpPr>
        <p:spPr>
          <a:xfrm>
            <a:off x="852170" y="549910"/>
            <a:ext cx="4064000" cy="583565"/>
          </a:xfrm>
          <a:prstGeom prst="rect">
            <a:avLst/>
          </a:prstGeom>
          <a:noFill/>
        </p:spPr>
        <p:txBody>
          <a:bodyPr wrap="square" rtlCol="0">
            <a:spAutoFit/>
          </a:bodyPr>
          <a:p>
            <a:r>
              <a:rPr lang="zh-CN" altLang="en-US" sz="3200">
                <a:solidFill>
                  <a:schemeClr val="bg1"/>
                </a:solidFill>
              </a:rPr>
              <a:t>什么是</a:t>
            </a:r>
            <a:r>
              <a:rPr lang="en-US" altLang="zh-CN" sz="3200">
                <a:solidFill>
                  <a:schemeClr val="bg1"/>
                </a:solidFill>
              </a:rPr>
              <a:t>PNP</a:t>
            </a:r>
            <a:r>
              <a:rPr lang="zh-CN" altLang="en-US" sz="3200">
                <a:solidFill>
                  <a:schemeClr val="bg1"/>
                </a:solidFill>
              </a:rPr>
              <a:t>算法？</a:t>
            </a:r>
            <a:endParaRPr lang="zh-CN" altLang="en-US" sz="3200">
              <a:solidFill>
                <a:schemeClr val="bg1"/>
              </a:solidFill>
            </a:endParaRPr>
          </a:p>
        </p:txBody>
      </p:sp>
      <p:sp>
        <p:nvSpPr>
          <p:cNvPr id="5" name="文本框 4"/>
          <p:cNvSpPr txBox="1"/>
          <p:nvPr/>
        </p:nvSpPr>
        <p:spPr>
          <a:xfrm>
            <a:off x="1142365" y="4925060"/>
            <a:ext cx="9801860" cy="1690370"/>
          </a:xfrm>
          <a:prstGeom prst="rect">
            <a:avLst/>
          </a:prstGeom>
          <a:noFill/>
        </p:spPr>
        <p:txBody>
          <a:bodyPr wrap="square" rtlCol="0">
            <a:noAutofit/>
          </a:bodyPr>
          <a:p>
            <a:r>
              <a:rPr lang="zh-CN" altLang="en-US" sz="2400">
                <a:solidFill>
                  <a:schemeClr val="bg1"/>
                </a:solidFill>
              </a:rPr>
              <a:t>我们只要获得特征点的世界坐标（三维坐标）、2D坐标（像素坐标）、相机内参矩阵、相机畸变参数矩阵以上四个参数即可以解得相机与标志物之间的外参（旋转矩阵R、平移矩阵T），并以此求得相机的世界坐标（以标志物为世界坐标平面，且原点为标志物已知某一点）。</a:t>
            </a:r>
            <a:endParaRPr lang="zh-CN" altLang="en-US" sz="2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1762125" y="1107440"/>
            <a:ext cx="8667750" cy="5314950"/>
          </a:xfrm>
          <a:prstGeom prst="rect">
            <a:avLst/>
          </a:prstGeom>
        </p:spPr>
      </p:pic>
      <p:sp>
        <p:nvSpPr>
          <p:cNvPr id="3" name="文本框 2"/>
          <p:cNvSpPr txBox="1"/>
          <p:nvPr/>
        </p:nvSpPr>
        <p:spPr>
          <a:xfrm>
            <a:off x="888365" y="462280"/>
            <a:ext cx="4064000" cy="645160"/>
          </a:xfrm>
          <a:prstGeom prst="rect">
            <a:avLst/>
          </a:prstGeom>
          <a:noFill/>
        </p:spPr>
        <p:txBody>
          <a:bodyPr wrap="square" rtlCol="0">
            <a:spAutoFit/>
          </a:bodyPr>
          <a:p>
            <a:r>
              <a:rPr lang="zh-CN" altLang="en-US" sz="3600">
                <a:solidFill>
                  <a:schemeClr val="bg1"/>
                </a:solidFill>
              </a:rPr>
              <a:t>四大坐标系</a:t>
            </a:r>
            <a:endParaRPr lang="zh-CN" altLang="en-US" sz="36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924560" y="1132840"/>
            <a:ext cx="4064000" cy="1476375"/>
          </a:xfrm>
          <a:prstGeom prst="rect">
            <a:avLst/>
          </a:prstGeom>
          <a:noFill/>
        </p:spPr>
        <p:txBody>
          <a:bodyPr wrap="square" rtlCol="0">
            <a:spAutoFit/>
          </a:bodyPr>
          <a:p>
            <a:r>
              <a:rPr lang="zh-CN" altLang="en-US" sz="4000">
                <a:solidFill>
                  <a:schemeClr val="bg1"/>
                </a:solidFill>
              </a:rPr>
              <a:t>准备工作：</a:t>
            </a:r>
            <a:endParaRPr lang="zh-CN" altLang="en-US" sz="4000">
              <a:solidFill>
                <a:schemeClr val="bg1"/>
              </a:solidFill>
            </a:endParaRPr>
          </a:p>
          <a:p>
            <a:endParaRPr lang="zh-CN" altLang="en-US"/>
          </a:p>
          <a:p>
            <a:r>
              <a:rPr lang="zh-CN" altLang="en-US" sz="3200">
                <a:solidFill>
                  <a:schemeClr val="bg1"/>
                </a:solidFill>
              </a:rPr>
              <a:t>相机标定</a:t>
            </a:r>
            <a:endParaRPr lang="zh-CN" altLang="en-US" sz="3200">
              <a:solidFill>
                <a:schemeClr val="bg1"/>
              </a:solidFill>
            </a:endParaRPr>
          </a:p>
        </p:txBody>
      </p:sp>
      <p:sp>
        <p:nvSpPr>
          <p:cNvPr id="3" name="文本框 2"/>
          <p:cNvSpPr txBox="1"/>
          <p:nvPr/>
        </p:nvSpPr>
        <p:spPr>
          <a:xfrm>
            <a:off x="1069340" y="2747645"/>
            <a:ext cx="5932170" cy="460375"/>
          </a:xfrm>
          <a:prstGeom prst="rect">
            <a:avLst/>
          </a:prstGeom>
          <a:noFill/>
        </p:spPr>
        <p:txBody>
          <a:bodyPr wrap="square" rtlCol="0">
            <a:spAutoFit/>
          </a:bodyPr>
          <a:p>
            <a:r>
              <a:rPr lang="zh-CN" altLang="en-US" sz="2400">
                <a:solidFill>
                  <a:schemeClr val="bg1"/>
                </a:solidFill>
              </a:rPr>
              <a:t>为什么需要对摄像头进行标定？</a:t>
            </a:r>
            <a:endParaRPr lang="zh-CN" altLang="en-US" sz="2400">
              <a:solidFill>
                <a:schemeClr val="bg1"/>
              </a:solidFill>
            </a:endParaRPr>
          </a:p>
        </p:txBody>
      </p:sp>
      <p:sp>
        <p:nvSpPr>
          <p:cNvPr id="4" name="文本框 3"/>
          <p:cNvSpPr txBox="1"/>
          <p:nvPr/>
        </p:nvSpPr>
        <p:spPr>
          <a:xfrm>
            <a:off x="1016000" y="3429000"/>
            <a:ext cx="9120505" cy="1568450"/>
          </a:xfrm>
          <a:prstGeom prst="rect">
            <a:avLst/>
          </a:prstGeom>
          <a:noFill/>
        </p:spPr>
        <p:txBody>
          <a:bodyPr wrap="square" rtlCol="0">
            <a:spAutoFit/>
          </a:bodyPr>
          <a:p>
            <a:r>
              <a:rPr lang="zh-CN" altLang="en-US" sz="2400">
                <a:solidFill>
                  <a:schemeClr val="bg1"/>
                </a:solidFill>
              </a:rPr>
              <a:t>相机标定一方面是为了确定相机内参（主要是焦距和像素大小），另一方面就是为了最大程度减小成像畸变带来的影响。另外，由于镜头安装的时候无法保证机械位置完全对齐，这都是标定需要考虑的问题。</a:t>
            </a:r>
            <a:endParaRPr lang="zh-CN" altLang="en-US" sz="2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739140" y="828675"/>
            <a:ext cx="5768340" cy="521970"/>
          </a:xfrm>
          <a:prstGeom prst="rect">
            <a:avLst/>
          </a:prstGeom>
          <a:noFill/>
        </p:spPr>
        <p:txBody>
          <a:bodyPr wrap="square" rtlCol="0">
            <a:spAutoFit/>
          </a:bodyPr>
          <a:p>
            <a:r>
              <a:rPr lang="zh-CN" altLang="en-US" sz="2800">
                <a:solidFill>
                  <a:schemeClr val="bg1"/>
                </a:solidFill>
              </a:rPr>
              <a:t>畸变主要分为径向畸变和切向畸变</a:t>
            </a:r>
            <a:endParaRPr lang="zh-CN" altLang="en-US" sz="2800">
              <a:solidFill>
                <a:schemeClr val="bg1"/>
              </a:solidFill>
            </a:endParaRPr>
          </a:p>
        </p:txBody>
      </p:sp>
      <p:sp>
        <p:nvSpPr>
          <p:cNvPr id="3" name="文本框 2"/>
          <p:cNvSpPr txBox="1"/>
          <p:nvPr/>
        </p:nvSpPr>
        <p:spPr>
          <a:xfrm>
            <a:off x="739140" y="1350645"/>
            <a:ext cx="6059805" cy="2727325"/>
          </a:xfrm>
          <a:prstGeom prst="rect">
            <a:avLst/>
          </a:prstGeom>
          <a:noFill/>
        </p:spPr>
        <p:txBody>
          <a:bodyPr wrap="square" rtlCol="0">
            <a:noAutofit/>
          </a:bodyPr>
          <a:p>
            <a:r>
              <a:rPr lang="zh-CN" altLang="en-US" sz="2000">
                <a:solidFill>
                  <a:schemeClr val="bg1"/>
                </a:solidFill>
              </a:rPr>
              <a:t>径向畸变：沿着透镜半径方向分布的畸变；</a:t>
            </a:r>
            <a:endParaRPr lang="zh-CN" altLang="en-US" sz="2000">
              <a:solidFill>
                <a:schemeClr val="bg1"/>
              </a:solidFill>
            </a:endParaRPr>
          </a:p>
          <a:p>
            <a:r>
              <a:rPr lang="zh-CN" altLang="en-US" sz="2000">
                <a:solidFill>
                  <a:schemeClr val="bg1"/>
                </a:solidFill>
              </a:rPr>
              <a:t>产生原因：是由透镜质量引起的，光线在远离透镜中心的地方比靠近中心的地方更加弯曲。</a:t>
            </a:r>
            <a:endParaRPr lang="zh-CN" altLang="en-US" sz="2000">
              <a:solidFill>
                <a:schemeClr val="bg1"/>
              </a:solidFill>
            </a:endParaRPr>
          </a:p>
          <a:p>
            <a:r>
              <a:rPr lang="zh-CN" altLang="en-US" sz="2000">
                <a:solidFill>
                  <a:schemeClr val="bg1"/>
                </a:solidFill>
              </a:rPr>
              <a:t>径向畸变主要包括桶形畸变和枕形畸变两种。</a:t>
            </a:r>
            <a:endParaRPr lang="zh-CN" altLang="en-US" sz="2000">
              <a:solidFill>
                <a:schemeClr val="bg1"/>
              </a:solidFill>
            </a:endParaRPr>
          </a:p>
        </p:txBody>
      </p:sp>
      <p:pic>
        <p:nvPicPr>
          <p:cNvPr id="4" name="图片 3"/>
          <p:cNvPicPr>
            <a:picLocks noChangeAspect="1"/>
          </p:cNvPicPr>
          <p:nvPr>
            <p:custDataLst>
              <p:tags r:id="rId3"/>
            </p:custDataLst>
          </p:nvPr>
        </p:nvPicPr>
        <p:blipFill>
          <a:blip r:embed="rId4"/>
          <a:stretch>
            <a:fillRect/>
          </a:stretch>
        </p:blipFill>
        <p:spPr>
          <a:xfrm>
            <a:off x="1431925" y="2847975"/>
            <a:ext cx="9722485" cy="35261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847725" y="1242060"/>
            <a:ext cx="8254365" cy="2061210"/>
          </a:xfrm>
          <a:prstGeom prst="rect">
            <a:avLst/>
          </a:prstGeom>
          <a:noFill/>
        </p:spPr>
        <p:txBody>
          <a:bodyPr wrap="square" rtlCol="0">
            <a:spAutoFit/>
          </a:bodyPr>
          <a:p>
            <a:r>
              <a:rPr lang="zh-CN" altLang="en-US" sz="2400">
                <a:solidFill>
                  <a:schemeClr val="bg1"/>
                </a:solidFill>
              </a:rPr>
              <a:t>切向畸变：切向畸变是由于透镜本身与相机传感器平面（像平面）或图像平面不平行而产生的。</a:t>
            </a:r>
            <a:endParaRPr lang="zh-CN" altLang="en-US" sz="2400">
              <a:solidFill>
                <a:schemeClr val="bg1"/>
              </a:solidFill>
            </a:endParaRPr>
          </a:p>
          <a:p>
            <a:r>
              <a:rPr lang="zh-CN" altLang="en-US" sz="2400">
                <a:solidFill>
                  <a:schemeClr val="bg1"/>
                </a:solidFill>
              </a:rPr>
              <a:t> 切向畸变主要发生在相机传感器和镜头不平行的情况下；因为有夹角，所以光透过镜头传到图像传感器上时，成像位置发生了变化</a:t>
            </a:r>
            <a:r>
              <a:rPr lang="zh-CN" altLang="en-US" sz="3200">
                <a:solidFill>
                  <a:schemeClr val="bg1"/>
                </a:solidFill>
              </a:rPr>
              <a:t>。</a:t>
            </a:r>
            <a:endParaRPr lang="zh-CN" altLang="en-US" sz="3200">
              <a:solidFill>
                <a:schemeClr val="bg1"/>
              </a:solidFill>
            </a:endParaRPr>
          </a:p>
        </p:txBody>
      </p:sp>
      <p:pic>
        <p:nvPicPr>
          <p:cNvPr id="3" name="图片 2"/>
          <p:cNvPicPr>
            <a:picLocks noChangeAspect="1"/>
          </p:cNvPicPr>
          <p:nvPr>
            <p:custDataLst>
              <p:tags r:id="rId3"/>
            </p:custDataLst>
          </p:nvPr>
        </p:nvPicPr>
        <p:blipFill>
          <a:blip r:embed="rId4"/>
          <a:stretch>
            <a:fillRect/>
          </a:stretch>
        </p:blipFill>
        <p:spPr>
          <a:xfrm>
            <a:off x="3072130" y="2820670"/>
            <a:ext cx="7025640" cy="3721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956310" y="828675"/>
            <a:ext cx="5605780" cy="583565"/>
          </a:xfrm>
          <a:prstGeom prst="rect">
            <a:avLst/>
          </a:prstGeom>
          <a:noFill/>
        </p:spPr>
        <p:txBody>
          <a:bodyPr wrap="square" rtlCol="0">
            <a:spAutoFit/>
          </a:bodyPr>
          <a:p>
            <a:r>
              <a:rPr lang="zh-CN" altLang="en-US" sz="3200">
                <a:solidFill>
                  <a:schemeClr val="bg1"/>
                </a:solidFill>
              </a:rPr>
              <a:t> PnP需要知道的已知量</a:t>
            </a:r>
            <a:endParaRPr lang="zh-CN" altLang="en-US" sz="3200">
              <a:solidFill>
                <a:schemeClr val="bg1"/>
              </a:solidFill>
            </a:endParaRPr>
          </a:p>
        </p:txBody>
      </p:sp>
      <p:pic>
        <p:nvPicPr>
          <p:cNvPr id="4" name="图片 3"/>
          <p:cNvPicPr>
            <a:picLocks noChangeAspect="1"/>
          </p:cNvPicPr>
          <p:nvPr>
            <p:custDataLst>
              <p:tags r:id="rId3"/>
            </p:custDataLst>
          </p:nvPr>
        </p:nvPicPr>
        <p:blipFill>
          <a:blip r:embed="rId4"/>
          <a:stretch>
            <a:fillRect/>
          </a:stretch>
        </p:blipFill>
        <p:spPr>
          <a:xfrm>
            <a:off x="720725" y="1412240"/>
            <a:ext cx="6076950" cy="1924050"/>
          </a:xfrm>
          <a:prstGeom prst="rect">
            <a:avLst/>
          </a:prstGeom>
        </p:spPr>
      </p:pic>
      <p:sp>
        <p:nvSpPr>
          <p:cNvPr id="6" name="文本框 5"/>
          <p:cNvSpPr txBox="1"/>
          <p:nvPr/>
        </p:nvSpPr>
        <p:spPr>
          <a:xfrm>
            <a:off x="7707630" y="890270"/>
            <a:ext cx="4064000" cy="583565"/>
          </a:xfrm>
          <a:prstGeom prst="rect">
            <a:avLst/>
          </a:prstGeom>
          <a:noFill/>
        </p:spPr>
        <p:txBody>
          <a:bodyPr wrap="square" rtlCol="0">
            <a:spAutoFit/>
          </a:bodyPr>
          <a:p>
            <a:r>
              <a:rPr lang="zh-CN" altLang="en-US" sz="3200">
                <a:solidFill>
                  <a:schemeClr val="bg1"/>
                </a:solidFill>
              </a:rPr>
              <a:t>PnP求</a:t>
            </a:r>
            <a:r>
              <a:rPr lang="zh-CN" altLang="en-US" sz="3200">
                <a:solidFill>
                  <a:schemeClr val="bg1"/>
                </a:solidFill>
              </a:rPr>
              <a:t>解的未知量</a:t>
            </a:r>
            <a:endParaRPr lang="zh-CN" altLang="en-US" sz="3200">
              <a:solidFill>
                <a:schemeClr val="bg1"/>
              </a:solidFill>
            </a:endParaRPr>
          </a:p>
        </p:txBody>
      </p:sp>
      <p:pic>
        <p:nvPicPr>
          <p:cNvPr id="8" name="图片 7"/>
          <p:cNvPicPr>
            <a:picLocks noChangeAspect="1"/>
          </p:cNvPicPr>
          <p:nvPr>
            <p:custDataLst>
              <p:tags r:id="rId5"/>
            </p:custDataLst>
          </p:nvPr>
        </p:nvPicPr>
        <p:blipFill>
          <a:blip r:embed="rId6"/>
          <a:stretch>
            <a:fillRect/>
          </a:stretch>
        </p:blipFill>
        <p:spPr>
          <a:xfrm>
            <a:off x="7167880" y="1780540"/>
            <a:ext cx="5143500" cy="1186815"/>
          </a:xfrm>
          <a:prstGeom prst="rect">
            <a:avLst/>
          </a:prstGeom>
        </p:spPr>
      </p:pic>
      <p:pic>
        <p:nvPicPr>
          <p:cNvPr id="3" name="图片 2"/>
          <p:cNvPicPr>
            <a:picLocks noChangeAspect="1"/>
          </p:cNvPicPr>
          <p:nvPr/>
        </p:nvPicPr>
        <p:blipFill>
          <a:blip r:embed="rId7"/>
          <a:stretch>
            <a:fillRect/>
          </a:stretch>
        </p:blipFill>
        <p:spPr>
          <a:xfrm>
            <a:off x="5510530" y="3729990"/>
            <a:ext cx="6322695" cy="2916555"/>
          </a:xfrm>
          <a:prstGeom prst="rect">
            <a:avLst/>
          </a:prstGeom>
        </p:spPr>
      </p:pic>
      <p:sp>
        <p:nvSpPr>
          <p:cNvPr id="12" name="文本框 11"/>
          <p:cNvSpPr txBox="1"/>
          <p:nvPr/>
        </p:nvSpPr>
        <p:spPr>
          <a:xfrm>
            <a:off x="308610" y="3562350"/>
            <a:ext cx="4917440" cy="2957195"/>
          </a:xfrm>
          <a:prstGeom prst="rect">
            <a:avLst/>
          </a:prstGeom>
        </p:spPr>
        <p:txBody>
          <a:bodyPr vert="horz" lIns="91440" tIns="45720" rIns="91440" bIns="45720" rtlCol="0">
            <a:normAutofit/>
            <a:extLst>
              <a:ext uri="{4A0BC546-FE56-4ADE-93B0-CB8AF2F6F144}">
                <wpsdc:textFrameExt xmlns:wpsdc="http://www.wps.cn/officeDocument/2022/drawingmlCustomData" type="text"/>
              </a:ext>
            </a:extLst>
          </a:bodyPr>
          <a:p>
            <a:pPr marL="228600" indent="-228600" algn="l" defTabSz="914400" rtl="0" eaLnBrk="1" latinLnBrk="0" hangingPunct="1">
              <a:lnSpc>
                <a:spcPct val="90000"/>
              </a:lnSpc>
              <a:spcBef>
                <a:spcPts val="1000"/>
              </a:spcBef>
              <a:buFont typeface="Arial" panose="020B0604020202020204" pitchFamily="34" charset="0"/>
              <a:buChar char="•"/>
            </a:pPr>
            <a:r>
              <a:rPr lang="zh-CN" altLang="en-US" sz="2400" kern="1200">
                <a:solidFill>
                  <a:sysClr val="window" lastClr="FFFFFF"/>
                </a:solidFill>
                <a:latin typeface="Calibri" panose="020F0502020204030204" charset="0"/>
                <a:ea typeface="宋体" pitchFamily="2" charset="-122"/>
              </a:rPr>
              <a:t>右图是三维物体投影到像素坐标系的全过程。虽然我们丢失了深度信息，但这个投影过程是一个几何约束，对物体的先验信息又是一个约束，所以能反推出深度，如下图</a:t>
            </a:r>
            <a:r>
              <a:rPr lang="zh-CN" altLang="en-US" sz="2400" kern="1200">
                <a:solidFill>
                  <a:sysClr val="window" lastClr="FFFFFF"/>
                </a:solidFill>
                <a:latin typeface="Calibri" panose="020F0502020204030204" charset="0"/>
                <a:ea typeface="宋体" pitchFamily="2" charset="-122"/>
              </a:rPr>
              <a:t>所示</a:t>
            </a:r>
            <a:endParaRPr lang="zh-CN" altLang="en-US" sz="2400" kern="1200">
              <a:solidFill>
                <a:sysClr val="window" lastClr="FFFFFF"/>
              </a:solidFill>
              <a:latin typeface="Calibri" panose="020F0502020204030204"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161540" y="4220210"/>
            <a:ext cx="7684770" cy="3044825"/>
          </a:xfrm>
          <a:prstGeom prst="rect">
            <a:avLst/>
          </a:prstGeom>
          <a:noFill/>
        </p:spPr>
        <p:txBody>
          <a:bodyPr wrap="square" rtlCol="0" anchor="t">
            <a:noAutofit/>
          </a:bodyPr>
          <a:p>
            <a:r>
              <a:rPr lang="zh-CN" altLang="en-US">
                <a:solidFill>
                  <a:schemeClr val="bg1"/>
                </a:solidFill>
              </a:rPr>
              <a:t>经典的P3P问题可以转化为一个四面体形状的确定问题，如图所示。即已知条件为知道控制点 A,B,C的位置以及在摄像机中的投影坐标求棱长边a,b,c的问题。通过余弦定理，再利用点云配准方法可以得到摄像机坐标系相对于世界坐标系的平移以及旋转。图中的P点相当于相机的光心，A,B,C相当于世界坐标系下已知相对位置关系的三个控制点，A’,B’,C’为图像坐标系中对应的三个点。PNP解决的是纯数学问题，数学证明在此处省略。</a:t>
            </a:r>
            <a:endParaRPr lang="zh-CN" altLang="en-US">
              <a:solidFill>
                <a:schemeClr val="bg1"/>
              </a:solidFill>
            </a:endParaRPr>
          </a:p>
          <a:p>
            <a:endParaRPr lang="zh-CN" altLang="en-US">
              <a:solidFill>
                <a:schemeClr val="bg1"/>
              </a:solidFill>
            </a:endParaRPr>
          </a:p>
        </p:txBody>
      </p:sp>
      <p:pic>
        <p:nvPicPr>
          <p:cNvPr id="3" name="图片 2"/>
          <p:cNvPicPr>
            <a:picLocks noChangeAspect="1"/>
          </p:cNvPicPr>
          <p:nvPr>
            <p:custDataLst>
              <p:tags r:id="rId3"/>
            </p:custDataLst>
          </p:nvPr>
        </p:nvPicPr>
        <p:blipFill>
          <a:blip r:embed="rId4"/>
          <a:stretch>
            <a:fillRect/>
          </a:stretch>
        </p:blipFill>
        <p:spPr>
          <a:xfrm>
            <a:off x="3355340" y="852170"/>
            <a:ext cx="4714240" cy="33693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542925" y="5231130"/>
            <a:ext cx="10246360" cy="1550035"/>
          </a:xfrm>
          <a:prstGeom prst="rect">
            <a:avLst/>
          </a:prstGeom>
          <a:noFill/>
        </p:spPr>
        <p:txBody>
          <a:bodyPr wrap="square" rtlCol="0">
            <a:noAutofit/>
          </a:bodyPr>
          <a:p>
            <a:r>
              <a:rPr lang="zh-CN" altLang="en-US">
                <a:solidFill>
                  <a:schemeClr val="bg1"/>
                </a:solidFill>
              </a:rPr>
              <a:t>P3P 也存在着一些问题：</a:t>
            </a:r>
            <a:endParaRPr lang="zh-CN" altLang="en-US">
              <a:solidFill>
                <a:schemeClr val="bg1"/>
              </a:solidFill>
            </a:endParaRPr>
          </a:p>
          <a:p>
            <a:r>
              <a:rPr lang="zh-CN" altLang="en-US">
                <a:solidFill>
                  <a:schemeClr val="bg1"/>
                </a:solidFill>
              </a:rPr>
              <a:t>P3P 只利用三个点的信息。当给定的配对点多于 3 组时,难以利用更多的信息。</a:t>
            </a:r>
            <a:endParaRPr lang="zh-CN" altLang="en-US">
              <a:solidFill>
                <a:schemeClr val="bg1"/>
              </a:solidFill>
            </a:endParaRPr>
          </a:p>
          <a:p>
            <a:r>
              <a:rPr lang="zh-CN" altLang="en-US">
                <a:solidFill>
                  <a:schemeClr val="bg1"/>
                </a:solidFill>
              </a:rPr>
              <a:t>如果 3D 点或 2D 点受噪声影响,或者存在误匹配,则算法失效。</a:t>
            </a:r>
            <a:endParaRPr lang="zh-CN" altLang="en-US">
              <a:solidFill>
                <a:schemeClr val="bg1"/>
              </a:solidFill>
            </a:endParaRPr>
          </a:p>
          <a:p>
            <a:r>
              <a:rPr lang="zh-CN" altLang="en-US">
                <a:solidFill>
                  <a:schemeClr val="bg1"/>
                </a:solidFill>
              </a:rPr>
              <a:t>所以后续人们还提出了许多别的方法，如 EPnP、 UPnP 等。它们利用更多的信息，而且用迭代的方式对相机位姿进行优化,以尽可能地消除噪声的影响。</a:t>
            </a:r>
            <a:endParaRPr lang="zh-CN" altLang="en-US">
              <a:solidFill>
                <a:schemeClr val="bg1"/>
              </a:solidFill>
            </a:endParaRPr>
          </a:p>
          <a:p>
            <a:endParaRPr lang="zh-CN" altLang="en-US">
              <a:solidFill>
                <a:schemeClr val="bg1"/>
              </a:solidFill>
            </a:endParaRPr>
          </a:p>
        </p:txBody>
      </p:sp>
      <p:pic>
        <p:nvPicPr>
          <p:cNvPr id="3" name="图片 2"/>
          <p:cNvPicPr>
            <a:picLocks noChangeAspect="1"/>
          </p:cNvPicPr>
          <p:nvPr>
            <p:custDataLst>
              <p:tags r:id="rId3"/>
            </p:custDataLst>
          </p:nvPr>
        </p:nvPicPr>
        <p:blipFill>
          <a:blip r:embed="rId4"/>
          <a:stretch>
            <a:fillRect/>
          </a:stretch>
        </p:blipFill>
        <p:spPr>
          <a:xfrm>
            <a:off x="3556000" y="2834005"/>
            <a:ext cx="3757930" cy="2681605"/>
          </a:xfrm>
          <a:prstGeom prst="rect">
            <a:avLst/>
          </a:prstGeom>
        </p:spPr>
      </p:pic>
      <p:sp>
        <p:nvSpPr>
          <p:cNvPr id="4" name="文本框 3"/>
          <p:cNvSpPr txBox="1"/>
          <p:nvPr/>
        </p:nvSpPr>
        <p:spPr>
          <a:xfrm>
            <a:off x="1124585" y="3944620"/>
            <a:ext cx="4064000" cy="460375"/>
          </a:xfrm>
          <a:prstGeom prst="rect">
            <a:avLst/>
          </a:prstGeom>
          <a:noFill/>
        </p:spPr>
        <p:txBody>
          <a:bodyPr wrap="square" rtlCol="0">
            <a:spAutoFit/>
          </a:bodyPr>
          <a:p>
            <a:r>
              <a:rPr lang="zh-CN" altLang="en-US" sz="2400">
                <a:solidFill>
                  <a:schemeClr val="bg1"/>
                </a:solidFill>
              </a:rPr>
              <a:t>解算出的信息</a:t>
            </a:r>
            <a:endParaRPr lang="zh-CN" altLang="en-US" sz="2400">
              <a:solidFill>
                <a:schemeClr val="bg1"/>
              </a:solidFill>
            </a:endParaRPr>
          </a:p>
        </p:txBody>
      </p:sp>
      <p:pic>
        <p:nvPicPr>
          <p:cNvPr id="5" name="图片 4"/>
          <p:cNvPicPr>
            <a:picLocks noChangeAspect="1"/>
          </p:cNvPicPr>
          <p:nvPr>
            <p:custDataLst>
              <p:tags r:id="rId5"/>
            </p:custDataLst>
          </p:nvPr>
        </p:nvPicPr>
        <p:blipFill>
          <a:blip r:embed="rId6"/>
          <a:stretch>
            <a:fillRect/>
          </a:stretch>
        </p:blipFill>
        <p:spPr>
          <a:xfrm>
            <a:off x="804545" y="1308100"/>
            <a:ext cx="9474200" cy="1184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目标检测</a:t>
            </a:r>
            <a:endParaRPr lang="zh-CN" altLang="en-US" sz="3200" dirty="0">
              <a:solidFill>
                <a:schemeClr val="bg1"/>
              </a:solidFill>
              <a:cs typeface="+mn-ea"/>
              <a:sym typeface="+mn-lt"/>
            </a:endParaRPr>
          </a:p>
        </p:txBody>
      </p:sp>
      <p:sp>
        <p:nvSpPr>
          <p:cNvPr id="6" name="文本框 5"/>
          <p:cNvSpPr txBox="1"/>
          <p:nvPr/>
        </p:nvSpPr>
        <p:spPr>
          <a:xfrm>
            <a:off x="269965" y="739915"/>
            <a:ext cx="6096000" cy="6185535"/>
          </a:xfrm>
          <a:prstGeom prst="rect">
            <a:avLst/>
          </a:prstGeom>
          <a:noFill/>
        </p:spPr>
        <p:txBody>
          <a:bodyPr wrap="square">
            <a:spAutoFit/>
          </a:bodyPr>
          <a:lstStyle/>
          <a:p>
            <a:pPr indent="647700">
              <a:lnSpc>
                <a:spcPct val="150000"/>
              </a:lnSpc>
            </a:pPr>
            <a:r>
              <a:rPr lang="zh-CN" altLang="en-US" sz="2400" dirty="0">
                <a:solidFill>
                  <a:schemeClr val="bg1"/>
                </a:solidFill>
                <a:latin typeface="宋体" pitchFamily="2" charset="-122"/>
                <a:ea typeface="宋体" pitchFamily="2" charset="-122"/>
                <a:cs typeface="宋体" pitchFamily="2" charset="-122"/>
              </a:rPr>
              <a:t>这是</a:t>
            </a:r>
            <a:r>
              <a:rPr lang="en-US" altLang="zh-CN" sz="2400" dirty="0" err="1">
                <a:solidFill>
                  <a:schemeClr val="bg1"/>
                </a:solidFill>
                <a:latin typeface="宋体" pitchFamily="2" charset="-122"/>
                <a:ea typeface="宋体" pitchFamily="2" charset="-122"/>
                <a:cs typeface="宋体" pitchFamily="2" charset="-122"/>
              </a:rPr>
              <a:t>Robomater</a:t>
            </a:r>
            <a:r>
              <a:rPr lang="zh-CN" altLang="en-US" sz="2400" dirty="0">
                <a:solidFill>
                  <a:schemeClr val="bg1"/>
                </a:solidFill>
                <a:latin typeface="宋体" pitchFamily="2" charset="-122"/>
                <a:ea typeface="宋体" pitchFamily="2" charset="-122"/>
                <a:cs typeface="宋体" pitchFamily="2" charset="-122"/>
              </a:rPr>
              <a:t>赛场上最常用的算法。目标检测和图像识别在一些方面有些类似，</a:t>
            </a:r>
            <a:r>
              <a:rPr lang="zh-CN" altLang="en-US" sz="2400" b="1" u="sng" dirty="0">
                <a:solidFill>
                  <a:schemeClr val="bg1"/>
                </a:solidFill>
                <a:latin typeface="宋体" pitchFamily="2" charset="-122"/>
                <a:ea typeface="宋体" pitchFamily="2" charset="-122"/>
                <a:cs typeface="宋体" pitchFamily="2" charset="-122"/>
              </a:rPr>
              <a:t>图像识别</a:t>
            </a:r>
            <a:r>
              <a:rPr lang="zh-CN" altLang="en-US" sz="2400" dirty="0">
                <a:solidFill>
                  <a:schemeClr val="bg1"/>
                </a:solidFill>
                <a:latin typeface="宋体" pitchFamily="2" charset="-122"/>
                <a:ea typeface="宋体" pitchFamily="2" charset="-122"/>
                <a:cs typeface="宋体" pitchFamily="2" charset="-122"/>
              </a:rPr>
              <a:t>主要是对图像进行分类，让计算机判断这张图“有什么”或者”是什么“，而</a:t>
            </a:r>
            <a:r>
              <a:rPr lang="zh-CN" altLang="en-US" sz="2400" b="1" u="sng" dirty="0">
                <a:solidFill>
                  <a:schemeClr val="bg1"/>
                </a:solidFill>
                <a:latin typeface="宋体" pitchFamily="2" charset="-122"/>
                <a:ea typeface="宋体" pitchFamily="2" charset="-122"/>
                <a:cs typeface="宋体" pitchFamily="2" charset="-122"/>
              </a:rPr>
              <a:t>目标检测</a:t>
            </a:r>
            <a:r>
              <a:rPr lang="zh-CN" altLang="en-US" sz="2400" dirty="0">
                <a:solidFill>
                  <a:schemeClr val="bg1"/>
                </a:solidFill>
                <a:latin typeface="宋体" pitchFamily="2" charset="-122"/>
                <a:ea typeface="宋体" pitchFamily="2" charset="-122"/>
                <a:cs typeface="宋体" pitchFamily="2" charset="-122"/>
              </a:rPr>
              <a:t>不仅要判断图片中是否有对应的物体，还要输出关于这些物体”在哪儿“的信息。和目标检测相似的“目标定位”的任务则是对图像中的一个特定物体进行定位，而目标检测算法中，图像内含有的对象种类和数量都是未知的。目标检测的输出是目标物体的位置和类别。</a:t>
            </a:r>
            <a:endParaRPr lang="zh-CN" altLang="en-US" sz="2400" dirty="0">
              <a:solidFill>
                <a:schemeClr val="bg1"/>
              </a:solidFill>
              <a:latin typeface="宋体" pitchFamily="2" charset="-122"/>
              <a:ea typeface="宋体" pitchFamily="2" charset="-122"/>
              <a:cs typeface="宋体" pitchFamily="2" charset="-122"/>
            </a:endParaRPr>
          </a:p>
        </p:txBody>
      </p:sp>
      <p:pic>
        <p:nvPicPr>
          <p:cNvPr id="10" name="图片 9"/>
          <p:cNvPicPr>
            <a:picLocks noChangeAspect="1"/>
          </p:cNvPicPr>
          <p:nvPr/>
        </p:nvPicPr>
        <p:blipFill>
          <a:blip r:embed="rId3"/>
          <a:stretch>
            <a:fillRect/>
          </a:stretch>
        </p:blipFill>
        <p:spPr>
          <a:xfrm>
            <a:off x="6658664" y="825466"/>
            <a:ext cx="4523930" cy="3441332"/>
          </a:xfrm>
          <a:prstGeom prst="rect">
            <a:avLst/>
          </a:prstGeom>
        </p:spPr>
      </p:pic>
      <p:pic>
        <p:nvPicPr>
          <p:cNvPr id="11" name="图片 10"/>
          <p:cNvPicPr>
            <a:picLocks noChangeAspect="1"/>
          </p:cNvPicPr>
          <p:nvPr/>
        </p:nvPicPr>
        <p:blipFill>
          <a:blip r:embed="rId4"/>
          <a:stretch>
            <a:fillRect/>
          </a:stretch>
        </p:blipFill>
        <p:spPr>
          <a:xfrm>
            <a:off x="6365965" y="4736350"/>
            <a:ext cx="5817770" cy="14897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806065" y="2743200"/>
            <a:ext cx="7098665" cy="2064385"/>
          </a:xfrm>
          <a:prstGeom prst="rect">
            <a:avLst/>
          </a:prstGeom>
          <a:noFill/>
        </p:spPr>
        <p:txBody>
          <a:bodyPr wrap="square" rtlCol="0">
            <a:noAutofit/>
          </a:bodyPr>
          <a:lstStyle/>
          <a:p>
            <a:r>
              <a:rPr lang="zh-CN" altLang="en-US" sz="6000" dirty="0">
                <a:solidFill>
                  <a:schemeClr val="bg1"/>
                </a:solidFill>
                <a:cs typeface="+mn-ea"/>
                <a:sym typeface="+mn-lt"/>
              </a:rPr>
              <a:t>传统装甲板识别流程</a:t>
            </a:r>
            <a:endParaRPr lang="zh-CN" altLang="en-US" sz="60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575310" y="1819275"/>
            <a:ext cx="3133725" cy="3286125"/>
          </a:xfrm>
          <a:prstGeom prst="rect">
            <a:avLst/>
          </a:prstGeom>
        </p:spPr>
      </p:pic>
      <p:pic>
        <p:nvPicPr>
          <p:cNvPr id="100" name="图片 99"/>
          <p:cNvPicPr/>
          <p:nvPr>
            <p:custDataLst>
              <p:tags r:id="rId5"/>
            </p:custDataLst>
          </p:nvPr>
        </p:nvPicPr>
        <p:blipFill>
          <a:blip r:embed="rId6"/>
          <a:stretch>
            <a:fillRect/>
          </a:stretch>
        </p:blipFill>
        <p:spPr>
          <a:xfrm>
            <a:off x="5650865" y="2792095"/>
            <a:ext cx="5044440" cy="3738245"/>
          </a:xfrm>
          <a:prstGeom prst="rect">
            <a:avLst/>
          </a:prstGeom>
          <a:noFill/>
          <a:ln w="9525">
            <a:noFill/>
          </a:ln>
        </p:spPr>
      </p:pic>
      <p:sp>
        <p:nvSpPr>
          <p:cNvPr id="4" name="文本框 3"/>
          <p:cNvSpPr txBox="1"/>
          <p:nvPr/>
        </p:nvSpPr>
        <p:spPr>
          <a:xfrm>
            <a:off x="575310" y="852170"/>
            <a:ext cx="6867525" cy="967105"/>
          </a:xfrm>
          <a:prstGeom prst="rect">
            <a:avLst/>
          </a:prstGeom>
          <a:noFill/>
        </p:spPr>
        <p:txBody>
          <a:bodyPr wrap="square" rtlCol="0">
            <a:noAutofit/>
          </a:bodyPr>
          <a:p>
            <a:r>
              <a:rPr lang="zh-CN" altLang="en-US">
                <a:solidFill>
                  <a:schemeClr val="bg1"/>
                </a:solidFill>
              </a:rPr>
              <a:t>这是以一种手工设计特征为主的方法。仔细观察装甲板，显然装甲板上并没有什么丰富的纹理和细节，不适合使用梯度特征检测；</a:t>
            </a:r>
            <a:endParaRPr lang="zh-CN" altLang="en-US">
              <a:solidFill>
                <a:schemeClr val="bg1"/>
              </a:solidFill>
            </a:endParaRPr>
          </a:p>
          <a:p>
            <a:endParaRPr lang="zh-CN" altLang="en-US">
              <a:solidFill>
                <a:schemeClr val="bg1"/>
              </a:solidFill>
            </a:endParaRPr>
          </a:p>
        </p:txBody>
      </p:sp>
      <p:sp>
        <p:nvSpPr>
          <p:cNvPr id="5" name="文本框 4"/>
          <p:cNvSpPr txBox="1"/>
          <p:nvPr/>
        </p:nvSpPr>
        <p:spPr>
          <a:xfrm>
            <a:off x="4596765" y="1819275"/>
            <a:ext cx="7287895" cy="1508760"/>
          </a:xfrm>
          <a:prstGeom prst="rect">
            <a:avLst/>
          </a:prstGeom>
          <a:noFill/>
        </p:spPr>
        <p:txBody>
          <a:bodyPr wrap="square" rtlCol="0">
            <a:noAutofit/>
          </a:bodyPr>
          <a:p>
            <a:r>
              <a:rPr lang="zh-CN" altLang="en-US">
                <a:solidFill>
                  <a:schemeClr val="bg1"/>
                </a:solidFill>
                <a:sym typeface="+mn-ea"/>
              </a:rPr>
              <a:t>我们会发现其最显著的特征就是两侧发红/蓝色光的灯条和装甲板中央的数字贴纸（哨兵/前哨战/基地则是图案贴纸），表现为大块的色块，非常适合形态学操作。因此考虑检测成对的灯条+这对灯条中的数字。</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3" name="文本框 2"/>
          <p:cNvSpPr txBox="1"/>
          <p:nvPr/>
        </p:nvSpPr>
        <p:spPr>
          <a:xfrm>
            <a:off x="798195" y="516255"/>
            <a:ext cx="4064000" cy="583565"/>
          </a:xfrm>
          <a:prstGeom prst="rect">
            <a:avLst/>
          </a:prstGeom>
          <a:noFill/>
        </p:spPr>
        <p:txBody>
          <a:bodyPr wrap="square" rtlCol="0">
            <a:spAutoFit/>
          </a:bodyPr>
          <a:p>
            <a:r>
              <a:rPr lang="zh-CN" altLang="en-US" sz="3200">
                <a:solidFill>
                  <a:schemeClr val="bg1"/>
                </a:solidFill>
              </a:rPr>
              <a:t> 预处理</a:t>
            </a:r>
            <a:endParaRPr lang="zh-CN" altLang="en-US" sz="3200">
              <a:solidFill>
                <a:schemeClr val="bg1"/>
              </a:solidFill>
            </a:endParaRPr>
          </a:p>
        </p:txBody>
      </p:sp>
      <p:pic>
        <p:nvPicPr>
          <p:cNvPr id="4" name="图片 3" descr="11"/>
          <p:cNvPicPr>
            <a:picLocks noChangeAspect="1"/>
          </p:cNvPicPr>
          <p:nvPr/>
        </p:nvPicPr>
        <p:blipFill>
          <a:blip r:embed="rId3"/>
          <a:stretch>
            <a:fillRect/>
          </a:stretch>
        </p:blipFill>
        <p:spPr>
          <a:xfrm>
            <a:off x="993775" y="4465320"/>
            <a:ext cx="3672840" cy="2209165"/>
          </a:xfrm>
          <a:prstGeom prst="rect">
            <a:avLst/>
          </a:prstGeom>
        </p:spPr>
      </p:pic>
      <p:pic>
        <p:nvPicPr>
          <p:cNvPr id="5" name="图片 4" descr="1"/>
          <p:cNvPicPr>
            <a:picLocks noChangeAspect="1"/>
          </p:cNvPicPr>
          <p:nvPr/>
        </p:nvPicPr>
        <p:blipFill>
          <a:blip r:embed="rId4"/>
          <a:stretch>
            <a:fillRect/>
          </a:stretch>
        </p:blipFill>
        <p:spPr>
          <a:xfrm>
            <a:off x="6155690" y="4454525"/>
            <a:ext cx="3690620" cy="2219960"/>
          </a:xfrm>
          <a:prstGeom prst="rect">
            <a:avLst/>
          </a:prstGeom>
        </p:spPr>
      </p:pic>
      <p:pic>
        <p:nvPicPr>
          <p:cNvPr id="12" name="图片 11"/>
          <p:cNvPicPr>
            <a:picLocks noChangeAspect="1"/>
          </p:cNvPicPr>
          <p:nvPr>
            <p:custDataLst>
              <p:tags r:id="rId5"/>
            </p:custDataLst>
          </p:nvPr>
        </p:nvPicPr>
        <p:blipFill>
          <a:blip r:embed="rId6"/>
          <a:stretch>
            <a:fillRect/>
          </a:stretch>
        </p:blipFill>
        <p:spPr>
          <a:xfrm>
            <a:off x="891540" y="2792095"/>
            <a:ext cx="3970655" cy="1273810"/>
          </a:xfrm>
          <a:prstGeom prst="rect">
            <a:avLst/>
          </a:prstGeom>
        </p:spPr>
      </p:pic>
      <p:sp>
        <p:nvSpPr>
          <p:cNvPr id="13" name="文本框 12"/>
          <p:cNvSpPr txBox="1"/>
          <p:nvPr/>
        </p:nvSpPr>
        <p:spPr>
          <a:xfrm>
            <a:off x="798195" y="1037590"/>
            <a:ext cx="4807585" cy="3004185"/>
          </a:xfrm>
          <a:prstGeom prst="rect">
            <a:avLst/>
          </a:prstGeom>
          <a:noFill/>
        </p:spPr>
        <p:txBody>
          <a:bodyPr wrap="square" rtlCol="0">
            <a:noAutofit/>
          </a:bodyPr>
          <a:p>
            <a:r>
              <a:rPr lang="zh-CN" altLang="en-US">
                <a:solidFill>
                  <a:schemeClr val="bg1"/>
                </a:solidFill>
              </a:rPr>
              <a:t>假设我们现在处在红方，则要识别蓝色装甲板。从RGB空间思考，显现蓝色的像素有什么特点？显然它的蓝色分量要比绿色分量和红色分量大。如果用拆分通道后的蓝色通道去其他颜色通道还有比较大的余量，说明该物体在图像中足够“蓝”</a:t>
            </a:r>
            <a:r>
              <a:rPr lang="zh-CN" altLang="en-US"/>
              <a:t>。</a:t>
            </a:r>
            <a:endParaRPr lang="zh-CN" altLang="en-US"/>
          </a:p>
        </p:txBody>
      </p:sp>
      <p:pic>
        <p:nvPicPr>
          <p:cNvPr id="14" name="图片 13"/>
          <p:cNvPicPr>
            <a:picLocks noChangeAspect="1"/>
          </p:cNvPicPr>
          <p:nvPr>
            <p:custDataLst>
              <p:tags r:id="rId7"/>
            </p:custDataLst>
          </p:nvPr>
        </p:nvPicPr>
        <p:blipFill>
          <a:blip r:embed="rId8"/>
          <a:stretch>
            <a:fillRect/>
          </a:stretch>
        </p:blipFill>
        <p:spPr>
          <a:xfrm>
            <a:off x="5831840" y="1856105"/>
            <a:ext cx="5305425" cy="2209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4" name="文本框 3"/>
          <p:cNvSpPr txBox="1"/>
          <p:nvPr/>
        </p:nvSpPr>
        <p:spPr>
          <a:xfrm>
            <a:off x="489585" y="335280"/>
            <a:ext cx="6040120" cy="768350"/>
          </a:xfrm>
          <a:prstGeom prst="rect">
            <a:avLst/>
          </a:prstGeom>
          <a:noFill/>
        </p:spPr>
        <p:txBody>
          <a:bodyPr wrap="square" rtlCol="0">
            <a:spAutoFit/>
          </a:bodyPr>
          <a:p>
            <a:r>
              <a:rPr lang="zh-CN" altLang="en-US" sz="4400">
                <a:solidFill>
                  <a:schemeClr val="bg1"/>
                </a:solidFill>
              </a:rPr>
              <a:t>二值化与形态学操作</a:t>
            </a:r>
            <a:endParaRPr lang="zh-CN" altLang="en-US" sz="4400">
              <a:solidFill>
                <a:schemeClr val="bg1"/>
              </a:solidFill>
            </a:endParaRPr>
          </a:p>
        </p:txBody>
      </p:sp>
      <p:pic>
        <p:nvPicPr>
          <p:cNvPr id="5" name="图片 4"/>
          <p:cNvPicPr>
            <a:picLocks noChangeAspect="1"/>
          </p:cNvPicPr>
          <p:nvPr>
            <p:custDataLst>
              <p:tags r:id="rId3"/>
            </p:custDataLst>
          </p:nvPr>
        </p:nvPicPr>
        <p:blipFill>
          <a:blip r:embed="rId4"/>
          <a:stretch>
            <a:fillRect/>
          </a:stretch>
        </p:blipFill>
        <p:spPr>
          <a:xfrm>
            <a:off x="7896225" y="2056130"/>
            <a:ext cx="2081530" cy="208153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699135" y="1647825"/>
            <a:ext cx="5324475" cy="2228850"/>
          </a:xfrm>
          <a:prstGeom prst="rect">
            <a:avLst/>
          </a:prstGeom>
        </p:spPr>
      </p:pic>
      <p:pic>
        <p:nvPicPr>
          <p:cNvPr id="8" name="图片 7"/>
          <p:cNvPicPr>
            <a:picLocks noChangeAspect="1"/>
          </p:cNvPicPr>
          <p:nvPr>
            <p:custDataLst>
              <p:tags r:id="rId7"/>
            </p:custDataLst>
          </p:nvPr>
        </p:nvPicPr>
        <p:blipFill>
          <a:blip r:embed="rId8"/>
          <a:stretch>
            <a:fillRect/>
          </a:stretch>
        </p:blipFill>
        <p:spPr>
          <a:xfrm>
            <a:off x="4668520" y="4138295"/>
            <a:ext cx="2362200" cy="2473960"/>
          </a:xfrm>
          <a:prstGeom prst="rect">
            <a:avLst/>
          </a:prstGeom>
        </p:spPr>
      </p:pic>
      <p:pic>
        <p:nvPicPr>
          <p:cNvPr id="10" name="图片 9"/>
          <p:cNvPicPr>
            <a:picLocks noChangeAspect="1"/>
          </p:cNvPicPr>
          <p:nvPr>
            <p:custDataLst>
              <p:tags r:id="rId9"/>
            </p:custDataLst>
          </p:nvPr>
        </p:nvPicPr>
        <p:blipFill>
          <a:blip r:embed="rId10"/>
          <a:stretch>
            <a:fillRect/>
          </a:stretch>
        </p:blipFill>
        <p:spPr>
          <a:xfrm>
            <a:off x="8068945" y="4137660"/>
            <a:ext cx="2434590" cy="2474595"/>
          </a:xfrm>
          <a:prstGeom prst="rect">
            <a:avLst/>
          </a:prstGeom>
        </p:spPr>
      </p:pic>
      <p:pic>
        <p:nvPicPr>
          <p:cNvPr id="11" name="图片 10"/>
          <p:cNvPicPr>
            <a:picLocks noChangeAspect="1"/>
          </p:cNvPicPr>
          <p:nvPr>
            <p:custDataLst>
              <p:tags r:id="rId11"/>
            </p:custDataLst>
          </p:nvPr>
        </p:nvPicPr>
        <p:blipFill>
          <a:blip r:embed="rId12"/>
          <a:stretch>
            <a:fillRect/>
          </a:stretch>
        </p:blipFill>
        <p:spPr>
          <a:xfrm>
            <a:off x="699135" y="1269365"/>
            <a:ext cx="5019675" cy="266700"/>
          </a:xfrm>
          <a:prstGeom prst="rect">
            <a:avLst/>
          </a:prstGeom>
        </p:spPr>
      </p:pic>
      <p:pic>
        <p:nvPicPr>
          <p:cNvPr id="12" name="图片 11"/>
          <p:cNvPicPr>
            <a:picLocks noChangeAspect="1"/>
          </p:cNvPicPr>
          <p:nvPr>
            <p:custDataLst>
              <p:tags r:id="rId13"/>
            </p:custDataLst>
          </p:nvPr>
        </p:nvPicPr>
        <p:blipFill>
          <a:blip r:embed="rId14"/>
          <a:stretch>
            <a:fillRect/>
          </a:stretch>
        </p:blipFill>
        <p:spPr>
          <a:xfrm>
            <a:off x="834390" y="5533390"/>
            <a:ext cx="3467735" cy="343535"/>
          </a:xfrm>
          <a:prstGeom prst="rect">
            <a:avLst/>
          </a:prstGeom>
        </p:spPr>
      </p:pic>
      <p:sp>
        <p:nvSpPr>
          <p:cNvPr id="13" name="文本框 12"/>
          <p:cNvSpPr txBox="1"/>
          <p:nvPr/>
        </p:nvSpPr>
        <p:spPr>
          <a:xfrm>
            <a:off x="6096000" y="828675"/>
            <a:ext cx="6096000" cy="922020"/>
          </a:xfrm>
          <a:prstGeom prst="rect">
            <a:avLst/>
          </a:prstGeom>
          <a:noFill/>
        </p:spPr>
        <p:txBody>
          <a:bodyPr wrap="square" rtlCol="0" anchor="t">
            <a:spAutoFit/>
          </a:bodyPr>
          <a:p>
            <a:r>
              <a:rPr lang="zh-CN" altLang="en-US">
                <a:solidFill>
                  <a:schemeClr val="bg1"/>
                </a:solidFill>
              </a:rPr>
              <a:t>从处理的效果来看，HSV方法一般要优于RGB；但是从速度上来看，将RGB转换到HSV空间有额外的消耗，这取决于你使用的运算平台是否支持矩阵并行计算的加速操作</a:t>
            </a:r>
            <a:endParaRPr lang="zh-CN" altLang="en-US">
              <a:solidFill>
                <a:schemeClr val="bg1"/>
              </a:solidFill>
            </a:endParaRPr>
          </a:p>
        </p:txBody>
      </p:sp>
      <p:sp>
        <p:nvSpPr>
          <p:cNvPr id="14" name="文本框 13"/>
          <p:cNvSpPr txBox="1"/>
          <p:nvPr/>
        </p:nvSpPr>
        <p:spPr>
          <a:xfrm>
            <a:off x="699135" y="3988435"/>
            <a:ext cx="4064000" cy="922020"/>
          </a:xfrm>
          <a:prstGeom prst="rect">
            <a:avLst/>
          </a:prstGeom>
          <a:noFill/>
        </p:spPr>
        <p:txBody>
          <a:bodyPr wrap="square" rtlCol="0">
            <a:spAutoFit/>
          </a:bodyPr>
          <a:p>
            <a:r>
              <a:rPr lang="zh-CN" altLang="en-US">
                <a:solidFill>
                  <a:schemeClr val="bg1"/>
                </a:solidFill>
              </a:rPr>
              <a:t>细心的同学会发现，为什么灯条明明是蓝色的，但是通道相减后中间却变成黑色的了呢？（说明红蓝分量接近）</a:t>
            </a:r>
            <a:endParaRPr lang="zh-CN"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4775"/>
          </a:xfrm>
          <a:prstGeom prst="rect">
            <a:avLst/>
          </a:prstGeom>
          <a:noFill/>
        </p:spPr>
        <p:txBody>
          <a:bodyPr wrap="square" rtlCol="0">
            <a:spAutoFit/>
          </a:bodyPr>
          <a:lstStyle/>
          <a:p>
            <a:r>
              <a:rPr lang="zh-CN" altLang="en-US" sz="3200" dirty="0">
                <a:solidFill>
                  <a:schemeClr val="bg1"/>
                </a:solidFill>
                <a:cs typeface="+mn-ea"/>
                <a:sym typeface="+mn-lt"/>
              </a:rPr>
              <a:t>寻找轮廓</a:t>
            </a:r>
            <a:endParaRPr lang="zh-CN" altLang="en-US" sz="3200" dirty="0">
              <a:solidFill>
                <a:schemeClr val="bg1"/>
              </a:solidFill>
              <a:cs typeface="+mn-ea"/>
              <a:sym typeface="+mn-lt"/>
            </a:endParaRPr>
          </a:p>
        </p:txBody>
      </p:sp>
      <p:sp>
        <p:nvSpPr>
          <p:cNvPr id="3" name="文本框 2"/>
          <p:cNvSpPr txBox="1"/>
          <p:nvPr/>
        </p:nvSpPr>
        <p:spPr>
          <a:xfrm>
            <a:off x="731519" y="2360295"/>
            <a:ext cx="10448925" cy="2306955"/>
          </a:xfrm>
          <a:prstGeom prst="rect">
            <a:avLst/>
          </a:prstGeom>
          <a:noFill/>
        </p:spPr>
        <p:txBody>
          <a:bodyPr wrap="square" rtlCol="0">
            <a:spAutoFit/>
          </a:bodyPr>
          <a:lstStyle/>
          <a:p>
            <a:pPr>
              <a:lnSpc>
                <a:spcPct val="150000"/>
              </a:lnSpc>
            </a:pPr>
            <a:r>
              <a:rPr lang="en-US" altLang="zh-CN" sz="2800" b="1" dirty="0" err="1">
                <a:solidFill>
                  <a:schemeClr val="bg1"/>
                </a:solidFill>
              </a:rPr>
              <a:t>findContour</a:t>
            </a:r>
            <a:r>
              <a:rPr lang="en-US" altLang="zh-CN" sz="2800" b="1" dirty="0">
                <a:solidFill>
                  <a:schemeClr val="bg1"/>
                </a:solidFill>
              </a:rPr>
              <a:t>() //</a:t>
            </a:r>
            <a:r>
              <a:rPr lang="zh-CN" altLang="en-US" sz="2800" b="1" dirty="0">
                <a:solidFill>
                  <a:schemeClr val="bg1"/>
                </a:solidFill>
              </a:rPr>
              <a:t>寻找二值图中的轮廓，并保存为一组点，算法类似于漫水法，遍历所有像素并查找相邻像素</a:t>
            </a:r>
            <a:endParaRPr lang="en-US" altLang="zh-CN" sz="3600" b="1" dirty="0">
              <a:solidFill>
                <a:schemeClr val="bg1"/>
              </a:solidFill>
            </a:endParaRPr>
          </a:p>
          <a:p>
            <a:pPr>
              <a:lnSpc>
                <a:spcPct val="150000"/>
              </a:lnSpc>
            </a:pPr>
            <a:r>
              <a:rPr lang="en-US" altLang="zh-CN" sz="2000" b="1" dirty="0">
                <a:solidFill>
                  <a:schemeClr val="bg1"/>
                </a:solidFill>
              </a:rPr>
              <a:t>显然长条形接近梯形/矩形的灯条在使用直线近似时不需要很多点就能够表示，若轮廓点数超过10（此参数需要不断调试），那么几乎可以断定这不是我们需要寻找的灯条。</a:t>
            </a:r>
            <a:endParaRPr lang="en-US" altLang="zh-CN" sz="20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846120" y="51872"/>
            <a:ext cx="1097950" cy="776514"/>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4070" y="24928"/>
            <a:ext cx="827314" cy="827314"/>
          </a:xfrm>
          <a:prstGeom prst="rect">
            <a:avLst/>
          </a:prstGeom>
        </p:spPr>
      </p:pic>
      <p:sp>
        <p:nvSpPr>
          <p:cNvPr id="2" name="文本框 1"/>
          <p:cNvSpPr txBox="1"/>
          <p:nvPr/>
        </p:nvSpPr>
        <p:spPr>
          <a:xfrm>
            <a:off x="269965" y="267467"/>
            <a:ext cx="6627223" cy="583565"/>
          </a:xfrm>
          <a:prstGeom prst="rect">
            <a:avLst/>
          </a:prstGeom>
          <a:noFill/>
        </p:spPr>
        <p:txBody>
          <a:bodyPr wrap="square" rtlCol="0">
            <a:spAutoFit/>
          </a:bodyPr>
          <a:lstStyle/>
          <a:p>
            <a:r>
              <a:rPr lang="zh-CN" altLang="en-US" sz="3200" dirty="0">
                <a:solidFill>
                  <a:schemeClr val="bg1"/>
                </a:solidFill>
                <a:cs typeface="+mn-ea"/>
                <a:sym typeface="+mn-lt"/>
              </a:rPr>
              <a:t> 拟合对象与配对筛选</a:t>
            </a:r>
            <a:endParaRPr lang="zh-CN" altLang="en-US" sz="3200" dirty="0">
              <a:solidFill>
                <a:schemeClr val="bg1"/>
              </a:solidFill>
              <a:cs typeface="+mn-ea"/>
              <a:sym typeface="+mn-lt"/>
            </a:endParaRPr>
          </a:p>
        </p:txBody>
      </p:sp>
      <p:sp>
        <p:nvSpPr>
          <p:cNvPr id="3" name="文本框 2"/>
          <p:cNvSpPr txBox="1"/>
          <p:nvPr/>
        </p:nvSpPr>
        <p:spPr>
          <a:xfrm>
            <a:off x="780415" y="1233170"/>
            <a:ext cx="9795510" cy="1198880"/>
          </a:xfrm>
          <a:prstGeom prst="rect">
            <a:avLst/>
          </a:prstGeom>
          <a:noFill/>
        </p:spPr>
        <p:txBody>
          <a:bodyPr wrap="square" rtlCol="0" anchor="t">
            <a:spAutoFit/>
          </a:bodyPr>
          <a:p>
            <a:r>
              <a:rPr lang="zh-CN" altLang="en-US">
                <a:solidFill>
                  <a:schemeClr val="bg1"/>
                </a:solidFill>
              </a:rPr>
              <a:t>虽然得到了描述轮廓的一组像素点，但还是将它们转化成更容易操作的对象方便一些。OpenCV提供了三个函数用于拟合轮廓点： minAreaRect(),fitEcllicpse(),minEnclosingCircle() 。显然灯条是长条形的，我们一般使用前两个函数。以 minAreaRect() 为例，将上一步留下的所有轮廓全部用最小面积拟合并存入一个数组</a:t>
            </a:r>
            <a:endParaRPr lang="zh-CN" altLang="en-US">
              <a:solidFill>
                <a:schemeClr val="bg1"/>
              </a:solidFill>
            </a:endParaRPr>
          </a:p>
        </p:txBody>
      </p:sp>
      <p:sp>
        <p:nvSpPr>
          <p:cNvPr id="4" name="文本框 3"/>
          <p:cNvSpPr txBox="1"/>
          <p:nvPr/>
        </p:nvSpPr>
        <p:spPr>
          <a:xfrm>
            <a:off x="780415" y="2687320"/>
            <a:ext cx="9794875" cy="3327400"/>
          </a:xfrm>
          <a:prstGeom prst="rect">
            <a:avLst/>
          </a:prstGeom>
          <a:noFill/>
        </p:spPr>
        <p:txBody>
          <a:bodyPr wrap="square" rtlCol="0" anchor="t">
            <a:noAutofit/>
          </a:bodyPr>
          <a:p>
            <a:r>
              <a:rPr lang="zh-CN" altLang="en-US">
                <a:solidFill>
                  <a:schemeClr val="bg1"/>
                </a:solidFill>
              </a:rPr>
              <a:t>拟合出旋转矩形对象后，通过两个嵌套的循环将旋转矩形两两匹配，利用一连串地ifelse筛选长宽比、面积比、高度差、中心距离、倾斜角度等信息，或是给这些信息赋予不同的权重计算得分最后设置分数阈值（这种方法大大提高了筛选的连续性，降低了筛选函数的非线性特性，会比硬性的截断有更好的效果，但是有额外的开销，trade-off again！）。和前一步一样，如果轮廓筛选的干净，匹配的时间会成阶乘级别地降低！</a:t>
            </a:r>
            <a:endParaRPr lang="zh-CN" altLang="en-US">
              <a:solidFill>
                <a:schemeClr val="bg1"/>
              </a:solidFill>
            </a:endParaRPr>
          </a:p>
        </p:txBody>
      </p:sp>
      <p:pic>
        <p:nvPicPr>
          <p:cNvPr id="101" name="图片 100"/>
          <p:cNvPicPr/>
          <p:nvPr>
            <p:custDataLst>
              <p:tags r:id="rId3"/>
            </p:custDataLst>
          </p:nvPr>
        </p:nvPicPr>
        <p:blipFill>
          <a:blip r:embed="rId4"/>
          <a:stretch>
            <a:fillRect/>
          </a:stretch>
        </p:blipFill>
        <p:spPr>
          <a:xfrm>
            <a:off x="3982720" y="4368800"/>
            <a:ext cx="3665220" cy="213550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commondata" val="eyJoZGlkIjoiYTljMTgwNjNmYzFmZDA3MDZmYmJlMGJhOGQ2MzBjY2E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6819</Words>
  <Application>WPS 演示</Application>
  <PresentationFormat>宽屏</PresentationFormat>
  <Paragraphs>308</Paragraphs>
  <Slides>54</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54</vt:i4>
      </vt:variant>
    </vt:vector>
  </HeadingPairs>
  <TitlesOfParts>
    <vt:vector size="73" baseType="lpstr">
      <vt:lpstr>Arial</vt:lpstr>
      <vt:lpstr>宋体</vt:lpstr>
      <vt:lpstr>Wingdings</vt:lpstr>
      <vt:lpstr>Noto Serif CJK SC</vt:lpstr>
      <vt:lpstr>Calibri</vt:lpstr>
      <vt:lpstr>Trebuchet MS</vt:lpstr>
      <vt:lpstr>微软雅黑</vt:lpstr>
      <vt:lpstr>宋体</vt:lpstr>
      <vt:lpstr>Arial Unicode MS</vt:lpstr>
      <vt:lpstr>Calibri Light</vt:lpstr>
      <vt:lpstr>Cambria Math</vt:lpstr>
      <vt:lpstr>-apple-system</vt:lpstr>
      <vt:lpstr>Gubbi</vt:lpstr>
      <vt:lpstr>Helvetica Neue</vt:lpstr>
      <vt:lpstr>PangMenZhengDao</vt:lpstr>
      <vt:lpstr>汉仪中圆B5</vt:lpstr>
      <vt:lpstr>Arial</vt:lpstr>
      <vt:lpstr>DejaVu Math TeX Gyre</vt:lpstr>
      <vt:lpstr>1_Office 主题​​</vt:lpstr>
      <vt:lpstr>PowerPoint 演示文稿</vt:lpstr>
      <vt:lpstr>PowerPoint 演示文稿</vt:lpstr>
      <vt:lpstr>计算机视觉在生活中能做什么</vt:lpstr>
      <vt:lpstr>PowerPoint 演示文稿</vt:lpstr>
      <vt:lpstr>两种路径：</vt:lpstr>
      <vt:lpstr>PowerPoint 演示文稿</vt:lpstr>
      <vt:lpstr>PowerPoint 演示文稿</vt:lpstr>
      <vt:lpstr>PowerPoint 演示文稿</vt:lpstr>
      <vt:lpstr>PowerPoint 演示文稿</vt:lpstr>
      <vt:lpstr>采集参数（比较偏软件）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HSV和GRAY的使用区别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边缘检测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昊鹏</dc:creator>
  <cp:lastModifiedBy>coffee</cp:lastModifiedBy>
  <cp:revision>29</cp:revision>
  <dcterms:created xsi:type="dcterms:W3CDTF">2025-10-31T17:24:56Z</dcterms:created>
  <dcterms:modified xsi:type="dcterms:W3CDTF">2025-10-31T17:24:56Z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1D8A7A9464A64A538BC928EDADDD735B_13</vt:lpwstr>
  </property>
  <property fmtid="{D5CDD505-2E9C-101B-9397-08002B2CF9AE}" pid="3" name="KSOProductBuildVer">
    <vt:lpwstr>2052-12.1.2.22571</vt:lpwstr>
  </property>
</Properties>
</file>