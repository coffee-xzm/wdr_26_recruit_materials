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4" r:id="rId7"/>
    <p:sldId id="265" r:id="rId8"/>
    <p:sldId id="271" r:id="rId9"/>
    <p:sldId id="273" r:id="rId10"/>
    <p:sldId id="276" r:id="rId11"/>
    <p:sldId id="279" r:id="rId12"/>
    <p:sldId id="280" r:id="rId13"/>
    <p:sldId id="281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2" r:id="rId23"/>
    <p:sldId id="291" r:id="rId24"/>
    <p:sldId id="293" r:id="rId25"/>
    <p:sldId id="274" r:id="rId26"/>
  </p:sldIdLst>
  <p:sldSz cx="12192000" cy="6858000"/>
  <p:notesSz cx="7559675" cy="106914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14"/>
    <a:srgbClr val="2B333E"/>
    <a:srgbClr val="2029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720185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6306" y="1562610"/>
            <a:ext cx="7500529" cy="42190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833314" y="6016049"/>
            <a:ext cx="6666513" cy="492222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720185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单击以编辑标题文本格式</a:t>
            </a:r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点击以编辑提纲文本格式</a:t>
            </a:r>
            <a:endParaRPr lang="en-US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第二提纲级别</a:t>
            </a:r>
            <a:endParaRPr lang="en-US" sz="20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第三提纲级别</a:t>
            </a:r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第四提纲级别</a:t>
            </a:r>
            <a:endParaRPr lang="en-US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第五提纲级别</a:t>
            </a:r>
            <a:endParaRPr lang="en-US" sz="20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第六提纲级别</a:t>
            </a:r>
            <a:endParaRPr lang="en-US" sz="2000" b="0" strike="noStrike" spc="-1">
              <a:solidFill>
                <a:srgbClr val="000000"/>
              </a:solidFill>
              <a:latin typeface="等线" panose="02010600030101010101" charset="-122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第七提纲级别</a:t>
            </a:r>
            <a:endParaRPr lang="en-US" sz="20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2"/>
          <p:cNvSpPr/>
          <p:nvPr/>
        </p:nvSpPr>
        <p:spPr>
          <a:xfrm>
            <a:off x="717840" y="2552138"/>
            <a:ext cx="5249160" cy="951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zh-CN" sz="3600" b="0" strike="noStrike" spc="-1" dirty="0">
                <a:solidFill>
                  <a:schemeClr val="bg1"/>
                </a:solidFill>
                <a:latin typeface="Arial" panose="020B0604020202020204"/>
              </a:rPr>
              <a:t>Python</a:t>
            </a:r>
            <a:r>
              <a:rPr lang="zh-CN" altLang="en-US" sz="3600" b="0" strike="noStrike" spc="-1" dirty="0">
                <a:solidFill>
                  <a:schemeClr val="bg1"/>
                </a:solidFill>
                <a:latin typeface="Arial" panose="020B0604020202020204"/>
              </a:rPr>
              <a:t>速通</a:t>
            </a:r>
            <a:r>
              <a:rPr lang="zh-CN" altLang="en-US" sz="3600" b="0" strike="noStrike" spc="-1" dirty="0">
                <a:solidFill>
                  <a:schemeClr val="bg1"/>
                </a:solidFill>
                <a:latin typeface="Arial" panose="020B0604020202020204"/>
              </a:rPr>
              <a:t>课</a:t>
            </a:r>
            <a:endParaRPr lang="zh-CN" altLang="en-US" sz="36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50" name="标题 13"/>
          <p:cNvSpPr/>
          <p:nvPr/>
        </p:nvSpPr>
        <p:spPr>
          <a:xfrm>
            <a:off x="395104" y="647925"/>
            <a:ext cx="2157852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b="0" strike="noStrike" spc="-1" dirty="0">
                <a:solidFill>
                  <a:schemeClr val="bg1"/>
                </a:solidFill>
                <a:latin typeface="Arial" panose="020B0604020202020204"/>
              </a:rPr>
              <a:t>HFUT-XC  WDR</a:t>
            </a:r>
            <a:r>
              <a:rPr lang="zh-CN" altLang="en-US" sz="1200" b="0" strike="noStrike" spc="-1" dirty="0">
                <a:solidFill>
                  <a:schemeClr val="bg1"/>
                </a:solidFill>
                <a:latin typeface="Arial" panose="020B0604020202020204"/>
              </a:rPr>
              <a:t>机器人实验室</a:t>
            </a:r>
            <a:endParaRPr lang="en-US" sz="12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51" name="线条 2"/>
          <p:cNvSpPr/>
          <p:nvPr/>
        </p:nvSpPr>
        <p:spPr>
          <a:xfrm>
            <a:off x="2402640" y="3940560"/>
            <a:ext cx="3027960" cy="360"/>
          </a:xfrm>
          <a:prstGeom prst="line">
            <a:avLst/>
          </a:prstGeom>
          <a:ln w="6840" cap="sq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文本框 60"/>
          <p:cNvSpPr txBox="1"/>
          <p:nvPr/>
        </p:nvSpPr>
        <p:spPr>
          <a:xfrm>
            <a:off x="619649" y="1635771"/>
            <a:ext cx="5192007" cy="7514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zh-CN" sz="4400" b="0" strike="noStrike" spc="-1" dirty="0">
                <a:solidFill>
                  <a:schemeClr val="bg1"/>
                </a:solidFill>
                <a:latin typeface="华光毛体行楷" panose="02000500000000000000" pitchFamily="2" charset="-122"/>
                <a:ea typeface="华光毛体行楷" panose="02000500000000000000" pitchFamily="2" charset="-122"/>
              </a:rPr>
              <a:t>算法组</a:t>
            </a:r>
            <a:r>
              <a:rPr lang="zh-CN" sz="4400" b="0" strike="noStrike" spc="-1" dirty="0">
                <a:solidFill>
                  <a:schemeClr val="bg1"/>
                </a:solidFill>
                <a:latin typeface="华光毛体行楷" panose="02000500000000000000" pitchFamily="2" charset="-122"/>
                <a:ea typeface="华光毛体行楷" panose="02000500000000000000" pitchFamily="2" charset="-122"/>
              </a:rPr>
              <a:t>招新培训</a:t>
            </a:r>
            <a:endParaRPr lang="en-US" sz="4400" b="0" strike="noStrike" spc="-1" dirty="0">
              <a:solidFill>
                <a:schemeClr val="bg1"/>
              </a:solidFill>
              <a:latin typeface="华光毛体行楷" panose="02000500000000000000" pitchFamily="2" charset="-122"/>
              <a:ea typeface="华光毛体行楷" panose="02000500000000000000" pitchFamily="2" charset="-122"/>
            </a:endParaRPr>
          </a:p>
        </p:txBody>
      </p:sp>
      <p:sp>
        <p:nvSpPr>
          <p:cNvPr id="5" name="标题 13"/>
          <p:cNvSpPr/>
          <p:nvPr/>
        </p:nvSpPr>
        <p:spPr>
          <a:xfrm>
            <a:off x="952539" y="3775632"/>
            <a:ext cx="1529880" cy="268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 strike="noStrike" spc="-1" dirty="0">
                <a:solidFill>
                  <a:srgbClr val="FFFFFF">
                    <a:alpha val="70000"/>
                  </a:srgbClr>
                </a:solidFill>
                <a:latin typeface="Source Han Sans"/>
                <a:ea typeface="Source Han Sans"/>
              </a:rPr>
              <a:t>POWERPOINT DESIGN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8" b="28365"/>
          <a:stretch>
            <a:fillRect/>
          </a:stretch>
        </p:blipFill>
        <p:spPr>
          <a:xfrm>
            <a:off x="213548" y="70958"/>
            <a:ext cx="2189092" cy="729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/>
          <p:nvPr/>
        </p:nvSpPr>
        <p:spPr>
          <a:xfrm>
            <a:off x="3917700" y="150480"/>
            <a:ext cx="3213000" cy="82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zh-CN" sz="54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目录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67" name="标题 1"/>
          <p:cNvSpPr/>
          <p:nvPr/>
        </p:nvSpPr>
        <p:spPr>
          <a:xfrm>
            <a:off x="5197860" y="953280"/>
            <a:ext cx="199512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CONTENTS</a:t>
            </a:r>
            <a:endParaRPr lang="en-US" sz="1600" b="0" strike="noStrike" spc="-1">
              <a:latin typeface="Arial" panose="020B0604020202020204"/>
            </a:endParaRPr>
          </a:p>
        </p:txBody>
      </p:sp>
      <p:sp>
        <p:nvSpPr>
          <p:cNvPr id="68" name="线条 1"/>
          <p:cNvSpPr/>
          <p:nvPr/>
        </p:nvSpPr>
        <p:spPr>
          <a:xfrm>
            <a:off x="3698100" y="1092960"/>
            <a:ext cx="1501200" cy="360"/>
          </a:xfrm>
          <a:prstGeom prst="line">
            <a:avLst/>
          </a:prstGeom>
          <a:ln w="20520" cap="sq">
            <a:solidFill>
              <a:srgbClr val="FFFFFF">
                <a:alpha val="45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" name="线条 1"/>
          <p:cNvSpPr/>
          <p:nvPr/>
        </p:nvSpPr>
        <p:spPr>
          <a:xfrm>
            <a:off x="4298580" y="1283040"/>
            <a:ext cx="600480" cy="360"/>
          </a:xfrm>
          <a:prstGeom prst="line">
            <a:avLst/>
          </a:prstGeom>
          <a:ln w="20520" cap="sq">
            <a:solidFill>
              <a:srgbClr val="FFFFFF">
                <a:alpha val="45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标题 1"/>
          <p:cNvSpPr/>
          <p:nvPr>
            <p:custDataLst>
              <p:tags r:id="rId1"/>
            </p:custDataLst>
          </p:nvPr>
        </p:nvSpPr>
        <p:spPr>
          <a:xfrm>
            <a:off x="4252635" y="2154645"/>
            <a:ext cx="518760" cy="392400"/>
          </a:xfrm>
          <a:prstGeom prst="round1Rect">
            <a:avLst>
              <a:gd name="adj" fmla="val 16667"/>
            </a:avLst>
          </a:prstGeom>
          <a:solidFill>
            <a:srgbClr val="0570FF"/>
          </a:solidFill>
          <a:ln w="1260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标题 1"/>
          <p:cNvSpPr/>
          <p:nvPr>
            <p:custDataLst>
              <p:tags r:id="rId2"/>
            </p:custDataLst>
          </p:nvPr>
        </p:nvSpPr>
        <p:spPr>
          <a:xfrm>
            <a:off x="4868545" y="2154555"/>
            <a:ext cx="1859280" cy="3924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Python</a:t>
            </a:r>
            <a:r>
              <a:rPr lang="zh-CN" alt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语言</a:t>
            </a:r>
            <a:r>
              <a:rPr lang="zh-CN" alt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介绍</a:t>
            </a:r>
            <a:endParaRPr lang="zh-CN" altLang="en-US" sz="18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72" name="标题 1"/>
          <p:cNvSpPr/>
          <p:nvPr>
            <p:custDataLst>
              <p:tags r:id="rId3"/>
            </p:custDataLst>
          </p:nvPr>
        </p:nvSpPr>
        <p:spPr>
          <a:xfrm>
            <a:off x="4309155" y="2198925"/>
            <a:ext cx="405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01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73" name="标题 1"/>
          <p:cNvSpPr/>
          <p:nvPr>
            <p:custDataLst>
              <p:tags r:id="rId4"/>
            </p:custDataLst>
          </p:nvPr>
        </p:nvSpPr>
        <p:spPr>
          <a:xfrm>
            <a:off x="4252635" y="3317108"/>
            <a:ext cx="518760" cy="392400"/>
          </a:xfrm>
          <a:prstGeom prst="round1Rect">
            <a:avLst>
              <a:gd name="adj" fmla="val 16667"/>
            </a:avLst>
          </a:prstGeom>
          <a:solidFill>
            <a:srgbClr val="0570FF"/>
          </a:solidFill>
          <a:ln w="1260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标题 1"/>
          <p:cNvSpPr/>
          <p:nvPr>
            <p:custDataLst>
              <p:tags r:id="rId5"/>
            </p:custDataLst>
          </p:nvPr>
        </p:nvSpPr>
        <p:spPr>
          <a:xfrm>
            <a:off x="4868594" y="3317108"/>
            <a:ext cx="2123995" cy="39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Python</a:t>
            </a:r>
            <a:r>
              <a:rPr lang="zh-CN" alt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环境</a:t>
            </a:r>
            <a:r>
              <a:rPr lang="zh-CN" alt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配置</a:t>
            </a:r>
            <a:endParaRPr lang="zh-CN" altLang="en-US" sz="18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75" name="标题 1"/>
          <p:cNvSpPr/>
          <p:nvPr>
            <p:custDataLst>
              <p:tags r:id="rId6"/>
            </p:custDataLst>
          </p:nvPr>
        </p:nvSpPr>
        <p:spPr>
          <a:xfrm>
            <a:off x="4309155" y="3361388"/>
            <a:ext cx="405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02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76" name="标题 1"/>
          <p:cNvSpPr/>
          <p:nvPr>
            <p:custDataLst>
              <p:tags r:id="rId7"/>
            </p:custDataLst>
          </p:nvPr>
        </p:nvSpPr>
        <p:spPr>
          <a:xfrm>
            <a:off x="4868595" y="4281731"/>
            <a:ext cx="199944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Python</a:t>
            </a:r>
            <a:r>
              <a:rPr lang="zh-CN" alt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基础</a:t>
            </a:r>
            <a:r>
              <a:rPr lang="zh-CN" altLang="en-US" sz="1800" b="0" strike="noStrike" spc="-1" dirty="0">
                <a:solidFill>
                  <a:schemeClr val="bg1"/>
                </a:solidFill>
                <a:latin typeface="Arial" panose="020B0604020202020204"/>
              </a:rPr>
              <a:t>语法</a:t>
            </a:r>
            <a:endParaRPr lang="zh-CN" altLang="en-US" sz="18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77" name="标题 1"/>
          <p:cNvSpPr/>
          <p:nvPr>
            <p:custDataLst>
              <p:tags r:id="rId8"/>
            </p:custDataLst>
          </p:nvPr>
        </p:nvSpPr>
        <p:spPr>
          <a:xfrm>
            <a:off x="4252635" y="4475411"/>
            <a:ext cx="518760" cy="392400"/>
          </a:xfrm>
          <a:prstGeom prst="round1Rect">
            <a:avLst>
              <a:gd name="adj" fmla="val 16667"/>
            </a:avLst>
          </a:prstGeom>
          <a:solidFill>
            <a:srgbClr val="0570FF"/>
          </a:solidFill>
          <a:ln w="12600">
            <a:solidFill>
              <a:srgbClr val="40404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标题 1"/>
          <p:cNvSpPr/>
          <p:nvPr>
            <p:custDataLst>
              <p:tags r:id="rId9"/>
            </p:custDataLst>
          </p:nvPr>
        </p:nvSpPr>
        <p:spPr>
          <a:xfrm>
            <a:off x="4308795" y="4519691"/>
            <a:ext cx="405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03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100" name="标题 1"/>
          <p:cNvSpPr/>
          <p:nvPr/>
        </p:nvSpPr>
        <p:spPr>
          <a:xfrm>
            <a:off x="1314360" y="5203800"/>
            <a:ext cx="199944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标题 13"/>
          <p:cNvSpPr/>
          <p:nvPr/>
        </p:nvSpPr>
        <p:spPr>
          <a:xfrm>
            <a:off x="395104" y="647925"/>
            <a:ext cx="2157852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b="0" strike="noStrike" spc="-1" dirty="0">
                <a:solidFill>
                  <a:schemeClr val="bg1"/>
                </a:solidFill>
                <a:latin typeface="Arial" panose="020B0604020202020204"/>
              </a:rPr>
              <a:t>HFUT-XC  WDR</a:t>
            </a:r>
            <a:r>
              <a:rPr lang="zh-CN" altLang="en-US" sz="1200" b="0" strike="noStrike" spc="-1" dirty="0">
                <a:solidFill>
                  <a:schemeClr val="bg1"/>
                </a:solidFill>
                <a:latin typeface="Arial" panose="020B0604020202020204"/>
              </a:rPr>
              <a:t>机器人实验室</a:t>
            </a:r>
            <a:endParaRPr lang="en-US" sz="12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8" b="28365"/>
          <a:stretch>
            <a:fillRect/>
          </a:stretch>
        </p:blipFill>
        <p:spPr>
          <a:xfrm>
            <a:off x="213548" y="70958"/>
            <a:ext cx="2189092" cy="729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 1"/>
          <p:cNvSpPr/>
          <p:nvPr/>
        </p:nvSpPr>
        <p:spPr>
          <a:xfrm>
            <a:off x="726440" y="2729230"/>
            <a:ext cx="3058795" cy="958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zh-CN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Python</a:t>
            </a:r>
            <a:r>
              <a:rPr lang="zh-CN" altLang="en-US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语言介绍</a:t>
            </a:r>
            <a:endParaRPr lang="zh-CN" altLang="en-US" sz="2800" b="1" strike="noStrike" spc="-1" dirty="0">
              <a:solidFill>
                <a:srgbClr val="0570FF"/>
              </a:solidFill>
              <a:latin typeface="等线" panose="02010600030101010101" charset="-122"/>
            </a:endParaRPr>
          </a:p>
        </p:txBody>
      </p:sp>
      <p:sp>
        <p:nvSpPr>
          <p:cNvPr id="116" name="标题 1"/>
          <p:cNvSpPr/>
          <p:nvPr/>
        </p:nvSpPr>
        <p:spPr>
          <a:xfrm>
            <a:off x="482013" y="4243140"/>
            <a:ext cx="331920" cy="313920"/>
          </a:xfrm>
          <a:custGeom>
            <a:avLst/>
            <a:gdLst/>
            <a:ahLst/>
            <a:cxnLst/>
            <a:rect l="l" t="t" r="r" b="b"/>
            <a:pathLst>
              <a:path w="1043464" h="986885">
                <a:moveTo>
                  <a:pt x="1004888" y="909733"/>
                </a:moveTo>
                <a:cubicBezTo>
                  <a:pt x="1026193" y="909733"/>
                  <a:pt x="1043464" y="927004"/>
                  <a:pt x="1043464" y="948309"/>
                </a:cubicBezTo>
                <a:cubicBezTo>
                  <a:pt x="1043464" y="969614"/>
                  <a:pt x="1026193" y="986885"/>
                  <a:pt x="1004888" y="986885"/>
                </a:cubicBezTo>
                <a:cubicBezTo>
                  <a:pt x="983583" y="986885"/>
                  <a:pt x="966312" y="969614"/>
                  <a:pt x="966312" y="948309"/>
                </a:cubicBezTo>
                <a:cubicBezTo>
                  <a:pt x="966312" y="927004"/>
                  <a:pt x="983583" y="909733"/>
                  <a:pt x="1004888" y="909733"/>
                </a:cubicBezTo>
                <a:close/>
                <a:moveTo>
                  <a:pt x="521732" y="909733"/>
                </a:moveTo>
                <a:cubicBezTo>
                  <a:pt x="543037" y="909733"/>
                  <a:pt x="560308" y="927004"/>
                  <a:pt x="560308" y="948309"/>
                </a:cubicBezTo>
                <a:cubicBezTo>
                  <a:pt x="560308" y="969614"/>
                  <a:pt x="543037" y="986885"/>
                  <a:pt x="521732" y="986885"/>
                </a:cubicBezTo>
                <a:cubicBezTo>
                  <a:pt x="500427" y="986885"/>
                  <a:pt x="483156" y="969614"/>
                  <a:pt x="483156" y="948309"/>
                </a:cubicBezTo>
                <a:cubicBezTo>
                  <a:pt x="483156" y="927004"/>
                  <a:pt x="500427" y="909733"/>
                  <a:pt x="521732" y="909733"/>
                </a:cubicBezTo>
                <a:close/>
                <a:moveTo>
                  <a:pt x="38576" y="909733"/>
                </a:moveTo>
                <a:cubicBezTo>
                  <a:pt x="59881" y="909733"/>
                  <a:pt x="77152" y="927004"/>
                  <a:pt x="77152" y="948309"/>
                </a:cubicBezTo>
                <a:cubicBezTo>
                  <a:pt x="77152" y="969614"/>
                  <a:pt x="59881" y="986885"/>
                  <a:pt x="38576" y="986885"/>
                </a:cubicBezTo>
                <a:cubicBezTo>
                  <a:pt x="17271" y="986885"/>
                  <a:pt x="0" y="969614"/>
                  <a:pt x="0" y="948309"/>
                </a:cubicBezTo>
                <a:cubicBezTo>
                  <a:pt x="0" y="927004"/>
                  <a:pt x="17271" y="909733"/>
                  <a:pt x="38576" y="909733"/>
                </a:cubicBezTo>
                <a:close/>
                <a:moveTo>
                  <a:pt x="1004888" y="454866"/>
                </a:moveTo>
                <a:cubicBezTo>
                  <a:pt x="1026193" y="454866"/>
                  <a:pt x="1043464" y="472137"/>
                  <a:pt x="1043464" y="493442"/>
                </a:cubicBezTo>
                <a:cubicBezTo>
                  <a:pt x="1043464" y="514747"/>
                  <a:pt x="1026193" y="532018"/>
                  <a:pt x="1004888" y="532018"/>
                </a:cubicBezTo>
                <a:cubicBezTo>
                  <a:pt x="983583" y="532018"/>
                  <a:pt x="966312" y="514747"/>
                  <a:pt x="966312" y="493442"/>
                </a:cubicBezTo>
                <a:cubicBezTo>
                  <a:pt x="966312" y="472137"/>
                  <a:pt x="983583" y="454866"/>
                  <a:pt x="1004888" y="454866"/>
                </a:cubicBezTo>
                <a:close/>
                <a:moveTo>
                  <a:pt x="521732" y="454866"/>
                </a:moveTo>
                <a:cubicBezTo>
                  <a:pt x="543037" y="454866"/>
                  <a:pt x="560308" y="472137"/>
                  <a:pt x="560308" y="493442"/>
                </a:cubicBezTo>
                <a:cubicBezTo>
                  <a:pt x="560308" y="514747"/>
                  <a:pt x="543037" y="532018"/>
                  <a:pt x="521732" y="532018"/>
                </a:cubicBezTo>
                <a:cubicBezTo>
                  <a:pt x="500427" y="532018"/>
                  <a:pt x="483156" y="514747"/>
                  <a:pt x="483156" y="493442"/>
                </a:cubicBezTo>
                <a:cubicBezTo>
                  <a:pt x="483156" y="472137"/>
                  <a:pt x="500427" y="454866"/>
                  <a:pt x="521732" y="454866"/>
                </a:cubicBezTo>
                <a:close/>
                <a:moveTo>
                  <a:pt x="38576" y="454866"/>
                </a:moveTo>
                <a:cubicBezTo>
                  <a:pt x="59881" y="454866"/>
                  <a:pt x="77152" y="472137"/>
                  <a:pt x="77152" y="493442"/>
                </a:cubicBezTo>
                <a:cubicBezTo>
                  <a:pt x="77152" y="514747"/>
                  <a:pt x="59881" y="532018"/>
                  <a:pt x="38576" y="532018"/>
                </a:cubicBezTo>
                <a:cubicBezTo>
                  <a:pt x="17271" y="532018"/>
                  <a:pt x="0" y="514747"/>
                  <a:pt x="0" y="493442"/>
                </a:cubicBezTo>
                <a:cubicBezTo>
                  <a:pt x="0" y="472137"/>
                  <a:pt x="17271" y="454866"/>
                  <a:pt x="38576" y="454866"/>
                </a:cubicBezTo>
                <a:close/>
                <a:moveTo>
                  <a:pt x="1004888" y="0"/>
                </a:moveTo>
                <a:cubicBezTo>
                  <a:pt x="1026193" y="0"/>
                  <a:pt x="1043464" y="17271"/>
                  <a:pt x="1043464" y="38576"/>
                </a:cubicBezTo>
                <a:cubicBezTo>
                  <a:pt x="1043464" y="59881"/>
                  <a:pt x="1026193" y="77152"/>
                  <a:pt x="1004888" y="77152"/>
                </a:cubicBezTo>
                <a:cubicBezTo>
                  <a:pt x="983583" y="77152"/>
                  <a:pt x="966312" y="59881"/>
                  <a:pt x="966312" y="38576"/>
                </a:cubicBezTo>
                <a:cubicBezTo>
                  <a:pt x="966312" y="17271"/>
                  <a:pt x="983583" y="0"/>
                  <a:pt x="1004888" y="0"/>
                </a:cubicBezTo>
                <a:close/>
                <a:moveTo>
                  <a:pt x="521732" y="0"/>
                </a:moveTo>
                <a:cubicBezTo>
                  <a:pt x="543037" y="0"/>
                  <a:pt x="560308" y="17271"/>
                  <a:pt x="560308" y="38576"/>
                </a:cubicBezTo>
                <a:cubicBezTo>
                  <a:pt x="560308" y="59881"/>
                  <a:pt x="543037" y="77152"/>
                  <a:pt x="521732" y="77152"/>
                </a:cubicBezTo>
                <a:cubicBezTo>
                  <a:pt x="500427" y="77152"/>
                  <a:pt x="483156" y="59881"/>
                  <a:pt x="483156" y="38576"/>
                </a:cubicBezTo>
                <a:cubicBezTo>
                  <a:pt x="483156" y="17271"/>
                  <a:pt x="500427" y="0"/>
                  <a:pt x="521732" y="0"/>
                </a:cubicBezTo>
                <a:close/>
                <a:moveTo>
                  <a:pt x="38576" y="0"/>
                </a:moveTo>
                <a:cubicBezTo>
                  <a:pt x="59881" y="0"/>
                  <a:pt x="77152" y="17271"/>
                  <a:pt x="77152" y="38576"/>
                </a:cubicBezTo>
                <a:cubicBezTo>
                  <a:pt x="77152" y="59881"/>
                  <a:pt x="59881" y="77152"/>
                  <a:pt x="38576" y="77152"/>
                </a:cubicBezTo>
                <a:cubicBezTo>
                  <a:pt x="17271" y="77152"/>
                  <a:pt x="0" y="59881"/>
                  <a:pt x="0" y="38576"/>
                </a:cubicBezTo>
                <a:cubicBezTo>
                  <a:pt x="0" y="17271"/>
                  <a:pt x="17271" y="0"/>
                  <a:pt x="38576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189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标题 1"/>
          <p:cNvSpPr/>
          <p:nvPr/>
        </p:nvSpPr>
        <p:spPr>
          <a:xfrm>
            <a:off x="395104" y="1743533"/>
            <a:ext cx="494640" cy="468000"/>
          </a:xfrm>
          <a:custGeom>
            <a:avLst/>
            <a:gdLst/>
            <a:ahLst/>
            <a:cxnLst/>
            <a:rect l="l" t="t" r="r" b="b"/>
            <a:pathLst>
              <a:path w="1043464" h="986885">
                <a:moveTo>
                  <a:pt x="1004888" y="909733"/>
                </a:moveTo>
                <a:cubicBezTo>
                  <a:pt x="1026193" y="909733"/>
                  <a:pt x="1043464" y="927004"/>
                  <a:pt x="1043464" y="948309"/>
                </a:cubicBezTo>
                <a:cubicBezTo>
                  <a:pt x="1043464" y="969614"/>
                  <a:pt x="1026193" y="986885"/>
                  <a:pt x="1004888" y="986885"/>
                </a:cubicBezTo>
                <a:cubicBezTo>
                  <a:pt x="983583" y="986885"/>
                  <a:pt x="966312" y="969614"/>
                  <a:pt x="966312" y="948309"/>
                </a:cubicBezTo>
                <a:cubicBezTo>
                  <a:pt x="966312" y="927004"/>
                  <a:pt x="983583" y="909733"/>
                  <a:pt x="1004888" y="909733"/>
                </a:cubicBezTo>
                <a:close/>
                <a:moveTo>
                  <a:pt x="521732" y="909733"/>
                </a:moveTo>
                <a:cubicBezTo>
                  <a:pt x="543037" y="909733"/>
                  <a:pt x="560308" y="927004"/>
                  <a:pt x="560308" y="948309"/>
                </a:cubicBezTo>
                <a:cubicBezTo>
                  <a:pt x="560308" y="969614"/>
                  <a:pt x="543037" y="986885"/>
                  <a:pt x="521732" y="986885"/>
                </a:cubicBezTo>
                <a:cubicBezTo>
                  <a:pt x="500427" y="986885"/>
                  <a:pt x="483156" y="969614"/>
                  <a:pt x="483156" y="948309"/>
                </a:cubicBezTo>
                <a:cubicBezTo>
                  <a:pt x="483156" y="927004"/>
                  <a:pt x="500427" y="909733"/>
                  <a:pt x="521732" y="909733"/>
                </a:cubicBezTo>
                <a:close/>
                <a:moveTo>
                  <a:pt x="38576" y="909733"/>
                </a:moveTo>
                <a:cubicBezTo>
                  <a:pt x="59881" y="909733"/>
                  <a:pt x="77152" y="927004"/>
                  <a:pt x="77152" y="948309"/>
                </a:cubicBezTo>
                <a:cubicBezTo>
                  <a:pt x="77152" y="969614"/>
                  <a:pt x="59881" y="986885"/>
                  <a:pt x="38576" y="986885"/>
                </a:cubicBezTo>
                <a:cubicBezTo>
                  <a:pt x="17271" y="986885"/>
                  <a:pt x="0" y="969614"/>
                  <a:pt x="0" y="948309"/>
                </a:cubicBezTo>
                <a:cubicBezTo>
                  <a:pt x="0" y="927004"/>
                  <a:pt x="17271" y="909733"/>
                  <a:pt x="38576" y="909733"/>
                </a:cubicBezTo>
                <a:close/>
                <a:moveTo>
                  <a:pt x="1004888" y="454866"/>
                </a:moveTo>
                <a:cubicBezTo>
                  <a:pt x="1026193" y="454866"/>
                  <a:pt x="1043464" y="472137"/>
                  <a:pt x="1043464" y="493442"/>
                </a:cubicBezTo>
                <a:cubicBezTo>
                  <a:pt x="1043464" y="514747"/>
                  <a:pt x="1026193" y="532018"/>
                  <a:pt x="1004888" y="532018"/>
                </a:cubicBezTo>
                <a:cubicBezTo>
                  <a:pt x="983583" y="532018"/>
                  <a:pt x="966312" y="514747"/>
                  <a:pt x="966312" y="493442"/>
                </a:cubicBezTo>
                <a:cubicBezTo>
                  <a:pt x="966312" y="472137"/>
                  <a:pt x="983583" y="454866"/>
                  <a:pt x="1004888" y="454866"/>
                </a:cubicBezTo>
                <a:close/>
                <a:moveTo>
                  <a:pt x="521732" y="454866"/>
                </a:moveTo>
                <a:cubicBezTo>
                  <a:pt x="543037" y="454866"/>
                  <a:pt x="560308" y="472137"/>
                  <a:pt x="560308" y="493442"/>
                </a:cubicBezTo>
                <a:cubicBezTo>
                  <a:pt x="560308" y="514747"/>
                  <a:pt x="543037" y="532018"/>
                  <a:pt x="521732" y="532018"/>
                </a:cubicBezTo>
                <a:cubicBezTo>
                  <a:pt x="500427" y="532018"/>
                  <a:pt x="483156" y="514747"/>
                  <a:pt x="483156" y="493442"/>
                </a:cubicBezTo>
                <a:cubicBezTo>
                  <a:pt x="483156" y="472137"/>
                  <a:pt x="500427" y="454866"/>
                  <a:pt x="521732" y="454866"/>
                </a:cubicBezTo>
                <a:close/>
                <a:moveTo>
                  <a:pt x="38576" y="454866"/>
                </a:moveTo>
                <a:cubicBezTo>
                  <a:pt x="59881" y="454866"/>
                  <a:pt x="77152" y="472137"/>
                  <a:pt x="77152" y="493442"/>
                </a:cubicBezTo>
                <a:cubicBezTo>
                  <a:pt x="77152" y="514747"/>
                  <a:pt x="59881" y="532018"/>
                  <a:pt x="38576" y="532018"/>
                </a:cubicBezTo>
                <a:cubicBezTo>
                  <a:pt x="17271" y="532018"/>
                  <a:pt x="0" y="514747"/>
                  <a:pt x="0" y="493442"/>
                </a:cubicBezTo>
                <a:cubicBezTo>
                  <a:pt x="0" y="472137"/>
                  <a:pt x="17271" y="454866"/>
                  <a:pt x="38576" y="454866"/>
                </a:cubicBezTo>
                <a:close/>
                <a:moveTo>
                  <a:pt x="1004888" y="0"/>
                </a:moveTo>
                <a:cubicBezTo>
                  <a:pt x="1026193" y="0"/>
                  <a:pt x="1043464" y="17271"/>
                  <a:pt x="1043464" y="38576"/>
                </a:cubicBezTo>
                <a:cubicBezTo>
                  <a:pt x="1043464" y="59881"/>
                  <a:pt x="1026193" y="77152"/>
                  <a:pt x="1004888" y="77152"/>
                </a:cubicBezTo>
                <a:cubicBezTo>
                  <a:pt x="983583" y="77152"/>
                  <a:pt x="966312" y="59881"/>
                  <a:pt x="966312" y="38576"/>
                </a:cubicBezTo>
                <a:cubicBezTo>
                  <a:pt x="966312" y="17271"/>
                  <a:pt x="983583" y="0"/>
                  <a:pt x="1004888" y="0"/>
                </a:cubicBezTo>
                <a:close/>
                <a:moveTo>
                  <a:pt x="521732" y="0"/>
                </a:moveTo>
                <a:cubicBezTo>
                  <a:pt x="543037" y="0"/>
                  <a:pt x="560308" y="17271"/>
                  <a:pt x="560308" y="38576"/>
                </a:cubicBezTo>
                <a:cubicBezTo>
                  <a:pt x="560308" y="59881"/>
                  <a:pt x="543037" y="77152"/>
                  <a:pt x="521732" y="77152"/>
                </a:cubicBezTo>
                <a:cubicBezTo>
                  <a:pt x="500427" y="77152"/>
                  <a:pt x="483156" y="59881"/>
                  <a:pt x="483156" y="38576"/>
                </a:cubicBezTo>
                <a:cubicBezTo>
                  <a:pt x="483156" y="17271"/>
                  <a:pt x="500427" y="0"/>
                  <a:pt x="521732" y="0"/>
                </a:cubicBezTo>
                <a:close/>
                <a:moveTo>
                  <a:pt x="38576" y="0"/>
                </a:moveTo>
                <a:cubicBezTo>
                  <a:pt x="59881" y="0"/>
                  <a:pt x="77152" y="17271"/>
                  <a:pt x="77152" y="38576"/>
                </a:cubicBezTo>
                <a:cubicBezTo>
                  <a:pt x="77152" y="59881"/>
                  <a:pt x="59881" y="77152"/>
                  <a:pt x="38576" y="77152"/>
                </a:cubicBezTo>
                <a:cubicBezTo>
                  <a:pt x="17271" y="77152"/>
                  <a:pt x="0" y="59881"/>
                  <a:pt x="0" y="38576"/>
                </a:cubicBezTo>
                <a:cubicBezTo>
                  <a:pt x="0" y="17271"/>
                  <a:pt x="17271" y="0"/>
                  <a:pt x="38576" y="0"/>
                </a:cubicBezTo>
                <a:close/>
              </a:path>
            </a:pathLst>
          </a:custGeom>
          <a:solidFill>
            <a:schemeClr val="bg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标题 1"/>
          <p:cNvSpPr/>
          <p:nvPr/>
        </p:nvSpPr>
        <p:spPr>
          <a:xfrm>
            <a:off x="690880" y="1312545"/>
            <a:ext cx="5046345" cy="1147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3600" b="0" strike="noStrike" spc="-1">
                <a:solidFill>
                  <a:srgbClr val="FFFFFF"/>
                </a:solidFill>
                <a:latin typeface="Source Han Sans CN Bold"/>
                <a:ea typeface="Source Han Sans CN Bold"/>
              </a:rPr>
              <a:t>Part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119" name="标题 1"/>
          <p:cNvSpPr/>
          <p:nvPr/>
        </p:nvSpPr>
        <p:spPr>
          <a:xfrm>
            <a:off x="186768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36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01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122" name="标题 1"/>
          <p:cNvSpPr/>
          <p:nvPr/>
        </p:nvSpPr>
        <p:spPr>
          <a:xfrm>
            <a:off x="720360" y="4078080"/>
            <a:ext cx="1769400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 strike="noStrike" spc="-1" dirty="0">
                <a:solidFill>
                  <a:srgbClr val="FFFFFF">
                    <a:alpha val="70000"/>
                  </a:srgbClr>
                </a:solidFill>
                <a:latin typeface="Source Han Sans"/>
                <a:ea typeface="Source Han Sans"/>
              </a:rPr>
              <a:t>POWERPOINT DESIGN</a:t>
            </a:r>
            <a:endParaRPr lang="en-US" sz="1200" b="0" strike="noStrike" spc="-1" dirty="0">
              <a:latin typeface="Arial" panose="020B0604020202020204"/>
            </a:endParaRPr>
          </a:p>
        </p:txBody>
      </p:sp>
      <p:sp>
        <p:nvSpPr>
          <p:cNvPr id="123" name="线条 1"/>
          <p:cNvSpPr/>
          <p:nvPr/>
        </p:nvSpPr>
        <p:spPr>
          <a:xfrm>
            <a:off x="2402640" y="4243320"/>
            <a:ext cx="3027960" cy="360"/>
          </a:xfrm>
          <a:prstGeom prst="line">
            <a:avLst/>
          </a:prstGeom>
          <a:ln w="6840" cap="sq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标题 13"/>
          <p:cNvSpPr/>
          <p:nvPr/>
        </p:nvSpPr>
        <p:spPr>
          <a:xfrm>
            <a:off x="395104" y="647925"/>
            <a:ext cx="2157852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b="0" strike="noStrike" spc="-1" dirty="0">
                <a:solidFill>
                  <a:schemeClr val="bg1"/>
                </a:solidFill>
                <a:latin typeface="Arial" panose="020B0604020202020204"/>
              </a:rPr>
              <a:t>HFUT-XC  WDR</a:t>
            </a:r>
            <a:r>
              <a:rPr lang="zh-CN" altLang="en-US" sz="1200" b="0" strike="noStrike" spc="-1" dirty="0">
                <a:solidFill>
                  <a:schemeClr val="bg1"/>
                </a:solidFill>
                <a:latin typeface="Arial" panose="020B0604020202020204"/>
              </a:rPr>
              <a:t>机器人实验室</a:t>
            </a:r>
            <a:endParaRPr lang="en-US" sz="12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8" b="28365"/>
          <a:stretch>
            <a:fillRect/>
          </a:stretch>
        </p:blipFill>
        <p:spPr>
          <a:xfrm>
            <a:off x="213548" y="70958"/>
            <a:ext cx="2189092" cy="729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标题 1"/>
          <p:cNvSpPr/>
          <p:nvPr/>
        </p:nvSpPr>
        <p:spPr>
          <a:xfrm>
            <a:off x="69084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标题 1"/>
          <p:cNvSpPr/>
          <p:nvPr/>
        </p:nvSpPr>
        <p:spPr>
          <a:xfrm>
            <a:off x="186768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文本框 2"/>
          <p:cNvSpPr txBox="1"/>
          <p:nvPr/>
        </p:nvSpPr>
        <p:spPr>
          <a:xfrm>
            <a:off x="366680" y="404476"/>
            <a:ext cx="51995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语言介绍</a:t>
            </a:r>
            <a:r>
              <a:rPr lang="en-US" altLang="zh-CN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7661" y="865097"/>
            <a:ext cx="6097022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 </a:t>
            </a:r>
            <a:r>
              <a:rPr lang="zh-CN" altLang="en-US" dirty="0">
                <a:solidFill>
                  <a:schemeClr val="bg1"/>
                </a:solidFill>
              </a:rPr>
              <a:t>是一种解释型、面向对象、动态数据类型的高级程序设计语言，由荷兰程序员</a:t>
            </a:r>
            <a:r>
              <a:rPr lang="en-US" altLang="zh-CN" dirty="0">
                <a:solidFill>
                  <a:schemeClr val="bg1"/>
                </a:solidFill>
              </a:rPr>
              <a:t> Guido van Rossum </a:t>
            </a:r>
            <a:r>
              <a:rPr lang="zh-CN" altLang="en-US" dirty="0">
                <a:solidFill>
                  <a:schemeClr val="bg1"/>
                </a:solidFill>
              </a:rPr>
              <a:t>于</a:t>
            </a:r>
            <a:r>
              <a:rPr lang="en-US" altLang="zh-CN" dirty="0">
                <a:solidFill>
                  <a:schemeClr val="bg1"/>
                </a:solidFill>
              </a:rPr>
              <a:t> 1989 </a:t>
            </a:r>
            <a:r>
              <a:rPr lang="zh-CN" altLang="en-US" dirty="0">
                <a:solidFill>
                  <a:schemeClr val="bg1"/>
                </a:solidFill>
              </a:rPr>
              <a:t>年发明，</a:t>
            </a:r>
            <a:r>
              <a:rPr lang="en-US" altLang="zh-CN" dirty="0">
                <a:solidFill>
                  <a:schemeClr val="bg1"/>
                </a:solidFill>
              </a:rPr>
              <a:t>1991 </a:t>
            </a:r>
            <a:r>
              <a:rPr lang="zh-CN" altLang="en-US" dirty="0">
                <a:solidFill>
                  <a:schemeClr val="bg1"/>
                </a:solidFill>
              </a:rPr>
              <a:t>年正式发布。其设计哲学是</a:t>
            </a:r>
            <a:r>
              <a:rPr lang="en-US" altLang="zh-CN" dirty="0">
                <a:solidFill>
                  <a:schemeClr val="bg1"/>
                </a:solidFill>
              </a:rPr>
              <a:t> “</a:t>
            </a:r>
            <a:r>
              <a:rPr lang="zh-CN" altLang="en-US" dirty="0">
                <a:solidFill>
                  <a:schemeClr val="bg1"/>
                </a:solidFill>
              </a:rPr>
              <a:t>优雅、明确、简单</a:t>
            </a:r>
            <a:r>
              <a:rPr lang="en-US" altLang="zh-CN" dirty="0">
                <a:solidFill>
                  <a:schemeClr val="bg1"/>
                </a:solidFill>
              </a:rPr>
              <a:t>”</a:t>
            </a:r>
            <a:r>
              <a:rPr lang="zh-CN" altLang="en-US" dirty="0">
                <a:solidFill>
                  <a:schemeClr val="bg1"/>
                </a:solidFill>
              </a:rPr>
              <a:t>，核心目标是让开发者用更少的代码实现更复杂的功能，因此在全球开发者社区中拥有极高的</a:t>
            </a:r>
            <a:r>
              <a:rPr lang="en-US" altLang="zh-CN" dirty="0">
                <a:solidFill>
                  <a:schemeClr val="bg1"/>
                </a:solidFill>
              </a:rPr>
              <a:t> popularity</a:t>
            </a:r>
            <a:r>
              <a:rPr lang="zh-CN" altLang="en-US" dirty="0">
                <a:solidFill>
                  <a:schemeClr val="bg1"/>
                </a:solidFill>
              </a:rPr>
              <a:t>，广泛应用于多个技术领域。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4655" y="2813050"/>
            <a:ext cx="3108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Python</a:t>
            </a:r>
            <a:r>
              <a:rPr lang="zh-CN" altLang="en-US" sz="2400" b="1" dirty="0">
                <a:solidFill>
                  <a:schemeClr val="bg1"/>
                </a:solidFill>
              </a:rPr>
              <a:t>的核心</a:t>
            </a:r>
            <a:r>
              <a:rPr lang="zh-CN" altLang="en-US" sz="2400" b="1" dirty="0">
                <a:solidFill>
                  <a:schemeClr val="bg1"/>
                </a:solidFill>
              </a:rPr>
              <a:t>特点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910" y="3273147"/>
            <a:ext cx="10679239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1. </a:t>
            </a:r>
            <a:r>
              <a:rPr lang="zh-CN" altLang="en-US" dirty="0">
                <a:solidFill>
                  <a:schemeClr val="bg1"/>
                </a:solidFill>
              </a:rPr>
              <a:t>语法</a:t>
            </a:r>
            <a:r>
              <a:rPr lang="zh-CN" altLang="en-US" dirty="0">
                <a:solidFill>
                  <a:srgbClr val="FFC014"/>
                </a:solidFill>
              </a:rPr>
              <a:t>简洁易懂</a:t>
            </a:r>
            <a:r>
              <a:rPr lang="zh-CN" altLang="en-US" dirty="0">
                <a:solidFill>
                  <a:schemeClr val="bg1"/>
                </a:solidFill>
              </a:rPr>
              <a:t>，上手门槛低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2. </a:t>
            </a:r>
            <a:r>
              <a:rPr lang="zh-CN" altLang="en-US" dirty="0">
                <a:solidFill>
                  <a:srgbClr val="FFC014"/>
                </a:solidFill>
              </a:rPr>
              <a:t>解释型</a:t>
            </a:r>
            <a:r>
              <a:rPr lang="zh-CN" altLang="en-US" dirty="0">
                <a:solidFill>
                  <a:schemeClr val="bg1"/>
                </a:solidFill>
              </a:rPr>
              <a:t>语言，开发效率高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3. </a:t>
            </a:r>
            <a:r>
              <a:rPr lang="zh-CN" altLang="en-US" dirty="0">
                <a:solidFill>
                  <a:srgbClr val="FFC014"/>
                </a:solidFill>
              </a:rPr>
              <a:t>面向对象与多范式支持</a:t>
            </a:r>
            <a:endParaRPr lang="zh-CN" altLang="en-US" dirty="0">
              <a:solidFill>
                <a:srgbClr val="FFC014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4. </a:t>
            </a:r>
            <a:r>
              <a:rPr lang="zh-CN" altLang="en-US" dirty="0">
                <a:solidFill>
                  <a:schemeClr val="bg1"/>
                </a:solidFill>
              </a:rPr>
              <a:t>跨平台兼容性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5. </a:t>
            </a:r>
            <a:r>
              <a:rPr lang="zh-CN" altLang="en-US" dirty="0">
                <a:solidFill>
                  <a:schemeClr val="bg1"/>
                </a:solidFill>
              </a:rPr>
              <a:t>丰富的</a:t>
            </a:r>
            <a:r>
              <a:rPr lang="zh-CN" altLang="en-US" dirty="0">
                <a:solidFill>
                  <a:srgbClr val="FFC014"/>
                </a:solidFill>
              </a:rPr>
              <a:t>第三方库</a:t>
            </a:r>
            <a:r>
              <a:rPr lang="zh-CN" altLang="en-US" dirty="0">
                <a:solidFill>
                  <a:schemeClr val="bg1"/>
                </a:solidFill>
              </a:rPr>
              <a:t>生态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Python </a:t>
            </a:r>
            <a:r>
              <a:rPr lang="zh-CN" altLang="en-US" dirty="0">
                <a:solidFill>
                  <a:schemeClr val="bg1"/>
                </a:solidFill>
              </a:rPr>
              <a:t>拥有全球最大的开源库生态之一，通过官方包管理工具</a:t>
            </a:r>
            <a:r>
              <a:rPr lang="en-US" altLang="zh-CN" dirty="0">
                <a:solidFill>
                  <a:schemeClr val="bg1"/>
                </a:solidFill>
              </a:rPr>
              <a:t>pip</a:t>
            </a:r>
            <a:r>
              <a:rPr lang="zh-CN" altLang="en-US" dirty="0">
                <a:solidFill>
                  <a:schemeClr val="bg1"/>
                </a:solidFill>
              </a:rPr>
              <a:t>可轻松安装超过</a:t>
            </a:r>
            <a:r>
              <a:rPr lang="en-US" altLang="zh-CN" dirty="0">
                <a:solidFill>
                  <a:schemeClr val="bg1"/>
                </a:solidFill>
              </a:rPr>
              <a:t> 40 </a:t>
            </a:r>
            <a:r>
              <a:rPr lang="zh-CN" altLang="en-US" dirty="0">
                <a:solidFill>
                  <a:schemeClr val="bg1"/>
                </a:solidFill>
              </a:rPr>
              <a:t>万个第三方库，覆盖几乎所有技术领域：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数据分析：</a:t>
            </a:r>
            <a:r>
              <a:rPr lang="en-US" altLang="zh-CN" dirty="0">
                <a:solidFill>
                  <a:schemeClr val="bg1"/>
                </a:solidFill>
              </a:rPr>
              <a:t>Pandas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NumPy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人工智能：</a:t>
            </a:r>
            <a:r>
              <a:rPr lang="en-US" altLang="zh-CN" dirty="0">
                <a:solidFill>
                  <a:schemeClr val="bg1"/>
                </a:solidFill>
              </a:rPr>
              <a:t>TensorFlow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PyTorch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Web </a:t>
            </a:r>
            <a:r>
              <a:rPr lang="zh-CN" altLang="en-US" dirty="0">
                <a:solidFill>
                  <a:schemeClr val="bg1"/>
                </a:solidFill>
              </a:rPr>
              <a:t>开发：</a:t>
            </a:r>
            <a:r>
              <a:rPr lang="en-US" altLang="zh-CN" dirty="0">
                <a:solidFill>
                  <a:schemeClr val="bg1"/>
                </a:solidFill>
              </a:rPr>
              <a:t>Django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Flask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自动化测试：</a:t>
            </a:r>
            <a:r>
              <a:rPr lang="en-US" altLang="zh-CN" dirty="0">
                <a:solidFill>
                  <a:schemeClr val="bg1"/>
                </a:solidFill>
              </a:rPr>
              <a:t>Selenium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Pytest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爬虫：</a:t>
            </a:r>
            <a:r>
              <a:rPr lang="en-US" altLang="zh-CN" dirty="0">
                <a:solidFill>
                  <a:schemeClr val="bg1"/>
                </a:solidFill>
              </a:rPr>
              <a:t>Scrapy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Requests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 1"/>
          <p:cNvSpPr/>
          <p:nvPr/>
        </p:nvSpPr>
        <p:spPr>
          <a:xfrm>
            <a:off x="726440" y="2729230"/>
            <a:ext cx="2879090" cy="958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zh-CN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Python</a:t>
            </a:r>
            <a:r>
              <a:rPr lang="zh-CN" altLang="en-US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环境</a:t>
            </a:r>
            <a:r>
              <a:rPr lang="zh-CN" altLang="en-US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配置</a:t>
            </a:r>
            <a:endParaRPr lang="zh-CN" altLang="en-US" sz="2800" b="1" strike="noStrike" spc="-1" dirty="0">
              <a:solidFill>
                <a:srgbClr val="0570FF"/>
              </a:solidFill>
              <a:latin typeface="等线" panose="02010600030101010101" charset="-122"/>
            </a:endParaRPr>
          </a:p>
        </p:txBody>
      </p:sp>
      <p:sp>
        <p:nvSpPr>
          <p:cNvPr id="116" name="标题 1"/>
          <p:cNvSpPr/>
          <p:nvPr/>
        </p:nvSpPr>
        <p:spPr>
          <a:xfrm>
            <a:off x="482013" y="4243140"/>
            <a:ext cx="331920" cy="313920"/>
          </a:xfrm>
          <a:custGeom>
            <a:avLst/>
            <a:gdLst/>
            <a:ahLst/>
            <a:cxnLst/>
            <a:rect l="l" t="t" r="r" b="b"/>
            <a:pathLst>
              <a:path w="1043464" h="986885">
                <a:moveTo>
                  <a:pt x="1004888" y="909733"/>
                </a:moveTo>
                <a:cubicBezTo>
                  <a:pt x="1026193" y="909733"/>
                  <a:pt x="1043464" y="927004"/>
                  <a:pt x="1043464" y="948309"/>
                </a:cubicBezTo>
                <a:cubicBezTo>
                  <a:pt x="1043464" y="969614"/>
                  <a:pt x="1026193" y="986885"/>
                  <a:pt x="1004888" y="986885"/>
                </a:cubicBezTo>
                <a:cubicBezTo>
                  <a:pt x="983583" y="986885"/>
                  <a:pt x="966312" y="969614"/>
                  <a:pt x="966312" y="948309"/>
                </a:cubicBezTo>
                <a:cubicBezTo>
                  <a:pt x="966312" y="927004"/>
                  <a:pt x="983583" y="909733"/>
                  <a:pt x="1004888" y="909733"/>
                </a:cubicBezTo>
                <a:close/>
                <a:moveTo>
                  <a:pt x="521732" y="909733"/>
                </a:moveTo>
                <a:cubicBezTo>
                  <a:pt x="543037" y="909733"/>
                  <a:pt x="560308" y="927004"/>
                  <a:pt x="560308" y="948309"/>
                </a:cubicBezTo>
                <a:cubicBezTo>
                  <a:pt x="560308" y="969614"/>
                  <a:pt x="543037" y="986885"/>
                  <a:pt x="521732" y="986885"/>
                </a:cubicBezTo>
                <a:cubicBezTo>
                  <a:pt x="500427" y="986885"/>
                  <a:pt x="483156" y="969614"/>
                  <a:pt x="483156" y="948309"/>
                </a:cubicBezTo>
                <a:cubicBezTo>
                  <a:pt x="483156" y="927004"/>
                  <a:pt x="500427" y="909733"/>
                  <a:pt x="521732" y="909733"/>
                </a:cubicBezTo>
                <a:close/>
                <a:moveTo>
                  <a:pt x="38576" y="909733"/>
                </a:moveTo>
                <a:cubicBezTo>
                  <a:pt x="59881" y="909733"/>
                  <a:pt x="77152" y="927004"/>
                  <a:pt x="77152" y="948309"/>
                </a:cubicBezTo>
                <a:cubicBezTo>
                  <a:pt x="77152" y="969614"/>
                  <a:pt x="59881" y="986885"/>
                  <a:pt x="38576" y="986885"/>
                </a:cubicBezTo>
                <a:cubicBezTo>
                  <a:pt x="17271" y="986885"/>
                  <a:pt x="0" y="969614"/>
                  <a:pt x="0" y="948309"/>
                </a:cubicBezTo>
                <a:cubicBezTo>
                  <a:pt x="0" y="927004"/>
                  <a:pt x="17271" y="909733"/>
                  <a:pt x="38576" y="909733"/>
                </a:cubicBezTo>
                <a:close/>
                <a:moveTo>
                  <a:pt x="1004888" y="454866"/>
                </a:moveTo>
                <a:cubicBezTo>
                  <a:pt x="1026193" y="454866"/>
                  <a:pt x="1043464" y="472137"/>
                  <a:pt x="1043464" y="493442"/>
                </a:cubicBezTo>
                <a:cubicBezTo>
                  <a:pt x="1043464" y="514747"/>
                  <a:pt x="1026193" y="532018"/>
                  <a:pt x="1004888" y="532018"/>
                </a:cubicBezTo>
                <a:cubicBezTo>
                  <a:pt x="983583" y="532018"/>
                  <a:pt x="966312" y="514747"/>
                  <a:pt x="966312" y="493442"/>
                </a:cubicBezTo>
                <a:cubicBezTo>
                  <a:pt x="966312" y="472137"/>
                  <a:pt x="983583" y="454866"/>
                  <a:pt x="1004888" y="454866"/>
                </a:cubicBezTo>
                <a:close/>
                <a:moveTo>
                  <a:pt x="521732" y="454866"/>
                </a:moveTo>
                <a:cubicBezTo>
                  <a:pt x="543037" y="454866"/>
                  <a:pt x="560308" y="472137"/>
                  <a:pt x="560308" y="493442"/>
                </a:cubicBezTo>
                <a:cubicBezTo>
                  <a:pt x="560308" y="514747"/>
                  <a:pt x="543037" y="532018"/>
                  <a:pt x="521732" y="532018"/>
                </a:cubicBezTo>
                <a:cubicBezTo>
                  <a:pt x="500427" y="532018"/>
                  <a:pt x="483156" y="514747"/>
                  <a:pt x="483156" y="493442"/>
                </a:cubicBezTo>
                <a:cubicBezTo>
                  <a:pt x="483156" y="472137"/>
                  <a:pt x="500427" y="454866"/>
                  <a:pt x="521732" y="454866"/>
                </a:cubicBezTo>
                <a:close/>
                <a:moveTo>
                  <a:pt x="38576" y="454866"/>
                </a:moveTo>
                <a:cubicBezTo>
                  <a:pt x="59881" y="454866"/>
                  <a:pt x="77152" y="472137"/>
                  <a:pt x="77152" y="493442"/>
                </a:cubicBezTo>
                <a:cubicBezTo>
                  <a:pt x="77152" y="514747"/>
                  <a:pt x="59881" y="532018"/>
                  <a:pt x="38576" y="532018"/>
                </a:cubicBezTo>
                <a:cubicBezTo>
                  <a:pt x="17271" y="532018"/>
                  <a:pt x="0" y="514747"/>
                  <a:pt x="0" y="493442"/>
                </a:cubicBezTo>
                <a:cubicBezTo>
                  <a:pt x="0" y="472137"/>
                  <a:pt x="17271" y="454866"/>
                  <a:pt x="38576" y="454866"/>
                </a:cubicBezTo>
                <a:close/>
                <a:moveTo>
                  <a:pt x="1004888" y="0"/>
                </a:moveTo>
                <a:cubicBezTo>
                  <a:pt x="1026193" y="0"/>
                  <a:pt x="1043464" y="17271"/>
                  <a:pt x="1043464" y="38576"/>
                </a:cubicBezTo>
                <a:cubicBezTo>
                  <a:pt x="1043464" y="59881"/>
                  <a:pt x="1026193" y="77152"/>
                  <a:pt x="1004888" y="77152"/>
                </a:cubicBezTo>
                <a:cubicBezTo>
                  <a:pt x="983583" y="77152"/>
                  <a:pt x="966312" y="59881"/>
                  <a:pt x="966312" y="38576"/>
                </a:cubicBezTo>
                <a:cubicBezTo>
                  <a:pt x="966312" y="17271"/>
                  <a:pt x="983583" y="0"/>
                  <a:pt x="1004888" y="0"/>
                </a:cubicBezTo>
                <a:close/>
                <a:moveTo>
                  <a:pt x="521732" y="0"/>
                </a:moveTo>
                <a:cubicBezTo>
                  <a:pt x="543037" y="0"/>
                  <a:pt x="560308" y="17271"/>
                  <a:pt x="560308" y="38576"/>
                </a:cubicBezTo>
                <a:cubicBezTo>
                  <a:pt x="560308" y="59881"/>
                  <a:pt x="543037" y="77152"/>
                  <a:pt x="521732" y="77152"/>
                </a:cubicBezTo>
                <a:cubicBezTo>
                  <a:pt x="500427" y="77152"/>
                  <a:pt x="483156" y="59881"/>
                  <a:pt x="483156" y="38576"/>
                </a:cubicBezTo>
                <a:cubicBezTo>
                  <a:pt x="483156" y="17271"/>
                  <a:pt x="500427" y="0"/>
                  <a:pt x="521732" y="0"/>
                </a:cubicBezTo>
                <a:close/>
                <a:moveTo>
                  <a:pt x="38576" y="0"/>
                </a:moveTo>
                <a:cubicBezTo>
                  <a:pt x="59881" y="0"/>
                  <a:pt x="77152" y="17271"/>
                  <a:pt x="77152" y="38576"/>
                </a:cubicBezTo>
                <a:cubicBezTo>
                  <a:pt x="77152" y="59881"/>
                  <a:pt x="59881" y="77152"/>
                  <a:pt x="38576" y="77152"/>
                </a:cubicBezTo>
                <a:cubicBezTo>
                  <a:pt x="17271" y="77152"/>
                  <a:pt x="0" y="59881"/>
                  <a:pt x="0" y="38576"/>
                </a:cubicBezTo>
                <a:cubicBezTo>
                  <a:pt x="0" y="17271"/>
                  <a:pt x="17271" y="0"/>
                  <a:pt x="38576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189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标题 1"/>
          <p:cNvSpPr/>
          <p:nvPr/>
        </p:nvSpPr>
        <p:spPr>
          <a:xfrm>
            <a:off x="395104" y="1743533"/>
            <a:ext cx="494640" cy="468000"/>
          </a:xfrm>
          <a:custGeom>
            <a:avLst/>
            <a:gdLst/>
            <a:ahLst/>
            <a:cxnLst/>
            <a:rect l="l" t="t" r="r" b="b"/>
            <a:pathLst>
              <a:path w="1043464" h="986885">
                <a:moveTo>
                  <a:pt x="1004888" y="909733"/>
                </a:moveTo>
                <a:cubicBezTo>
                  <a:pt x="1026193" y="909733"/>
                  <a:pt x="1043464" y="927004"/>
                  <a:pt x="1043464" y="948309"/>
                </a:cubicBezTo>
                <a:cubicBezTo>
                  <a:pt x="1043464" y="969614"/>
                  <a:pt x="1026193" y="986885"/>
                  <a:pt x="1004888" y="986885"/>
                </a:cubicBezTo>
                <a:cubicBezTo>
                  <a:pt x="983583" y="986885"/>
                  <a:pt x="966312" y="969614"/>
                  <a:pt x="966312" y="948309"/>
                </a:cubicBezTo>
                <a:cubicBezTo>
                  <a:pt x="966312" y="927004"/>
                  <a:pt x="983583" y="909733"/>
                  <a:pt x="1004888" y="909733"/>
                </a:cubicBezTo>
                <a:close/>
                <a:moveTo>
                  <a:pt x="521732" y="909733"/>
                </a:moveTo>
                <a:cubicBezTo>
                  <a:pt x="543037" y="909733"/>
                  <a:pt x="560308" y="927004"/>
                  <a:pt x="560308" y="948309"/>
                </a:cubicBezTo>
                <a:cubicBezTo>
                  <a:pt x="560308" y="969614"/>
                  <a:pt x="543037" y="986885"/>
                  <a:pt x="521732" y="986885"/>
                </a:cubicBezTo>
                <a:cubicBezTo>
                  <a:pt x="500427" y="986885"/>
                  <a:pt x="483156" y="969614"/>
                  <a:pt x="483156" y="948309"/>
                </a:cubicBezTo>
                <a:cubicBezTo>
                  <a:pt x="483156" y="927004"/>
                  <a:pt x="500427" y="909733"/>
                  <a:pt x="521732" y="909733"/>
                </a:cubicBezTo>
                <a:close/>
                <a:moveTo>
                  <a:pt x="38576" y="909733"/>
                </a:moveTo>
                <a:cubicBezTo>
                  <a:pt x="59881" y="909733"/>
                  <a:pt x="77152" y="927004"/>
                  <a:pt x="77152" y="948309"/>
                </a:cubicBezTo>
                <a:cubicBezTo>
                  <a:pt x="77152" y="969614"/>
                  <a:pt x="59881" y="986885"/>
                  <a:pt x="38576" y="986885"/>
                </a:cubicBezTo>
                <a:cubicBezTo>
                  <a:pt x="17271" y="986885"/>
                  <a:pt x="0" y="969614"/>
                  <a:pt x="0" y="948309"/>
                </a:cubicBezTo>
                <a:cubicBezTo>
                  <a:pt x="0" y="927004"/>
                  <a:pt x="17271" y="909733"/>
                  <a:pt x="38576" y="909733"/>
                </a:cubicBezTo>
                <a:close/>
                <a:moveTo>
                  <a:pt x="1004888" y="454866"/>
                </a:moveTo>
                <a:cubicBezTo>
                  <a:pt x="1026193" y="454866"/>
                  <a:pt x="1043464" y="472137"/>
                  <a:pt x="1043464" y="493442"/>
                </a:cubicBezTo>
                <a:cubicBezTo>
                  <a:pt x="1043464" y="514747"/>
                  <a:pt x="1026193" y="532018"/>
                  <a:pt x="1004888" y="532018"/>
                </a:cubicBezTo>
                <a:cubicBezTo>
                  <a:pt x="983583" y="532018"/>
                  <a:pt x="966312" y="514747"/>
                  <a:pt x="966312" y="493442"/>
                </a:cubicBezTo>
                <a:cubicBezTo>
                  <a:pt x="966312" y="472137"/>
                  <a:pt x="983583" y="454866"/>
                  <a:pt x="1004888" y="454866"/>
                </a:cubicBezTo>
                <a:close/>
                <a:moveTo>
                  <a:pt x="521732" y="454866"/>
                </a:moveTo>
                <a:cubicBezTo>
                  <a:pt x="543037" y="454866"/>
                  <a:pt x="560308" y="472137"/>
                  <a:pt x="560308" y="493442"/>
                </a:cubicBezTo>
                <a:cubicBezTo>
                  <a:pt x="560308" y="514747"/>
                  <a:pt x="543037" y="532018"/>
                  <a:pt x="521732" y="532018"/>
                </a:cubicBezTo>
                <a:cubicBezTo>
                  <a:pt x="500427" y="532018"/>
                  <a:pt x="483156" y="514747"/>
                  <a:pt x="483156" y="493442"/>
                </a:cubicBezTo>
                <a:cubicBezTo>
                  <a:pt x="483156" y="472137"/>
                  <a:pt x="500427" y="454866"/>
                  <a:pt x="521732" y="454866"/>
                </a:cubicBezTo>
                <a:close/>
                <a:moveTo>
                  <a:pt x="38576" y="454866"/>
                </a:moveTo>
                <a:cubicBezTo>
                  <a:pt x="59881" y="454866"/>
                  <a:pt x="77152" y="472137"/>
                  <a:pt x="77152" y="493442"/>
                </a:cubicBezTo>
                <a:cubicBezTo>
                  <a:pt x="77152" y="514747"/>
                  <a:pt x="59881" y="532018"/>
                  <a:pt x="38576" y="532018"/>
                </a:cubicBezTo>
                <a:cubicBezTo>
                  <a:pt x="17271" y="532018"/>
                  <a:pt x="0" y="514747"/>
                  <a:pt x="0" y="493442"/>
                </a:cubicBezTo>
                <a:cubicBezTo>
                  <a:pt x="0" y="472137"/>
                  <a:pt x="17271" y="454866"/>
                  <a:pt x="38576" y="454866"/>
                </a:cubicBezTo>
                <a:close/>
                <a:moveTo>
                  <a:pt x="1004888" y="0"/>
                </a:moveTo>
                <a:cubicBezTo>
                  <a:pt x="1026193" y="0"/>
                  <a:pt x="1043464" y="17271"/>
                  <a:pt x="1043464" y="38576"/>
                </a:cubicBezTo>
                <a:cubicBezTo>
                  <a:pt x="1043464" y="59881"/>
                  <a:pt x="1026193" y="77152"/>
                  <a:pt x="1004888" y="77152"/>
                </a:cubicBezTo>
                <a:cubicBezTo>
                  <a:pt x="983583" y="77152"/>
                  <a:pt x="966312" y="59881"/>
                  <a:pt x="966312" y="38576"/>
                </a:cubicBezTo>
                <a:cubicBezTo>
                  <a:pt x="966312" y="17271"/>
                  <a:pt x="983583" y="0"/>
                  <a:pt x="1004888" y="0"/>
                </a:cubicBezTo>
                <a:close/>
                <a:moveTo>
                  <a:pt x="521732" y="0"/>
                </a:moveTo>
                <a:cubicBezTo>
                  <a:pt x="543037" y="0"/>
                  <a:pt x="560308" y="17271"/>
                  <a:pt x="560308" y="38576"/>
                </a:cubicBezTo>
                <a:cubicBezTo>
                  <a:pt x="560308" y="59881"/>
                  <a:pt x="543037" y="77152"/>
                  <a:pt x="521732" y="77152"/>
                </a:cubicBezTo>
                <a:cubicBezTo>
                  <a:pt x="500427" y="77152"/>
                  <a:pt x="483156" y="59881"/>
                  <a:pt x="483156" y="38576"/>
                </a:cubicBezTo>
                <a:cubicBezTo>
                  <a:pt x="483156" y="17271"/>
                  <a:pt x="500427" y="0"/>
                  <a:pt x="521732" y="0"/>
                </a:cubicBezTo>
                <a:close/>
                <a:moveTo>
                  <a:pt x="38576" y="0"/>
                </a:moveTo>
                <a:cubicBezTo>
                  <a:pt x="59881" y="0"/>
                  <a:pt x="77152" y="17271"/>
                  <a:pt x="77152" y="38576"/>
                </a:cubicBezTo>
                <a:cubicBezTo>
                  <a:pt x="77152" y="59881"/>
                  <a:pt x="59881" y="77152"/>
                  <a:pt x="38576" y="77152"/>
                </a:cubicBezTo>
                <a:cubicBezTo>
                  <a:pt x="17271" y="77152"/>
                  <a:pt x="0" y="59881"/>
                  <a:pt x="0" y="38576"/>
                </a:cubicBezTo>
                <a:cubicBezTo>
                  <a:pt x="0" y="17271"/>
                  <a:pt x="17271" y="0"/>
                  <a:pt x="38576" y="0"/>
                </a:cubicBezTo>
                <a:close/>
              </a:path>
            </a:pathLst>
          </a:custGeom>
          <a:solidFill>
            <a:schemeClr val="bg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标题 1"/>
          <p:cNvSpPr/>
          <p:nvPr/>
        </p:nvSpPr>
        <p:spPr>
          <a:xfrm>
            <a:off x="690880" y="1312545"/>
            <a:ext cx="1711960" cy="1147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3600" b="0" strike="noStrike" spc="-1">
                <a:solidFill>
                  <a:srgbClr val="FFFFFF"/>
                </a:solidFill>
                <a:latin typeface="Source Han Sans CN Bold"/>
                <a:ea typeface="Source Han Sans CN Bold"/>
              </a:rPr>
              <a:t>Part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119" name="标题 1"/>
          <p:cNvSpPr/>
          <p:nvPr/>
        </p:nvSpPr>
        <p:spPr>
          <a:xfrm>
            <a:off x="186768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3600" b="0" strike="noStrike" spc="-1" dirty="0">
                <a:solidFill>
                  <a:srgbClr val="FFFFFF"/>
                </a:solidFill>
                <a:latin typeface="OPPOSans H"/>
                <a:ea typeface="OPPOSans H"/>
              </a:rPr>
              <a:t>02</a:t>
            </a:r>
            <a:endParaRPr lang="en-US" sz="3600" b="0" strike="noStrike" spc="-1" dirty="0">
              <a:latin typeface="Arial" panose="020B0604020202020204"/>
            </a:endParaRPr>
          </a:p>
        </p:txBody>
      </p:sp>
      <p:sp>
        <p:nvSpPr>
          <p:cNvPr id="122" name="标题 1"/>
          <p:cNvSpPr/>
          <p:nvPr/>
        </p:nvSpPr>
        <p:spPr>
          <a:xfrm>
            <a:off x="720360" y="4078080"/>
            <a:ext cx="1769400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 strike="noStrike" spc="-1">
                <a:solidFill>
                  <a:srgbClr val="FFFFFF">
                    <a:alpha val="70000"/>
                  </a:srgbClr>
                </a:solidFill>
                <a:latin typeface="Source Han Sans"/>
                <a:ea typeface="Source Han Sans"/>
              </a:rPr>
              <a:t>POWERPOINT DESIGN</a:t>
            </a:r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123" name="线条 1"/>
          <p:cNvSpPr/>
          <p:nvPr/>
        </p:nvSpPr>
        <p:spPr>
          <a:xfrm>
            <a:off x="2402640" y="4243320"/>
            <a:ext cx="3027960" cy="360"/>
          </a:xfrm>
          <a:prstGeom prst="line">
            <a:avLst/>
          </a:prstGeom>
          <a:ln w="6840" cap="sq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标题 13"/>
          <p:cNvSpPr/>
          <p:nvPr/>
        </p:nvSpPr>
        <p:spPr>
          <a:xfrm>
            <a:off x="395104" y="647925"/>
            <a:ext cx="2157852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b="0" strike="noStrike" spc="-1" dirty="0">
                <a:solidFill>
                  <a:schemeClr val="bg1"/>
                </a:solidFill>
                <a:latin typeface="Arial" panose="020B0604020202020204"/>
              </a:rPr>
              <a:t>HFUT-XC  WDR</a:t>
            </a:r>
            <a:r>
              <a:rPr lang="zh-CN" altLang="en-US" sz="1200" b="0" strike="noStrike" spc="-1" dirty="0">
                <a:solidFill>
                  <a:schemeClr val="bg1"/>
                </a:solidFill>
                <a:latin typeface="Arial" panose="020B0604020202020204"/>
              </a:rPr>
              <a:t>机器人实验室</a:t>
            </a:r>
            <a:endParaRPr lang="en-US" sz="12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8" b="28365"/>
          <a:stretch>
            <a:fillRect/>
          </a:stretch>
        </p:blipFill>
        <p:spPr>
          <a:xfrm>
            <a:off x="213548" y="70958"/>
            <a:ext cx="2189092" cy="7299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标题 1"/>
          <p:cNvSpPr/>
          <p:nvPr/>
        </p:nvSpPr>
        <p:spPr>
          <a:xfrm>
            <a:off x="69084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标题 1"/>
          <p:cNvSpPr/>
          <p:nvPr/>
        </p:nvSpPr>
        <p:spPr>
          <a:xfrm>
            <a:off x="186768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文本框 2"/>
          <p:cNvSpPr txBox="1"/>
          <p:nvPr/>
        </p:nvSpPr>
        <p:spPr>
          <a:xfrm>
            <a:off x="366395" y="307975"/>
            <a:ext cx="29527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环境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配置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2025" y="1312655"/>
            <a:ext cx="889635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https://blog.csdn.net/weixin_43737995/article/details/125690015?ops_request_misc=%257B%2522request%255Fid%2522%253A%25228a24232bc74d744f681db5fd1a23c7e7%2522%252C%2522scm%2522%253A%252220140713.130102334..%2522%257D&amp;request_id=8a24232bc74d744f681db5fd1a23c7e7&amp;biz_id=0&amp;utm_medium=distribute.pc_search_result.none-task-blog-2~all~top_positive~default-1-125690015-null-null.142^v102^pc_search_result_base6&amp;utm_term=vscode%20python%E7%8E%AF%E5%A2%83%E9%85%8D%E7%BD%AE&amp;spm=1018.2226.3001.4187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2025" y="944355"/>
            <a:ext cx="889635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dirty="0">
                <a:solidFill>
                  <a:schemeClr val="bg1"/>
                </a:solidFill>
              </a:rPr>
              <a:t>参考该</a:t>
            </a:r>
            <a:r>
              <a:rPr lang="en-US" altLang="zh-CN" dirty="0">
                <a:solidFill>
                  <a:schemeClr val="bg1"/>
                </a:solidFill>
              </a:rPr>
              <a:t>CSDN</a:t>
            </a:r>
            <a:r>
              <a:rPr lang="zh-CN" altLang="en-US" dirty="0">
                <a:solidFill>
                  <a:schemeClr val="bg1"/>
                </a:solidFill>
              </a:rPr>
              <a:t>文章，进行</a:t>
            </a:r>
            <a:r>
              <a:rPr lang="en-US" altLang="zh-CN" dirty="0">
                <a:solidFill>
                  <a:schemeClr val="bg1"/>
                </a:solidFill>
              </a:rPr>
              <a:t>VS code</a:t>
            </a:r>
            <a:r>
              <a:rPr lang="zh-CN" altLang="en-US" dirty="0">
                <a:solidFill>
                  <a:schemeClr val="bg1"/>
                </a:solidFill>
              </a:rPr>
              <a:t>的</a:t>
            </a:r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>
                <a:solidFill>
                  <a:schemeClr val="bg1"/>
                </a:solidFill>
              </a:rPr>
              <a:t>环境</a:t>
            </a:r>
            <a:r>
              <a:rPr lang="zh-CN" altLang="en-US" dirty="0">
                <a:solidFill>
                  <a:schemeClr val="bg1"/>
                </a:solidFill>
              </a:rPr>
              <a:t>配置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385" y="2659380"/>
            <a:ext cx="7273925" cy="4012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 1"/>
          <p:cNvSpPr/>
          <p:nvPr/>
        </p:nvSpPr>
        <p:spPr>
          <a:xfrm>
            <a:off x="726440" y="2729230"/>
            <a:ext cx="2984500" cy="9582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zh-CN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Python</a:t>
            </a:r>
            <a:r>
              <a:rPr lang="zh-CN" altLang="en-US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基础</a:t>
            </a:r>
            <a:r>
              <a:rPr lang="zh-CN" altLang="en-US" sz="2800" b="1" strike="noStrike" spc="-1" dirty="0">
                <a:solidFill>
                  <a:srgbClr val="0570FF"/>
                </a:solidFill>
                <a:latin typeface="等线" panose="02010600030101010101" charset="-122"/>
              </a:rPr>
              <a:t>语法</a:t>
            </a:r>
            <a:endParaRPr lang="zh-CN" altLang="en-US" sz="2800" b="1" strike="noStrike" spc="-1" dirty="0">
              <a:solidFill>
                <a:srgbClr val="0570FF"/>
              </a:solidFill>
              <a:latin typeface="等线" panose="02010600030101010101" charset="-122"/>
            </a:endParaRPr>
          </a:p>
        </p:txBody>
      </p:sp>
      <p:sp>
        <p:nvSpPr>
          <p:cNvPr id="116" name="标题 1"/>
          <p:cNvSpPr/>
          <p:nvPr/>
        </p:nvSpPr>
        <p:spPr>
          <a:xfrm>
            <a:off x="482013" y="4243140"/>
            <a:ext cx="331920" cy="313920"/>
          </a:xfrm>
          <a:custGeom>
            <a:avLst/>
            <a:gdLst/>
            <a:ahLst/>
            <a:cxnLst/>
            <a:rect l="l" t="t" r="r" b="b"/>
            <a:pathLst>
              <a:path w="1043464" h="986885">
                <a:moveTo>
                  <a:pt x="1004888" y="909733"/>
                </a:moveTo>
                <a:cubicBezTo>
                  <a:pt x="1026193" y="909733"/>
                  <a:pt x="1043464" y="927004"/>
                  <a:pt x="1043464" y="948309"/>
                </a:cubicBezTo>
                <a:cubicBezTo>
                  <a:pt x="1043464" y="969614"/>
                  <a:pt x="1026193" y="986885"/>
                  <a:pt x="1004888" y="986885"/>
                </a:cubicBezTo>
                <a:cubicBezTo>
                  <a:pt x="983583" y="986885"/>
                  <a:pt x="966312" y="969614"/>
                  <a:pt x="966312" y="948309"/>
                </a:cubicBezTo>
                <a:cubicBezTo>
                  <a:pt x="966312" y="927004"/>
                  <a:pt x="983583" y="909733"/>
                  <a:pt x="1004888" y="909733"/>
                </a:cubicBezTo>
                <a:close/>
                <a:moveTo>
                  <a:pt x="521732" y="909733"/>
                </a:moveTo>
                <a:cubicBezTo>
                  <a:pt x="543037" y="909733"/>
                  <a:pt x="560308" y="927004"/>
                  <a:pt x="560308" y="948309"/>
                </a:cubicBezTo>
                <a:cubicBezTo>
                  <a:pt x="560308" y="969614"/>
                  <a:pt x="543037" y="986885"/>
                  <a:pt x="521732" y="986885"/>
                </a:cubicBezTo>
                <a:cubicBezTo>
                  <a:pt x="500427" y="986885"/>
                  <a:pt x="483156" y="969614"/>
                  <a:pt x="483156" y="948309"/>
                </a:cubicBezTo>
                <a:cubicBezTo>
                  <a:pt x="483156" y="927004"/>
                  <a:pt x="500427" y="909733"/>
                  <a:pt x="521732" y="909733"/>
                </a:cubicBezTo>
                <a:close/>
                <a:moveTo>
                  <a:pt x="38576" y="909733"/>
                </a:moveTo>
                <a:cubicBezTo>
                  <a:pt x="59881" y="909733"/>
                  <a:pt x="77152" y="927004"/>
                  <a:pt x="77152" y="948309"/>
                </a:cubicBezTo>
                <a:cubicBezTo>
                  <a:pt x="77152" y="969614"/>
                  <a:pt x="59881" y="986885"/>
                  <a:pt x="38576" y="986885"/>
                </a:cubicBezTo>
                <a:cubicBezTo>
                  <a:pt x="17271" y="986885"/>
                  <a:pt x="0" y="969614"/>
                  <a:pt x="0" y="948309"/>
                </a:cubicBezTo>
                <a:cubicBezTo>
                  <a:pt x="0" y="927004"/>
                  <a:pt x="17271" y="909733"/>
                  <a:pt x="38576" y="909733"/>
                </a:cubicBezTo>
                <a:close/>
                <a:moveTo>
                  <a:pt x="1004888" y="454866"/>
                </a:moveTo>
                <a:cubicBezTo>
                  <a:pt x="1026193" y="454866"/>
                  <a:pt x="1043464" y="472137"/>
                  <a:pt x="1043464" y="493442"/>
                </a:cubicBezTo>
                <a:cubicBezTo>
                  <a:pt x="1043464" y="514747"/>
                  <a:pt x="1026193" y="532018"/>
                  <a:pt x="1004888" y="532018"/>
                </a:cubicBezTo>
                <a:cubicBezTo>
                  <a:pt x="983583" y="532018"/>
                  <a:pt x="966312" y="514747"/>
                  <a:pt x="966312" y="493442"/>
                </a:cubicBezTo>
                <a:cubicBezTo>
                  <a:pt x="966312" y="472137"/>
                  <a:pt x="983583" y="454866"/>
                  <a:pt x="1004888" y="454866"/>
                </a:cubicBezTo>
                <a:close/>
                <a:moveTo>
                  <a:pt x="521732" y="454866"/>
                </a:moveTo>
                <a:cubicBezTo>
                  <a:pt x="543037" y="454866"/>
                  <a:pt x="560308" y="472137"/>
                  <a:pt x="560308" y="493442"/>
                </a:cubicBezTo>
                <a:cubicBezTo>
                  <a:pt x="560308" y="514747"/>
                  <a:pt x="543037" y="532018"/>
                  <a:pt x="521732" y="532018"/>
                </a:cubicBezTo>
                <a:cubicBezTo>
                  <a:pt x="500427" y="532018"/>
                  <a:pt x="483156" y="514747"/>
                  <a:pt x="483156" y="493442"/>
                </a:cubicBezTo>
                <a:cubicBezTo>
                  <a:pt x="483156" y="472137"/>
                  <a:pt x="500427" y="454866"/>
                  <a:pt x="521732" y="454866"/>
                </a:cubicBezTo>
                <a:close/>
                <a:moveTo>
                  <a:pt x="38576" y="454866"/>
                </a:moveTo>
                <a:cubicBezTo>
                  <a:pt x="59881" y="454866"/>
                  <a:pt x="77152" y="472137"/>
                  <a:pt x="77152" y="493442"/>
                </a:cubicBezTo>
                <a:cubicBezTo>
                  <a:pt x="77152" y="514747"/>
                  <a:pt x="59881" y="532018"/>
                  <a:pt x="38576" y="532018"/>
                </a:cubicBezTo>
                <a:cubicBezTo>
                  <a:pt x="17271" y="532018"/>
                  <a:pt x="0" y="514747"/>
                  <a:pt x="0" y="493442"/>
                </a:cubicBezTo>
                <a:cubicBezTo>
                  <a:pt x="0" y="472137"/>
                  <a:pt x="17271" y="454866"/>
                  <a:pt x="38576" y="454866"/>
                </a:cubicBezTo>
                <a:close/>
                <a:moveTo>
                  <a:pt x="1004888" y="0"/>
                </a:moveTo>
                <a:cubicBezTo>
                  <a:pt x="1026193" y="0"/>
                  <a:pt x="1043464" y="17271"/>
                  <a:pt x="1043464" y="38576"/>
                </a:cubicBezTo>
                <a:cubicBezTo>
                  <a:pt x="1043464" y="59881"/>
                  <a:pt x="1026193" y="77152"/>
                  <a:pt x="1004888" y="77152"/>
                </a:cubicBezTo>
                <a:cubicBezTo>
                  <a:pt x="983583" y="77152"/>
                  <a:pt x="966312" y="59881"/>
                  <a:pt x="966312" y="38576"/>
                </a:cubicBezTo>
                <a:cubicBezTo>
                  <a:pt x="966312" y="17271"/>
                  <a:pt x="983583" y="0"/>
                  <a:pt x="1004888" y="0"/>
                </a:cubicBezTo>
                <a:close/>
                <a:moveTo>
                  <a:pt x="521732" y="0"/>
                </a:moveTo>
                <a:cubicBezTo>
                  <a:pt x="543037" y="0"/>
                  <a:pt x="560308" y="17271"/>
                  <a:pt x="560308" y="38576"/>
                </a:cubicBezTo>
                <a:cubicBezTo>
                  <a:pt x="560308" y="59881"/>
                  <a:pt x="543037" y="77152"/>
                  <a:pt x="521732" y="77152"/>
                </a:cubicBezTo>
                <a:cubicBezTo>
                  <a:pt x="500427" y="77152"/>
                  <a:pt x="483156" y="59881"/>
                  <a:pt x="483156" y="38576"/>
                </a:cubicBezTo>
                <a:cubicBezTo>
                  <a:pt x="483156" y="17271"/>
                  <a:pt x="500427" y="0"/>
                  <a:pt x="521732" y="0"/>
                </a:cubicBezTo>
                <a:close/>
                <a:moveTo>
                  <a:pt x="38576" y="0"/>
                </a:moveTo>
                <a:cubicBezTo>
                  <a:pt x="59881" y="0"/>
                  <a:pt x="77152" y="17271"/>
                  <a:pt x="77152" y="38576"/>
                </a:cubicBezTo>
                <a:cubicBezTo>
                  <a:pt x="77152" y="59881"/>
                  <a:pt x="59881" y="77152"/>
                  <a:pt x="38576" y="77152"/>
                </a:cubicBezTo>
                <a:cubicBezTo>
                  <a:pt x="17271" y="77152"/>
                  <a:pt x="0" y="59881"/>
                  <a:pt x="0" y="38576"/>
                </a:cubicBezTo>
                <a:cubicBezTo>
                  <a:pt x="0" y="17271"/>
                  <a:pt x="17271" y="0"/>
                  <a:pt x="38576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189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标题 1"/>
          <p:cNvSpPr/>
          <p:nvPr/>
        </p:nvSpPr>
        <p:spPr>
          <a:xfrm>
            <a:off x="395104" y="1743533"/>
            <a:ext cx="494640" cy="468000"/>
          </a:xfrm>
          <a:custGeom>
            <a:avLst/>
            <a:gdLst/>
            <a:ahLst/>
            <a:cxnLst/>
            <a:rect l="l" t="t" r="r" b="b"/>
            <a:pathLst>
              <a:path w="1043464" h="986885">
                <a:moveTo>
                  <a:pt x="1004888" y="909733"/>
                </a:moveTo>
                <a:cubicBezTo>
                  <a:pt x="1026193" y="909733"/>
                  <a:pt x="1043464" y="927004"/>
                  <a:pt x="1043464" y="948309"/>
                </a:cubicBezTo>
                <a:cubicBezTo>
                  <a:pt x="1043464" y="969614"/>
                  <a:pt x="1026193" y="986885"/>
                  <a:pt x="1004888" y="986885"/>
                </a:cubicBezTo>
                <a:cubicBezTo>
                  <a:pt x="983583" y="986885"/>
                  <a:pt x="966312" y="969614"/>
                  <a:pt x="966312" y="948309"/>
                </a:cubicBezTo>
                <a:cubicBezTo>
                  <a:pt x="966312" y="927004"/>
                  <a:pt x="983583" y="909733"/>
                  <a:pt x="1004888" y="909733"/>
                </a:cubicBezTo>
                <a:close/>
                <a:moveTo>
                  <a:pt x="521732" y="909733"/>
                </a:moveTo>
                <a:cubicBezTo>
                  <a:pt x="543037" y="909733"/>
                  <a:pt x="560308" y="927004"/>
                  <a:pt x="560308" y="948309"/>
                </a:cubicBezTo>
                <a:cubicBezTo>
                  <a:pt x="560308" y="969614"/>
                  <a:pt x="543037" y="986885"/>
                  <a:pt x="521732" y="986885"/>
                </a:cubicBezTo>
                <a:cubicBezTo>
                  <a:pt x="500427" y="986885"/>
                  <a:pt x="483156" y="969614"/>
                  <a:pt x="483156" y="948309"/>
                </a:cubicBezTo>
                <a:cubicBezTo>
                  <a:pt x="483156" y="927004"/>
                  <a:pt x="500427" y="909733"/>
                  <a:pt x="521732" y="909733"/>
                </a:cubicBezTo>
                <a:close/>
                <a:moveTo>
                  <a:pt x="38576" y="909733"/>
                </a:moveTo>
                <a:cubicBezTo>
                  <a:pt x="59881" y="909733"/>
                  <a:pt x="77152" y="927004"/>
                  <a:pt x="77152" y="948309"/>
                </a:cubicBezTo>
                <a:cubicBezTo>
                  <a:pt x="77152" y="969614"/>
                  <a:pt x="59881" y="986885"/>
                  <a:pt x="38576" y="986885"/>
                </a:cubicBezTo>
                <a:cubicBezTo>
                  <a:pt x="17271" y="986885"/>
                  <a:pt x="0" y="969614"/>
                  <a:pt x="0" y="948309"/>
                </a:cubicBezTo>
                <a:cubicBezTo>
                  <a:pt x="0" y="927004"/>
                  <a:pt x="17271" y="909733"/>
                  <a:pt x="38576" y="909733"/>
                </a:cubicBezTo>
                <a:close/>
                <a:moveTo>
                  <a:pt x="1004888" y="454866"/>
                </a:moveTo>
                <a:cubicBezTo>
                  <a:pt x="1026193" y="454866"/>
                  <a:pt x="1043464" y="472137"/>
                  <a:pt x="1043464" y="493442"/>
                </a:cubicBezTo>
                <a:cubicBezTo>
                  <a:pt x="1043464" y="514747"/>
                  <a:pt x="1026193" y="532018"/>
                  <a:pt x="1004888" y="532018"/>
                </a:cubicBezTo>
                <a:cubicBezTo>
                  <a:pt x="983583" y="532018"/>
                  <a:pt x="966312" y="514747"/>
                  <a:pt x="966312" y="493442"/>
                </a:cubicBezTo>
                <a:cubicBezTo>
                  <a:pt x="966312" y="472137"/>
                  <a:pt x="983583" y="454866"/>
                  <a:pt x="1004888" y="454866"/>
                </a:cubicBezTo>
                <a:close/>
                <a:moveTo>
                  <a:pt x="521732" y="454866"/>
                </a:moveTo>
                <a:cubicBezTo>
                  <a:pt x="543037" y="454866"/>
                  <a:pt x="560308" y="472137"/>
                  <a:pt x="560308" y="493442"/>
                </a:cubicBezTo>
                <a:cubicBezTo>
                  <a:pt x="560308" y="514747"/>
                  <a:pt x="543037" y="532018"/>
                  <a:pt x="521732" y="532018"/>
                </a:cubicBezTo>
                <a:cubicBezTo>
                  <a:pt x="500427" y="532018"/>
                  <a:pt x="483156" y="514747"/>
                  <a:pt x="483156" y="493442"/>
                </a:cubicBezTo>
                <a:cubicBezTo>
                  <a:pt x="483156" y="472137"/>
                  <a:pt x="500427" y="454866"/>
                  <a:pt x="521732" y="454866"/>
                </a:cubicBezTo>
                <a:close/>
                <a:moveTo>
                  <a:pt x="38576" y="454866"/>
                </a:moveTo>
                <a:cubicBezTo>
                  <a:pt x="59881" y="454866"/>
                  <a:pt x="77152" y="472137"/>
                  <a:pt x="77152" y="493442"/>
                </a:cubicBezTo>
                <a:cubicBezTo>
                  <a:pt x="77152" y="514747"/>
                  <a:pt x="59881" y="532018"/>
                  <a:pt x="38576" y="532018"/>
                </a:cubicBezTo>
                <a:cubicBezTo>
                  <a:pt x="17271" y="532018"/>
                  <a:pt x="0" y="514747"/>
                  <a:pt x="0" y="493442"/>
                </a:cubicBezTo>
                <a:cubicBezTo>
                  <a:pt x="0" y="472137"/>
                  <a:pt x="17271" y="454866"/>
                  <a:pt x="38576" y="454866"/>
                </a:cubicBezTo>
                <a:close/>
                <a:moveTo>
                  <a:pt x="1004888" y="0"/>
                </a:moveTo>
                <a:cubicBezTo>
                  <a:pt x="1026193" y="0"/>
                  <a:pt x="1043464" y="17271"/>
                  <a:pt x="1043464" y="38576"/>
                </a:cubicBezTo>
                <a:cubicBezTo>
                  <a:pt x="1043464" y="59881"/>
                  <a:pt x="1026193" y="77152"/>
                  <a:pt x="1004888" y="77152"/>
                </a:cubicBezTo>
                <a:cubicBezTo>
                  <a:pt x="983583" y="77152"/>
                  <a:pt x="966312" y="59881"/>
                  <a:pt x="966312" y="38576"/>
                </a:cubicBezTo>
                <a:cubicBezTo>
                  <a:pt x="966312" y="17271"/>
                  <a:pt x="983583" y="0"/>
                  <a:pt x="1004888" y="0"/>
                </a:cubicBezTo>
                <a:close/>
                <a:moveTo>
                  <a:pt x="521732" y="0"/>
                </a:moveTo>
                <a:cubicBezTo>
                  <a:pt x="543037" y="0"/>
                  <a:pt x="560308" y="17271"/>
                  <a:pt x="560308" y="38576"/>
                </a:cubicBezTo>
                <a:cubicBezTo>
                  <a:pt x="560308" y="59881"/>
                  <a:pt x="543037" y="77152"/>
                  <a:pt x="521732" y="77152"/>
                </a:cubicBezTo>
                <a:cubicBezTo>
                  <a:pt x="500427" y="77152"/>
                  <a:pt x="483156" y="59881"/>
                  <a:pt x="483156" y="38576"/>
                </a:cubicBezTo>
                <a:cubicBezTo>
                  <a:pt x="483156" y="17271"/>
                  <a:pt x="500427" y="0"/>
                  <a:pt x="521732" y="0"/>
                </a:cubicBezTo>
                <a:close/>
                <a:moveTo>
                  <a:pt x="38576" y="0"/>
                </a:moveTo>
                <a:cubicBezTo>
                  <a:pt x="59881" y="0"/>
                  <a:pt x="77152" y="17271"/>
                  <a:pt x="77152" y="38576"/>
                </a:cubicBezTo>
                <a:cubicBezTo>
                  <a:pt x="77152" y="59881"/>
                  <a:pt x="59881" y="77152"/>
                  <a:pt x="38576" y="77152"/>
                </a:cubicBezTo>
                <a:cubicBezTo>
                  <a:pt x="17271" y="77152"/>
                  <a:pt x="0" y="59881"/>
                  <a:pt x="0" y="38576"/>
                </a:cubicBezTo>
                <a:cubicBezTo>
                  <a:pt x="0" y="17271"/>
                  <a:pt x="17271" y="0"/>
                  <a:pt x="38576" y="0"/>
                </a:cubicBezTo>
                <a:close/>
              </a:path>
            </a:pathLst>
          </a:custGeom>
          <a:solidFill>
            <a:schemeClr val="bg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标题 1"/>
          <p:cNvSpPr/>
          <p:nvPr/>
        </p:nvSpPr>
        <p:spPr>
          <a:xfrm>
            <a:off x="690880" y="1312545"/>
            <a:ext cx="1621790" cy="1147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3600" b="0" strike="noStrike" spc="-1">
                <a:solidFill>
                  <a:srgbClr val="FFFFFF"/>
                </a:solidFill>
                <a:latin typeface="Source Han Sans CN Bold"/>
                <a:ea typeface="Source Han Sans CN Bold"/>
              </a:rPr>
              <a:t>Part</a:t>
            </a:r>
            <a:endParaRPr lang="en-US" sz="3600" b="0" strike="noStrike" spc="-1">
              <a:latin typeface="Arial" panose="020B0604020202020204"/>
            </a:endParaRPr>
          </a:p>
        </p:txBody>
      </p:sp>
      <p:sp>
        <p:nvSpPr>
          <p:cNvPr id="119" name="标题 1"/>
          <p:cNvSpPr/>
          <p:nvPr/>
        </p:nvSpPr>
        <p:spPr>
          <a:xfrm>
            <a:off x="1867680" y="1312560"/>
            <a:ext cx="1010160" cy="11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3600" b="0" strike="noStrike" spc="-1" dirty="0">
                <a:solidFill>
                  <a:srgbClr val="FFFFFF"/>
                </a:solidFill>
                <a:latin typeface="OPPOSans H"/>
                <a:ea typeface="OPPOSans H"/>
              </a:rPr>
              <a:t>0</a:t>
            </a:r>
            <a:r>
              <a:rPr lang="en-US" sz="3600" spc="-1" dirty="0">
                <a:solidFill>
                  <a:srgbClr val="FFFFFF"/>
                </a:solidFill>
                <a:latin typeface="OPPOSans H"/>
                <a:ea typeface="OPPOSans H"/>
              </a:rPr>
              <a:t>3</a:t>
            </a:r>
            <a:endParaRPr lang="en-US" sz="3600" b="0" strike="noStrike" spc="-1" dirty="0">
              <a:latin typeface="Arial" panose="020B0604020202020204"/>
            </a:endParaRPr>
          </a:p>
        </p:txBody>
      </p:sp>
      <p:sp>
        <p:nvSpPr>
          <p:cNvPr id="122" name="标题 1"/>
          <p:cNvSpPr/>
          <p:nvPr/>
        </p:nvSpPr>
        <p:spPr>
          <a:xfrm>
            <a:off x="720360" y="4078080"/>
            <a:ext cx="1769400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 strike="noStrike" spc="-1">
                <a:solidFill>
                  <a:srgbClr val="FFFFFF">
                    <a:alpha val="70000"/>
                  </a:srgbClr>
                </a:solidFill>
                <a:latin typeface="Source Han Sans"/>
                <a:ea typeface="Source Han Sans"/>
              </a:rPr>
              <a:t>POWERPOINT DESIGN</a:t>
            </a:r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123" name="线条 1"/>
          <p:cNvSpPr/>
          <p:nvPr/>
        </p:nvSpPr>
        <p:spPr>
          <a:xfrm>
            <a:off x="2402640" y="4243320"/>
            <a:ext cx="3027960" cy="360"/>
          </a:xfrm>
          <a:prstGeom prst="line">
            <a:avLst/>
          </a:prstGeom>
          <a:ln w="6840" cap="sq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标题 13"/>
          <p:cNvSpPr/>
          <p:nvPr/>
        </p:nvSpPr>
        <p:spPr>
          <a:xfrm>
            <a:off x="395104" y="647925"/>
            <a:ext cx="2157852" cy="3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200" b="0" strike="noStrike" spc="-1" dirty="0">
                <a:solidFill>
                  <a:schemeClr val="bg1"/>
                </a:solidFill>
                <a:latin typeface="Arial" panose="020B0604020202020204"/>
              </a:rPr>
              <a:t>HFUT-XC  WDR</a:t>
            </a:r>
            <a:r>
              <a:rPr lang="zh-CN" altLang="en-US" sz="1200" b="0" strike="noStrike" spc="-1" dirty="0">
                <a:solidFill>
                  <a:schemeClr val="bg1"/>
                </a:solidFill>
                <a:latin typeface="Arial" panose="020B0604020202020204"/>
              </a:rPr>
              <a:t>机器人实验室</a:t>
            </a:r>
            <a:endParaRPr lang="en-US" sz="1200" b="0" strike="noStrike" spc="-1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8" b="28365"/>
          <a:stretch>
            <a:fillRect/>
          </a:stretch>
        </p:blipFill>
        <p:spPr>
          <a:xfrm>
            <a:off x="213548" y="70958"/>
            <a:ext cx="2189092" cy="729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创建第一个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项目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6570" y="706755"/>
            <a:ext cx="10194290" cy="624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一、准备工作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安装</a:t>
            </a:r>
            <a:r>
              <a:rPr lang="en-US" altLang="zh-CN" sz="2000" dirty="0">
                <a:solidFill>
                  <a:schemeClr val="bg1"/>
                </a:solidFill>
              </a:rPr>
              <a:t> Python </a:t>
            </a:r>
            <a:r>
              <a:rPr lang="zh-CN" altLang="en-US" sz="2000" dirty="0">
                <a:solidFill>
                  <a:schemeClr val="bg1"/>
                </a:solidFill>
              </a:rPr>
              <a:t>解释器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安装</a:t>
            </a:r>
            <a:r>
              <a:rPr lang="en-US" altLang="zh-CN" sz="2000" dirty="0">
                <a:solidFill>
                  <a:schemeClr val="bg1"/>
                </a:solidFill>
              </a:rPr>
              <a:t> VS Code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安装</a:t>
            </a:r>
            <a:r>
              <a:rPr lang="en-US" altLang="zh-CN" sz="2000" dirty="0">
                <a:solidFill>
                  <a:schemeClr val="bg1"/>
                </a:solidFill>
              </a:rPr>
              <a:t> Python </a:t>
            </a:r>
            <a:r>
              <a:rPr lang="zh-CN" altLang="en-US" sz="2000" dirty="0">
                <a:solidFill>
                  <a:schemeClr val="bg1"/>
                </a:solidFill>
              </a:rPr>
              <a:t>插件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二、创建第一个</a:t>
            </a:r>
            <a:r>
              <a:rPr lang="en-US" altLang="zh-CN" sz="2000" dirty="0">
                <a:solidFill>
                  <a:schemeClr val="bg1"/>
                </a:solidFill>
              </a:rPr>
              <a:t> Python </a:t>
            </a:r>
            <a:r>
              <a:rPr lang="zh-CN" altLang="en-US" sz="2000" dirty="0">
                <a:solidFill>
                  <a:schemeClr val="bg1"/>
                </a:solidFill>
              </a:rPr>
              <a:t>项目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步骤</a:t>
            </a:r>
            <a:r>
              <a:rPr lang="en-US" altLang="zh-CN" sz="2000" dirty="0">
                <a:solidFill>
                  <a:schemeClr val="bg1"/>
                </a:solidFill>
              </a:rPr>
              <a:t> 1</a:t>
            </a:r>
            <a:r>
              <a:rPr lang="zh-CN" altLang="en-US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rgbClr val="FFC014"/>
                </a:solidFill>
              </a:rPr>
              <a:t>创建项目文件夹</a:t>
            </a:r>
            <a:endParaRPr lang="zh-CN" altLang="en-US" sz="2000" dirty="0">
              <a:solidFill>
                <a:srgbClr val="FFC014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在电脑任意位置新建一个文件夹（例如</a:t>
            </a:r>
            <a:r>
              <a:rPr lang="en-US" altLang="zh-CN" sz="2000" dirty="0">
                <a:solidFill>
                  <a:schemeClr val="bg1"/>
                </a:solidFill>
              </a:rPr>
              <a:t> my-first-python-project</a:t>
            </a:r>
            <a:r>
              <a:rPr lang="zh-CN" altLang="en-US" sz="2000" dirty="0">
                <a:solidFill>
                  <a:schemeClr val="bg1"/>
                </a:solidFill>
              </a:rPr>
              <a:t>），用于存放你的</a:t>
            </a:r>
            <a:r>
              <a:rPr lang="en-US" altLang="zh-CN" sz="2000" dirty="0">
                <a:solidFill>
                  <a:schemeClr val="bg1"/>
                </a:solidFill>
              </a:rPr>
              <a:t> Python </a:t>
            </a:r>
            <a:r>
              <a:rPr lang="zh-CN" altLang="en-US" sz="2000" dirty="0">
                <a:solidFill>
                  <a:schemeClr val="bg1"/>
                </a:solidFill>
              </a:rPr>
              <a:t>项目文件。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打开</a:t>
            </a:r>
            <a:r>
              <a:rPr lang="en-US" altLang="zh-CN" sz="2000" dirty="0">
                <a:solidFill>
                  <a:schemeClr val="bg1"/>
                </a:solidFill>
              </a:rPr>
              <a:t> VS Code</a:t>
            </a:r>
            <a:r>
              <a:rPr lang="zh-CN" altLang="en-US" sz="2000" dirty="0">
                <a:solidFill>
                  <a:schemeClr val="bg1"/>
                </a:solidFill>
              </a:rPr>
              <a:t>，点击菜单栏「文件」</a:t>
            </a:r>
            <a:r>
              <a:rPr lang="en-US" altLang="en-US" sz="2000" dirty="0">
                <a:solidFill>
                  <a:schemeClr val="bg1"/>
                </a:solidFill>
              </a:rPr>
              <a:t>→</a:t>
            </a:r>
            <a:r>
              <a:rPr lang="zh-CN" altLang="en-US" sz="2000" dirty="0">
                <a:solidFill>
                  <a:schemeClr val="bg1"/>
                </a:solidFill>
              </a:rPr>
              <a:t>「打开文件夹」，选择刚刚创建的文件夹。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步骤</a:t>
            </a:r>
            <a:r>
              <a:rPr lang="en-US" altLang="zh-CN" sz="2000" dirty="0">
                <a:solidFill>
                  <a:schemeClr val="bg1"/>
                </a:solidFill>
              </a:rPr>
              <a:t> 2</a:t>
            </a:r>
            <a:r>
              <a:rPr lang="zh-CN" altLang="en-US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rgbClr val="FFC014"/>
                </a:solidFill>
              </a:rPr>
              <a:t>选择</a:t>
            </a:r>
            <a:r>
              <a:rPr lang="en-US" altLang="zh-CN" sz="2000" dirty="0">
                <a:solidFill>
                  <a:srgbClr val="FFC014"/>
                </a:solidFill>
              </a:rPr>
              <a:t> Python </a:t>
            </a:r>
            <a:r>
              <a:rPr lang="zh-CN" altLang="en-US" sz="2000" dirty="0">
                <a:solidFill>
                  <a:srgbClr val="FFC014"/>
                </a:solidFill>
              </a:rPr>
              <a:t>解释器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按下</a:t>
            </a:r>
            <a:r>
              <a:rPr lang="en-US" altLang="zh-CN" sz="2000" dirty="0">
                <a:solidFill>
                  <a:schemeClr val="bg1"/>
                </a:solidFill>
              </a:rPr>
              <a:t> Ctrl+Shift+P </a:t>
            </a:r>
            <a:r>
              <a:rPr lang="zh-CN" altLang="en-US" sz="2000" dirty="0">
                <a:solidFill>
                  <a:schemeClr val="bg1"/>
                </a:solidFill>
              </a:rPr>
              <a:t>打开命令面板，输入并选择</a:t>
            </a:r>
            <a:r>
              <a:rPr lang="en-US" altLang="zh-CN" sz="2000" dirty="0">
                <a:solidFill>
                  <a:schemeClr val="bg1"/>
                </a:solidFill>
              </a:rPr>
              <a:t> "Python: </a:t>
            </a:r>
            <a:r>
              <a:rPr lang="zh-CN" altLang="en-US" sz="2000" dirty="0">
                <a:solidFill>
                  <a:schemeClr val="bg1"/>
                </a:solidFill>
              </a:rPr>
              <a:t>选择解释器</a:t>
            </a:r>
            <a:r>
              <a:rPr lang="en-US" altLang="zh-CN" sz="2000" dirty="0">
                <a:solidFill>
                  <a:schemeClr val="bg1"/>
                </a:solidFill>
              </a:rPr>
              <a:t>"</a:t>
            </a:r>
            <a:r>
              <a:rPr lang="zh-CN" altLang="en-US" sz="2000" dirty="0">
                <a:solidFill>
                  <a:schemeClr val="bg1"/>
                </a:solidFill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</a:rPr>
              <a:t>Python: Select Interpreter</a:t>
            </a:r>
            <a:r>
              <a:rPr lang="zh-CN" altLang="en-US" sz="2000" dirty="0">
                <a:solidFill>
                  <a:schemeClr val="bg1"/>
                </a:solidFill>
              </a:rPr>
              <a:t>）。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在弹出的列表中，选择你安装的</a:t>
            </a:r>
            <a:r>
              <a:rPr lang="en-US" altLang="zh-CN" sz="2000" dirty="0">
                <a:solidFill>
                  <a:schemeClr val="bg1"/>
                </a:solidFill>
              </a:rPr>
              <a:t> Python </a:t>
            </a:r>
            <a:r>
              <a:rPr lang="zh-CN" altLang="en-US" sz="2000" dirty="0">
                <a:solidFill>
                  <a:schemeClr val="bg1"/>
                </a:solidFill>
              </a:rPr>
              <a:t>版本（例如</a:t>
            </a:r>
            <a:r>
              <a:rPr lang="en-US" altLang="zh-CN" sz="2000" dirty="0">
                <a:solidFill>
                  <a:schemeClr val="bg1"/>
                </a:solidFill>
              </a:rPr>
              <a:t> Python 3.11.x</a:t>
            </a:r>
            <a:r>
              <a:rPr lang="zh-CN" altLang="en-US" sz="2000" dirty="0">
                <a:solidFill>
                  <a:schemeClr val="bg1"/>
                </a:solidFill>
              </a:rPr>
              <a:t>）。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步骤</a:t>
            </a:r>
            <a:r>
              <a:rPr lang="en-US" altLang="zh-CN" sz="2000" dirty="0">
                <a:solidFill>
                  <a:schemeClr val="bg1"/>
                </a:solidFill>
              </a:rPr>
              <a:t> 3</a:t>
            </a:r>
            <a:r>
              <a:rPr lang="zh-CN" altLang="en-US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rgbClr val="FFC014"/>
                </a:solidFill>
              </a:rPr>
              <a:t>创建</a:t>
            </a:r>
            <a:r>
              <a:rPr lang="en-US" altLang="zh-CN" sz="2000" dirty="0">
                <a:solidFill>
                  <a:srgbClr val="FFC014"/>
                </a:solidFill>
              </a:rPr>
              <a:t> Python </a:t>
            </a:r>
            <a:r>
              <a:rPr lang="zh-CN" altLang="en-US" sz="2000" dirty="0">
                <a:solidFill>
                  <a:srgbClr val="FFC014"/>
                </a:solidFill>
              </a:rPr>
              <a:t>文件</a:t>
            </a:r>
            <a:endParaRPr lang="zh-CN" altLang="en-US" sz="2000" dirty="0">
              <a:solidFill>
                <a:srgbClr val="FFC014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在</a:t>
            </a:r>
            <a:r>
              <a:rPr lang="en-US" altLang="zh-CN" sz="2000" dirty="0">
                <a:solidFill>
                  <a:schemeClr val="bg1"/>
                </a:solidFill>
              </a:rPr>
              <a:t> VS Code </a:t>
            </a:r>
            <a:r>
              <a:rPr lang="zh-CN" altLang="en-US" sz="2000" dirty="0">
                <a:solidFill>
                  <a:schemeClr val="bg1"/>
                </a:solidFill>
              </a:rPr>
              <a:t>左侧的「资源管理器」中，右键点击项目文件夹，选择「新建文件」。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步骤</a:t>
            </a:r>
            <a:r>
              <a:rPr lang="en-US" altLang="zh-CN" sz="2000" dirty="0">
                <a:solidFill>
                  <a:schemeClr val="bg1"/>
                </a:solidFill>
              </a:rPr>
              <a:t> 4</a:t>
            </a:r>
            <a:r>
              <a:rPr lang="zh-CN" altLang="en-US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rgbClr val="FFC014"/>
                </a:solidFill>
              </a:rPr>
              <a:t>编写代码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在</a:t>
            </a:r>
            <a:r>
              <a:rPr lang="en-US" altLang="zh-CN" sz="2000" dirty="0">
                <a:solidFill>
                  <a:schemeClr val="bg1"/>
                </a:solidFill>
              </a:rPr>
              <a:t> hello.py </a:t>
            </a:r>
            <a:r>
              <a:rPr lang="zh-CN" altLang="en-US" sz="2000" dirty="0">
                <a:solidFill>
                  <a:schemeClr val="bg1"/>
                </a:solidFill>
              </a:rPr>
              <a:t>中输入简单的代码：</a:t>
            </a:r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步骤</a:t>
            </a:r>
            <a:r>
              <a:rPr lang="en-US" altLang="zh-CN" sz="2000" dirty="0">
                <a:solidFill>
                  <a:schemeClr val="bg1"/>
                </a:solidFill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FFC014"/>
                </a:solidFill>
                <a:ea typeface="宋体" panose="02010600030101010101" pitchFamily="2" charset="-122"/>
              </a:rPr>
              <a:t>运行代码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代码：</a:t>
            </a:r>
            <a:r>
              <a:rPr lang="en-US" altLang="zh-CN" sz="2000" dirty="0">
                <a:solidFill>
                  <a:srgbClr val="92D050"/>
                </a:solidFill>
                <a:sym typeface="+mn-ea"/>
              </a:rPr>
              <a:t>print1(“hello world”)  </a:t>
            </a:r>
            <a:endParaRPr lang="en-US" altLang="zh-CN" sz="2000" dirty="0">
              <a:solidFill>
                <a:srgbClr val="FFC014"/>
              </a:solidFill>
              <a:sym typeface="+mn-ea"/>
            </a:endParaRPr>
          </a:p>
          <a:p>
            <a:r>
              <a:rPr lang="zh-CN" altLang="en-US" sz="2000" dirty="0">
                <a:solidFill>
                  <a:srgbClr val="FFC014"/>
                </a:solidFill>
                <a:ea typeface="宋体" panose="02010600030101010101" pitchFamily="2" charset="-122"/>
                <a:sym typeface="+mn-ea"/>
              </a:rPr>
              <a:t>注意</a:t>
            </a:r>
            <a:r>
              <a:rPr lang="en-US" altLang="zh-CN" sz="2000" dirty="0">
                <a:solidFill>
                  <a:srgbClr val="FFC014"/>
                </a:solidFill>
                <a:ea typeface="宋体" panose="02010600030101010101" pitchFamily="2" charset="-122"/>
                <a:sym typeface="+mn-ea"/>
              </a:rPr>
              <a:t>:</a:t>
            </a:r>
            <a:r>
              <a:rPr lang="zh-CN" altLang="en-US" sz="2000" dirty="0">
                <a:solidFill>
                  <a:srgbClr val="FFC014"/>
                </a:solidFill>
                <a:ea typeface="宋体" panose="02010600030101010101" pitchFamily="2" charset="-122"/>
                <a:sym typeface="+mn-ea"/>
              </a:rPr>
              <a:t>所有标点符号均为英文符号，引号可以为单引号也可以为双引号</a:t>
            </a:r>
            <a:endParaRPr lang="zh-CN" altLang="en-US" sz="2000" dirty="0">
              <a:solidFill>
                <a:srgbClr val="FFC014"/>
              </a:solidFill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66395" y="307975"/>
            <a:ext cx="656145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基础知识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" name="Table -1"/>
          <p:cNvGraphicFramePr/>
          <p:nvPr>
            <p:custDataLst>
              <p:tags r:id="rId1"/>
            </p:custDataLst>
          </p:nvPr>
        </p:nvGraphicFramePr>
        <p:xfrm>
          <a:off x="366395" y="1350645"/>
          <a:ext cx="11216640" cy="342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20"/>
                <a:gridCol w="1384935"/>
                <a:gridCol w="2368550"/>
                <a:gridCol w="6426835"/>
              </a:tblGrid>
              <a:tr h="37084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对象类型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类型名称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示例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简要说明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数字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int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, float, complex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1234,  3.14, 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1.3e5,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 3+4j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数字大小没有限制，内置支持复数及其运算</a:t>
                      </a:r>
                      <a:endParaRPr lang="zh-CN" altLang="en-US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字符串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str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'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swfu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', "I'm student",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 '''Python '''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  <a:sym typeface="+mn-ea"/>
                        </a:rPr>
                        <a:t>'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abc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  <a:sym typeface="+mn-ea"/>
                        </a:rPr>
                        <a:t>'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  <a:sym typeface="+mn-ea"/>
                        </a:rPr>
                        <a:t>'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bcd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  <a:sym typeface="+mn-ea"/>
                        </a:rPr>
                        <a:t>'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  <a:sym typeface="+mn-ea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使用单引号、双引号、三引号作为定界符，以字母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引导的表示原始字符串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字节串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bytes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’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hello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 world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’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以字母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引导，可以使用单引号、双引号、三引号作为定界符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列表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list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[1, 2, 3]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['a', 'b', ['c', 2]]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所有元素放在一对方括号中，元素之间使用逗号分隔，其中的元素可以是任意类型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字典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dict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{1:'food' ,2:'taste', 3:'import'}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所有元素放在一对大括号中，元素之间使用逗号分隔，元素形式为“键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: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值”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元组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tuple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(2, -5, 6)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, (3,)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不可变，所有元素放在一对圆括号中，元素之间使用逗号分隔，如果元组中只有一个元素的话，后面的逗号不能省略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集合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set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frozenset</a:t>
                      </a:r>
                      <a:endParaRPr lang="en-US" altLang="zh-CN" sz="1400" b="1" baseline="0" dirty="0" err="1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{'a', 'b', 'c'}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所有元素放在一对大括号中，元素之间使用逗号分隔，元素不允许重复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;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另外，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set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是可变的，而</a:t>
                      </a: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frozenset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是不可变的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Content Placeholder -1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366395" y="4886325"/>
          <a:ext cx="11216640" cy="3181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860"/>
                <a:gridCol w="1386840"/>
                <a:gridCol w="2364740"/>
                <a:gridCol w="6426200"/>
              </a:tblGrid>
              <a:tr h="55689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布尔型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bool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True, False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逻辑值，关系运算符、成员测试运算符、同一性测试运算符组成的表达式的值一般为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False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空类型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 dirty="0" err="1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NoneType</a:t>
                      </a:r>
                      <a:endParaRPr lang="en-US" altLang="zh-CN" sz="1400" b="1" baseline="0" dirty="0" err="1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None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空值</a:t>
                      </a:r>
                      <a:endParaRPr lang="zh-CN" altLang="en-US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异常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Exception</a:t>
                      </a:r>
                      <a:r>
                        <a:rPr lang="zh-CN" altLang="en-US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ValueError</a:t>
                      </a:r>
                      <a:r>
                        <a:rPr lang="zh-CN" altLang="en-US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TypeError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 </a:t>
                      </a:r>
                      <a:endParaRPr lang="en-US" altLang="zh-CN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Python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内置大量异常类，分别对应不同类型的异常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文件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f 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=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open('data.dat', 'r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en-US" altLang="zh-CN" sz="1400" b="1" baseline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Calibri" panose="020F0502020204030204" charset="0"/>
                        </a:rPr>
                        <a:t>')</a:t>
                      </a:r>
                      <a:endParaRPr lang="en-US" altLang="zh-CN" sz="1400" b="1" baseline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27150" marR="0" marT="0" marB="0" anchor="ctr">
                    <a:lnL w="9525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open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是</a:t>
                      </a:r>
                      <a:r>
                        <a:rPr lang="en-US" altLang="zh-CN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Python</a:t>
                      </a:r>
                      <a:r>
                        <a:rPr lang="zh-CN" altLang="en-US" sz="1400" b="1" baseline="0" dirty="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宋体" panose="02010600030101010101" pitchFamily="2" charset="-122"/>
                        </a:rPr>
                        <a:t>内置函数，使用指定的模式打开文件，返回文件对象</a:t>
                      </a:r>
                      <a:endParaRPr lang="zh-CN" altLang="en-US" sz="1400" b="1" baseline="0" dirty="0">
                        <a:solidFill>
                          <a:schemeClr val="bg1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27150" marR="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87400" y="891540"/>
            <a:ext cx="244665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dirty="0">
                <a:solidFill>
                  <a:schemeClr val="bg1"/>
                </a:solidFill>
              </a:rPr>
              <a:t>2.1Python</a:t>
            </a:r>
            <a:r>
              <a:rPr lang="zh-CN" altLang="en-US" dirty="0">
                <a:solidFill>
                  <a:schemeClr val="bg1"/>
                </a:solidFill>
              </a:rPr>
              <a:t>的对象</a:t>
            </a:r>
            <a:r>
              <a:rPr lang="zh-CN" altLang="en-US" dirty="0">
                <a:solidFill>
                  <a:schemeClr val="bg1"/>
                </a:solidFill>
              </a:rPr>
              <a:t>模型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知识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8815" y="1089660"/>
            <a:ext cx="10573385" cy="311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   2.2Python</a:t>
            </a:r>
            <a:r>
              <a:rPr lang="zh-CN" altLang="en-US">
                <a:solidFill>
                  <a:schemeClr val="bg1"/>
                </a:solidFill>
              </a:rPr>
              <a:t>的变量</a:t>
            </a:r>
            <a:endParaRPr lang="zh-CN" altLang="en-US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Python </a:t>
            </a:r>
            <a:r>
              <a:rPr lang="zh-CN" altLang="en-US">
                <a:solidFill>
                  <a:schemeClr val="bg1"/>
                </a:solidFill>
              </a:rPr>
              <a:t>中的变量是用于存储和引用数据的命名标识，核心特点如下：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rgbClr val="FFC014"/>
                </a:solidFill>
              </a:rPr>
              <a:t>动态类型</a:t>
            </a:r>
            <a:r>
              <a:rPr lang="zh-CN" altLang="en-US">
                <a:solidFill>
                  <a:schemeClr val="bg1"/>
                </a:solidFill>
              </a:rPr>
              <a:t>：无需预先声明类型，赋值时自动确定（如</a:t>
            </a:r>
            <a:r>
              <a:rPr lang="en-US" altLang="zh-CN">
                <a:solidFill>
                  <a:schemeClr val="bg1"/>
                </a:solidFill>
              </a:rPr>
              <a:t> x=5 </a:t>
            </a:r>
            <a:r>
              <a:rPr lang="zh-CN" altLang="en-US">
                <a:solidFill>
                  <a:schemeClr val="bg1"/>
                </a:solidFill>
              </a:rPr>
              <a:t>是整数，</a:t>
            </a:r>
            <a:r>
              <a:rPr lang="en-US" altLang="zh-CN">
                <a:solidFill>
                  <a:schemeClr val="bg1"/>
                </a:solidFill>
              </a:rPr>
              <a:t>x="hi" </a:t>
            </a:r>
            <a:r>
              <a:rPr lang="zh-CN" altLang="en-US">
                <a:solidFill>
                  <a:schemeClr val="bg1"/>
                </a:solidFill>
              </a:rPr>
              <a:t>变为字符串）。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rgbClr val="FFC014"/>
                </a:solidFill>
              </a:rPr>
              <a:t>引用特性</a:t>
            </a:r>
            <a:r>
              <a:rPr lang="zh-CN" altLang="en-US">
                <a:solidFill>
                  <a:schemeClr val="bg1"/>
                </a:solidFill>
              </a:rPr>
              <a:t>：变量本质是指向对象的</a:t>
            </a:r>
            <a:r>
              <a:rPr lang="en-US" altLang="zh-CN">
                <a:solidFill>
                  <a:schemeClr val="bg1"/>
                </a:solidFill>
              </a:rPr>
              <a:t> "</a:t>
            </a:r>
            <a:r>
              <a:rPr lang="zh-CN" altLang="en-US">
                <a:solidFill>
                  <a:schemeClr val="bg1"/>
                </a:solidFill>
              </a:rPr>
              <a:t>指针</a:t>
            </a:r>
            <a:r>
              <a:rPr lang="en-US" altLang="zh-CN">
                <a:solidFill>
                  <a:schemeClr val="bg1"/>
                </a:solidFill>
              </a:rPr>
              <a:t>"</a:t>
            </a:r>
            <a:r>
              <a:rPr lang="zh-CN" altLang="en-US">
                <a:solidFill>
                  <a:schemeClr val="bg1"/>
                </a:solidFill>
              </a:rPr>
              <a:t>，而非直接存储数据。</a:t>
            </a:r>
            <a:r>
              <a:rPr lang="en-US" altLang="zh-CN">
                <a:solidFill>
                  <a:schemeClr val="bg1"/>
                </a:solidFill>
              </a:rPr>
              <a:t>a = b </a:t>
            </a:r>
            <a:r>
              <a:rPr lang="zh-CN" altLang="en-US">
                <a:solidFill>
                  <a:schemeClr val="bg1"/>
                </a:solidFill>
              </a:rPr>
              <a:t>表示</a:t>
            </a:r>
            <a:r>
              <a:rPr lang="en-US" altLang="zh-CN">
                <a:solidFill>
                  <a:schemeClr val="bg1"/>
                </a:solidFill>
              </a:rPr>
              <a:t> a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 b </a:t>
            </a:r>
            <a:r>
              <a:rPr lang="zh-CN" altLang="en-US">
                <a:solidFill>
                  <a:schemeClr val="bg1"/>
                </a:solidFill>
              </a:rPr>
              <a:t>指向同一对象。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rgbClr val="FFC014"/>
                </a:solidFill>
              </a:rPr>
              <a:t>命名规则</a:t>
            </a:r>
            <a:r>
              <a:rPr lang="zh-CN" altLang="en-US">
                <a:solidFill>
                  <a:schemeClr val="bg1"/>
                </a:solidFill>
              </a:rPr>
              <a:t>：由字母、数字、下划线组成，不能以数字开头，区分大小写，避免使用关键字（如</a:t>
            </a:r>
            <a:r>
              <a:rPr lang="en-US" altLang="zh-CN">
                <a:solidFill>
                  <a:schemeClr val="bg1"/>
                </a:solidFill>
              </a:rPr>
              <a:t> if</a:t>
            </a:r>
            <a:r>
              <a:rPr lang="zh-CN" altLang="en-US">
                <a:solidFill>
                  <a:schemeClr val="bg1"/>
                </a:solidFill>
              </a:rPr>
              <a:t>）。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rgbClr val="FFC014"/>
                </a:solidFill>
              </a:rPr>
              <a:t>灵活赋值</a:t>
            </a:r>
            <a:r>
              <a:rPr lang="zh-CN" altLang="en-US">
                <a:solidFill>
                  <a:schemeClr val="bg1"/>
                </a:solidFill>
              </a:rPr>
              <a:t>：支持多变量同时赋值（</a:t>
            </a:r>
            <a:r>
              <a:rPr lang="en-US" altLang="zh-CN">
                <a:solidFill>
                  <a:schemeClr val="bg1"/>
                </a:solidFill>
              </a:rPr>
              <a:t>a,b=1,2</a:t>
            </a:r>
            <a:r>
              <a:rPr lang="zh-CN" altLang="en-US">
                <a:solidFill>
                  <a:schemeClr val="bg1"/>
                </a:solidFill>
              </a:rPr>
              <a:t>）、解包（</a:t>
            </a:r>
            <a:r>
              <a:rPr lang="en-US" altLang="zh-CN">
                <a:solidFill>
                  <a:schemeClr val="bg1"/>
                </a:solidFill>
              </a:rPr>
              <a:t>x,y = [3,4]</a:t>
            </a:r>
            <a:r>
              <a:rPr lang="zh-CN" altLang="en-US">
                <a:solidFill>
                  <a:schemeClr val="bg1"/>
                </a:solidFill>
              </a:rPr>
              <a:t>）等简洁方式。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5730" y="3317240"/>
            <a:ext cx="700595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14"/>
                </a:solidFill>
              </a:rPr>
              <a:t>示例代码：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动态类型（无需声明类型，可随时改变）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# </a:t>
            </a:r>
            <a:r>
              <a:rPr lang="zh-CN" altLang="en-US">
                <a:solidFill>
                  <a:schemeClr val="bg1"/>
                </a:solidFill>
              </a:rPr>
              <a:t>变量类型随赋值自动变化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x = 100  </a:t>
            </a: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en-US" altLang="zh-CN">
                <a:solidFill>
                  <a:srgbClr val="FFC014"/>
                </a:solidFill>
              </a:rPr>
              <a:t>    # x </a:t>
            </a:r>
            <a:r>
              <a:rPr lang="zh-CN" altLang="en-US">
                <a:solidFill>
                  <a:srgbClr val="FFC014"/>
                </a:solidFill>
              </a:rPr>
              <a:t>是整数（</a:t>
            </a:r>
            <a:r>
              <a:rPr lang="en-US" altLang="zh-CN">
                <a:solidFill>
                  <a:srgbClr val="FFC014"/>
                </a:solidFill>
              </a:rPr>
              <a:t>int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print(type(x))  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C014"/>
                </a:solidFill>
              </a:rPr>
              <a:t># &lt;class 'int'&gt;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x = "Hello"    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en-US" altLang="zh-CN">
                <a:solidFill>
                  <a:srgbClr val="FFC014"/>
                </a:solidFill>
              </a:rPr>
              <a:t> # x </a:t>
            </a:r>
            <a:r>
              <a:rPr lang="zh-CN" altLang="en-US">
                <a:solidFill>
                  <a:srgbClr val="FFC014"/>
                </a:solidFill>
              </a:rPr>
              <a:t>变为字符串（</a:t>
            </a:r>
            <a:r>
              <a:rPr lang="en-US" altLang="zh-CN">
                <a:solidFill>
                  <a:srgbClr val="FFC014"/>
                </a:solidFill>
              </a:rPr>
              <a:t>str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print(type(x))   </a:t>
            </a:r>
            <a:r>
              <a:rPr lang="en-US" altLang="zh-CN">
                <a:solidFill>
                  <a:srgbClr val="FFC014"/>
                </a:solidFill>
              </a:rPr>
              <a:t># &lt;class 'str'&gt;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x = [1, 2, 3]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en-US" altLang="zh-CN">
                <a:solidFill>
                  <a:srgbClr val="FFC014"/>
                </a:solidFill>
              </a:rPr>
              <a:t># x </a:t>
            </a:r>
            <a:r>
              <a:rPr lang="zh-CN" altLang="en-US">
                <a:solidFill>
                  <a:srgbClr val="FFC014"/>
                </a:solidFill>
              </a:rPr>
              <a:t>变为列表（</a:t>
            </a:r>
            <a:r>
              <a:rPr lang="en-US" altLang="zh-CN">
                <a:solidFill>
                  <a:srgbClr val="FFC014"/>
                </a:solidFill>
              </a:rPr>
              <a:t>list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print(type(x)) 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C014"/>
                </a:solidFill>
              </a:rPr>
              <a:t># &lt;class 'list'&gt;</a:t>
            </a:r>
            <a:endParaRPr lang="en-US" altLang="zh-CN">
              <a:solidFill>
                <a:srgbClr val="FFC01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知识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1510" y="891540"/>
            <a:ext cx="583184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2.2Python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zh-CN" altLang="en-US">
                <a:solidFill>
                  <a:schemeClr val="bg1"/>
                </a:solidFill>
              </a:rPr>
              <a:t>变量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引用特性（变量指向对象，而非存储数据）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a = [10, 20]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b = a  </a:t>
            </a:r>
            <a:r>
              <a:rPr lang="en-US" altLang="zh-CN">
                <a:solidFill>
                  <a:srgbClr val="00B050"/>
                </a:solidFill>
              </a:rPr>
              <a:t>      </a:t>
            </a:r>
            <a:r>
              <a:rPr lang="en-US" altLang="zh-CN">
                <a:solidFill>
                  <a:srgbClr val="FFC014"/>
                </a:solidFill>
              </a:rPr>
              <a:t>    # b </a:t>
            </a:r>
            <a:r>
              <a:rPr lang="zh-CN" altLang="en-US">
                <a:solidFill>
                  <a:srgbClr val="FFC014"/>
                </a:solidFill>
              </a:rPr>
              <a:t>和</a:t>
            </a:r>
            <a:r>
              <a:rPr lang="en-US" altLang="zh-CN">
                <a:solidFill>
                  <a:srgbClr val="FFC014"/>
                </a:solidFill>
              </a:rPr>
              <a:t> a </a:t>
            </a:r>
            <a:r>
              <a:rPr lang="zh-CN" altLang="en-US">
                <a:solidFill>
                  <a:srgbClr val="FFC014"/>
                </a:solidFill>
              </a:rPr>
              <a:t>指向同一个列表对象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b.append(30) </a:t>
            </a: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en-US" altLang="zh-CN">
                <a:solidFill>
                  <a:srgbClr val="FFC014"/>
                </a:solidFill>
              </a:rPr>
              <a:t> # </a:t>
            </a:r>
            <a:r>
              <a:rPr lang="zh-CN" altLang="en-US">
                <a:solidFill>
                  <a:srgbClr val="FFC014"/>
                </a:solidFill>
              </a:rPr>
              <a:t>修改</a:t>
            </a:r>
            <a:r>
              <a:rPr lang="en-US" altLang="zh-CN">
                <a:solidFill>
                  <a:srgbClr val="FFC014"/>
                </a:solidFill>
              </a:rPr>
              <a:t> b </a:t>
            </a:r>
            <a:r>
              <a:rPr lang="zh-CN" altLang="en-US">
                <a:solidFill>
                  <a:srgbClr val="FFC014"/>
                </a:solidFill>
              </a:rPr>
              <a:t>指向的对象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print(a) 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en-US" altLang="zh-CN">
                <a:solidFill>
                  <a:srgbClr val="FFC014"/>
                </a:solidFill>
              </a:rPr>
              <a:t>   # </a:t>
            </a:r>
            <a:r>
              <a:rPr lang="zh-CN" altLang="en-US">
                <a:solidFill>
                  <a:srgbClr val="FFC014"/>
                </a:solidFill>
              </a:rPr>
              <a:t>输出</a:t>
            </a:r>
            <a:r>
              <a:rPr lang="en-US" altLang="zh-CN">
                <a:solidFill>
                  <a:srgbClr val="FFC014"/>
                </a:solidFill>
              </a:rPr>
              <a:t> [10, 20, 30]</a:t>
            </a:r>
            <a:r>
              <a:rPr lang="zh-CN" altLang="en-US">
                <a:solidFill>
                  <a:srgbClr val="FFC014"/>
                </a:solidFill>
              </a:rPr>
              <a:t>（</a:t>
            </a:r>
            <a:r>
              <a:rPr lang="en-US" altLang="zh-CN">
                <a:solidFill>
                  <a:srgbClr val="FFC014"/>
                </a:solidFill>
              </a:rPr>
              <a:t>a </a:t>
            </a:r>
            <a:r>
              <a:rPr lang="zh-CN" altLang="en-US">
                <a:solidFill>
                  <a:srgbClr val="FFC014"/>
                </a:solidFill>
              </a:rPr>
              <a:t>指向的对象也被修改）</a:t>
            </a:r>
            <a:endParaRPr lang="zh-CN" altLang="en-US">
              <a:solidFill>
                <a:srgbClr val="FFC014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命名规则（合法与非法示例）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合法命名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user_name = "Alice"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age1 = 25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_total = 100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非法命名（会报错）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2nd_place = "Silver"  # </a:t>
            </a:r>
            <a:r>
              <a:rPr lang="zh-CN" altLang="en-US">
                <a:solidFill>
                  <a:srgbClr val="FFC014"/>
                </a:solidFill>
              </a:rPr>
              <a:t>不能以数字开头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my-name = "Test"      # </a:t>
            </a:r>
            <a:r>
              <a:rPr lang="zh-CN" altLang="en-US">
                <a:solidFill>
                  <a:srgbClr val="FFC014"/>
                </a:solidFill>
              </a:rPr>
              <a:t>不能包含连字符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if = 5                # </a:t>
            </a:r>
            <a:r>
              <a:rPr lang="zh-CN" altLang="en-US">
                <a:solidFill>
                  <a:srgbClr val="FFC014"/>
                </a:solidFill>
              </a:rPr>
              <a:t>不能使用关键字</a:t>
            </a:r>
            <a:endParaRPr lang="zh-CN" altLang="en-US">
              <a:solidFill>
                <a:srgbClr val="FFC014"/>
              </a:solidFill>
            </a:endParaRPr>
          </a:p>
          <a:p>
            <a:endParaRPr lang="zh-CN" altLang="en-US">
              <a:solidFill>
                <a:srgbClr val="FFC014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9100" y="709295"/>
            <a:ext cx="5831840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灵活赋值方式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多变量同时赋值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a, b, c = 1, 2, 3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print(a, b, c)</a:t>
            </a:r>
            <a:r>
              <a:rPr lang="en-US" altLang="zh-CN">
                <a:solidFill>
                  <a:srgbClr val="FFC014"/>
                </a:solidFill>
              </a:rPr>
              <a:t>  # </a:t>
            </a:r>
            <a:r>
              <a:rPr lang="zh-CN" altLang="en-US">
                <a:solidFill>
                  <a:srgbClr val="FFC014"/>
                </a:solidFill>
              </a:rPr>
              <a:t>输出</a:t>
            </a:r>
            <a:r>
              <a:rPr lang="en-US" altLang="zh-CN">
                <a:solidFill>
                  <a:srgbClr val="FFC014"/>
                </a:solidFill>
              </a:rPr>
              <a:t> 1 2 3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多变量赋同一值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x = y = z = 0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print(x, y, z)  </a:t>
            </a:r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输出</a:t>
            </a:r>
            <a:r>
              <a:rPr lang="en-US" altLang="zh-CN">
                <a:solidFill>
                  <a:srgbClr val="FFC014"/>
                </a:solidFill>
              </a:rPr>
              <a:t> 0 0 0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解包赋值（从列表</a:t>
            </a:r>
            <a:r>
              <a:rPr lang="en-US" altLang="zh-CN">
                <a:solidFill>
                  <a:srgbClr val="FFC014"/>
                </a:solidFill>
              </a:rPr>
              <a:t>/</a:t>
            </a:r>
            <a:r>
              <a:rPr lang="zh-CN" altLang="en-US">
                <a:solidFill>
                  <a:srgbClr val="FFC014"/>
                </a:solidFill>
              </a:rPr>
              <a:t>元组中提取元素）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numbers = (10, 20, 30)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p, q, r = numbers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print(p, q, r) </a:t>
            </a:r>
            <a:r>
              <a:rPr lang="en-US" altLang="zh-CN">
                <a:solidFill>
                  <a:srgbClr val="FFC014"/>
                </a:solidFill>
              </a:rPr>
              <a:t> # </a:t>
            </a:r>
            <a:r>
              <a:rPr lang="zh-CN" altLang="en-US">
                <a:solidFill>
                  <a:srgbClr val="FFC014"/>
                </a:solidFill>
              </a:rPr>
              <a:t>输出</a:t>
            </a:r>
            <a:r>
              <a:rPr lang="en-US" altLang="zh-CN">
                <a:solidFill>
                  <a:srgbClr val="FFC014"/>
                </a:solidFill>
              </a:rPr>
              <a:t> 10 20 30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交换变量值（无需临时变量）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m, n = 5, 10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m, n = n, m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print(m, n)</a:t>
            </a:r>
            <a:r>
              <a:rPr lang="en-US" altLang="zh-CN">
                <a:solidFill>
                  <a:srgbClr val="00B050"/>
                </a:solidFill>
              </a:rPr>
              <a:t> 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C014"/>
                </a:solidFill>
              </a:rPr>
              <a:t>  # </a:t>
            </a:r>
            <a:r>
              <a:rPr lang="zh-CN" altLang="en-US">
                <a:solidFill>
                  <a:srgbClr val="FFC014"/>
                </a:solidFill>
              </a:rPr>
              <a:t>输出</a:t>
            </a:r>
            <a:r>
              <a:rPr lang="en-US" altLang="zh-CN">
                <a:solidFill>
                  <a:srgbClr val="FFC014"/>
                </a:solidFill>
              </a:rPr>
              <a:t> 10 5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知识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2.3Python</a:t>
            </a:r>
            <a:r>
              <a:rPr lang="zh-CN" altLang="en-US">
                <a:solidFill>
                  <a:schemeClr val="bg1"/>
                </a:solidFill>
              </a:rPr>
              <a:t>的数字类型与字符串</a:t>
            </a:r>
            <a:r>
              <a:rPr lang="zh-CN" altLang="en-US">
                <a:solidFill>
                  <a:schemeClr val="bg1"/>
                </a:solidFill>
              </a:rPr>
              <a:t>类型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155" y="1259840"/>
            <a:ext cx="620839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数字类型（</a:t>
            </a:r>
            <a:r>
              <a:rPr lang="en-US" altLang="zh-CN">
                <a:solidFill>
                  <a:schemeClr val="bg1"/>
                </a:solidFill>
              </a:rPr>
              <a:t>Numeric Types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Python </a:t>
            </a:r>
            <a:r>
              <a:rPr lang="zh-CN" altLang="en-US">
                <a:solidFill>
                  <a:schemeClr val="bg1"/>
                </a:solidFill>
              </a:rPr>
              <a:t>的数字类型主要包括：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1.</a:t>
            </a:r>
            <a:r>
              <a:rPr lang="zh-CN" altLang="en-US">
                <a:solidFill>
                  <a:srgbClr val="FFC014"/>
                </a:solidFill>
              </a:rPr>
              <a:t>整数（</a:t>
            </a:r>
            <a:r>
              <a:rPr lang="en-US" altLang="zh-CN">
                <a:solidFill>
                  <a:srgbClr val="FFC014"/>
                </a:solidFill>
              </a:rPr>
              <a:t>int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r>
              <a:rPr lang="zh-CN" altLang="en-US">
                <a:solidFill>
                  <a:schemeClr val="bg1"/>
                </a:solidFill>
              </a:rPr>
              <a:t>：没有小数部分的数字，如</a:t>
            </a:r>
            <a:r>
              <a:rPr lang="en-US" altLang="zh-CN">
                <a:solidFill>
                  <a:schemeClr val="bg1"/>
                </a:solidFill>
              </a:rPr>
              <a:t>42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-7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0</a:t>
            </a:r>
            <a:r>
              <a:rPr lang="zh-CN" altLang="en-US">
                <a:solidFill>
                  <a:schemeClr val="bg1"/>
                </a:solidFill>
              </a:rPr>
              <a:t>，支持任意大小的整数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2.</a:t>
            </a:r>
            <a:r>
              <a:rPr lang="zh-CN" altLang="en-US">
                <a:solidFill>
                  <a:srgbClr val="FFC014"/>
                </a:solidFill>
              </a:rPr>
              <a:t>浮点数（</a:t>
            </a:r>
            <a:r>
              <a:rPr lang="en-US" altLang="zh-CN">
                <a:solidFill>
                  <a:srgbClr val="FFC014"/>
                </a:solidFill>
              </a:rPr>
              <a:t>float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r>
              <a:rPr lang="zh-CN" altLang="en-US">
                <a:solidFill>
                  <a:schemeClr val="bg1"/>
                </a:solidFill>
              </a:rPr>
              <a:t>：带小数部分的数字，如</a:t>
            </a:r>
            <a:r>
              <a:rPr lang="en-US" altLang="zh-CN">
                <a:solidFill>
                  <a:schemeClr val="bg1"/>
                </a:solidFill>
              </a:rPr>
              <a:t>3.14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-0.001</a:t>
            </a:r>
            <a:r>
              <a:rPr lang="zh-CN" altLang="en-US">
                <a:solidFill>
                  <a:schemeClr val="bg1"/>
                </a:solidFill>
              </a:rPr>
              <a:t>，内部以双精度浮点格式存储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3.</a:t>
            </a:r>
            <a:r>
              <a:rPr lang="zh-CN" altLang="en-US">
                <a:solidFill>
                  <a:srgbClr val="FFC014"/>
                </a:solidFill>
              </a:rPr>
              <a:t>复数（</a:t>
            </a:r>
            <a:r>
              <a:rPr lang="en-US" altLang="zh-CN">
                <a:solidFill>
                  <a:srgbClr val="FFC014"/>
                </a:solidFill>
              </a:rPr>
              <a:t>complex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r>
              <a:rPr lang="zh-CN" altLang="en-US">
                <a:solidFill>
                  <a:schemeClr val="bg1"/>
                </a:solidFill>
              </a:rPr>
              <a:t>：由实部和虚部组成，虚部以</a:t>
            </a:r>
            <a:r>
              <a:rPr lang="en-US" altLang="zh-CN">
                <a:solidFill>
                  <a:schemeClr val="bg1"/>
                </a:solidFill>
              </a:rPr>
              <a:t>j</a:t>
            </a:r>
            <a:r>
              <a:rPr lang="zh-CN" altLang="en-US">
                <a:solidFill>
                  <a:schemeClr val="bg1"/>
                </a:solidFill>
              </a:rPr>
              <a:t>或</a:t>
            </a:r>
            <a:r>
              <a:rPr lang="en-US" altLang="zh-CN">
                <a:solidFill>
                  <a:schemeClr val="bg1"/>
                </a:solidFill>
              </a:rPr>
              <a:t>J</a:t>
            </a:r>
            <a:r>
              <a:rPr lang="zh-CN" altLang="en-US">
                <a:solidFill>
                  <a:schemeClr val="bg1"/>
                </a:solidFill>
              </a:rPr>
              <a:t>结尾，如</a:t>
            </a:r>
            <a:r>
              <a:rPr lang="en-US" altLang="zh-CN">
                <a:solidFill>
                  <a:schemeClr val="bg1"/>
                </a:solidFill>
              </a:rPr>
              <a:t>3+4j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-2.5j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数字类型支持常见的算术运算（</a:t>
            </a:r>
            <a:r>
              <a:rPr lang="en-US" altLang="zh-CN">
                <a:solidFill>
                  <a:schemeClr val="bg1"/>
                </a:solidFill>
              </a:rPr>
              <a:t>+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*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/</a:t>
            </a:r>
            <a:r>
              <a:rPr lang="zh-CN" altLang="en-US">
                <a:solidFill>
                  <a:schemeClr val="bg1"/>
                </a:solidFill>
              </a:rPr>
              <a:t>等）和比较运算（</a:t>
            </a:r>
            <a:r>
              <a:rPr lang="en-US" altLang="zh-CN">
                <a:solidFill>
                  <a:schemeClr val="bg1"/>
                </a:solidFill>
              </a:rPr>
              <a:t>&gt;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&lt;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==</a:t>
            </a:r>
            <a:r>
              <a:rPr lang="zh-CN" altLang="en-US">
                <a:solidFill>
                  <a:schemeClr val="bg1"/>
                </a:solidFill>
              </a:rPr>
              <a:t>等）。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字符串类型（</a:t>
            </a:r>
            <a:r>
              <a:rPr lang="en-US" altLang="zh-CN">
                <a:solidFill>
                  <a:schemeClr val="bg1"/>
                </a:solidFill>
              </a:rPr>
              <a:t>str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字符串是由字符组成的序列，用于表示文本信息，特点包括：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1.</a:t>
            </a:r>
            <a:r>
              <a:rPr lang="zh-CN" altLang="en-US">
                <a:solidFill>
                  <a:schemeClr val="bg1"/>
                </a:solidFill>
              </a:rPr>
              <a:t>用单引号（</a:t>
            </a:r>
            <a:r>
              <a:rPr lang="en-US" altLang="zh-CN">
                <a:solidFill>
                  <a:schemeClr val="bg1"/>
                </a:solidFill>
              </a:rPr>
              <a:t>'</a:t>
            </a:r>
            <a:r>
              <a:rPr lang="zh-CN" altLang="en-US">
                <a:solidFill>
                  <a:schemeClr val="bg1"/>
                </a:solidFill>
              </a:rPr>
              <a:t>）、双引号（</a:t>
            </a:r>
            <a:r>
              <a:rPr lang="en-US" altLang="zh-CN">
                <a:solidFill>
                  <a:schemeClr val="bg1"/>
                </a:solidFill>
              </a:rPr>
              <a:t>"</a:t>
            </a:r>
            <a:r>
              <a:rPr lang="zh-CN" altLang="en-US">
                <a:solidFill>
                  <a:schemeClr val="bg1"/>
                </a:solidFill>
              </a:rPr>
              <a:t>）或三引号（</a:t>
            </a:r>
            <a:r>
              <a:rPr lang="en-US" altLang="zh-CN">
                <a:solidFill>
                  <a:schemeClr val="bg1"/>
                </a:solidFill>
              </a:rPr>
              <a:t>'''</a:t>
            </a:r>
            <a:r>
              <a:rPr lang="zh-CN" altLang="en-US">
                <a:solidFill>
                  <a:schemeClr val="bg1"/>
                </a:solidFill>
              </a:rPr>
              <a:t>或</a:t>
            </a:r>
            <a:r>
              <a:rPr lang="en-US" altLang="zh-CN">
                <a:solidFill>
                  <a:schemeClr val="bg1"/>
                </a:solidFill>
              </a:rPr>
              <a:t>"""</a:t>
            </a:r>
            <a:r>
              <a:rPr lang="zh-CN" altLang="en-US">
                <a:solidFill>
                  <a:schemeClr val="bg1"/>
                </a:solidFill>
              </a:rPr>
              <a:t>）包裹，如</a:t>
            </a:r>
            <a:r>
              <a:rPr lang="en-US" altLang="zh-CN">
                <a:solidFill>
                  <a:schemeClr val="bg1"/>
                </a:solidFill>
              </a:rPr>
              <a:t>'hello'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"world"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2.</a:t>
            </a:r>
            <a:r>
              <a:rPr lang="zh-CN" altLang="en-US">
                <a:solidFill>
                  <a:schemeClr val="bg1"/>
                </a:solidFill>
              </a:rPr>
              <a:t>不可变类型，一旦创建就不能修改其中的字符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3.</a:t>
            </a:r>
            <a:r>
              <a:rPr lang="zh-CN" altLang="en-US">
                <a:solidFill>
                  <a:schemeClr val="bg1"/>
                </a:solidFill>
              </a:rPr>
              <a:t>支持索引（</a:t>
            </a:r>
            <a:r>
              <a:rPr lang="en-US" altLang="zh-CN">
                <a:solidFill>
                  <a:schemeClr val="bg1"/>
                </a:solidFill>
              </a:rPr>
              <a:t>s[0]</a:t>
            </a:r>
            <a:r>
              <a:rPr lang="zh-CN" altLang="en-US">
                <a:solidFill>
                  <a:schemeClr val="bg1"/>
                </a:solidFill>
              </a:rPr>
              <a:t>）和切片（</a:t>
            </a:r>
            <a:r>
              <a:rPr lang="en-US" altLang="zh-CN">
                <a:solidFill>
                  <a:schemeClr val="bg1"/>
                </a:solidFill>
              </a:rPr>
              <a:t>s[1:3]</a:t>
            </a:r>
            <a:r>
              <a:rPr lang="zh-CN" altLang="en-US">
                <a:solidFill>
                  <a:schemeClr val="bg1"/>
                </a:solidFill>
              </a:rPr>
              <a:t>）操作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4.</a:t>
            </a:r>
            <a:r>
              <a:rPr lang="zh-CN" altLang="en-US">
                <a:solidFill>
                  <a:schemeClr val="bg1"/>
                </a:solidFill>
              </a:rPr>
              <a:t>提供丰富的字符串方法，如</a:t>
            </a:r>
            <a:r>
              <a:rPr lang="en-US" altLang="zh-CN">
                <a:solidFill>
                  <a:schemeClr val="bg1"/>
                </a:solidFill>
              </a:rPr>
              <a:t>upper()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split()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replace()</a:t>
            </a:r>
            <a:r>
              <a:rPr lang="zh-CN" altLang="en-US">
                <a:solidFill>
                  <a:schemeClr val="bg1"/>
                </a:solidFill>
              </a:rPr>
              <a:t>等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2365" y="1259840"/>
            <a:ext cx="5831840" cy="4831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C014"/>
                </a:solidFill>
              </a:rPr>
              <a:t>代码示例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数字类型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num1 = 42          # int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num2 = 3.14        # float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num3 = 2 + 3j      # complex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字符串类型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str1 = 'Hello'     # </a:t>
            </a:r>
            <a:r>
              <a:rPr lang="zh-CN" altLang="en-US">
                <a:solidFill>
                  <a:schemeClr val="bg1"/>
                </a:solidFill>
              </a:rPr>
              <a:t>单引号字符串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str2 = "World"     # </a:t>
            </a:r>
            <a:r>
              <a:rPr lang="zh-CN" altLang="en-US">
                <a:solidFill>
                  <a:schemeClr val="bg1"/>
                </a:solidFill>
              </a:rPr>
              <a:t>双引号字符串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str3 = """</a:t>
            </a:r>
            <a:r>
              <a:rPr lang="zh-CN" altLang="en-US">
                <a:solidFill>
                  <a:schemeClr val="bg1"/>
                </a:solidFill>
              </a:rPr>
              <a:t>多行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字符串</a:t>
            </a:r>
            <a:r>
              <a:rPr lang="en-US" altLang="zh-CN">
                <a:solidFill>
                  <a:schemeClr val="bg1"/>
                </a:solidFill>
              </a:rPr>
              <a:t>"""          # </a:t>
            </a:r>
            <a:r>
              <a:rPr lang="zh-CN" altLang="en-US">
                <a:solidFill>
                  <a:schemeClr val="bg1"/>
                </a:solidFill>
              </a:rPr>
              <a:t>三引号字符串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基础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知识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2.5Python</a:t>
            </a:r>
            <a:r>
              <a:rPr lang="zh-CN" altLang="en-US">
                <a:solidFill>
                  <a:schemeClr val="bg1"/>
                </a:solidFill>
              </a:rPr>
              <a:t>的常用内置</a:t>
            </a:r>
            <a:r>
              <a:rPr lang="zh-CN" altLang="en-US">
                <a:solidFill>
                  <a:schemeClr val="bg1"/>
                </a:solidFill>
              </a:rPr>
              <a:t>函数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210" y="1209675"/>
            <a:ext cx="972883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类型转换函数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int(x)</a:t>
            </a:r>
            <a:r>
              <a:rPr lang="zh-CN" altLang="en-US">
                <a:solidFill>
                  <a:schemeClr val="bg1"/>
                </a:solidFill>
              </a:rPr>
              <a:t>：将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转换为整数（如</a:t>
            </a:r>
            <a:r>
              <a:rPr lang="en-US" altLang="zh-CN">
                <a:solidFill>
                  <a:schemeClr val="bg1"/>
                </a:solidFill>
              </a:rPr>
              <a:t> int("123") = 123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float(x)</a:t>
            </a:r>
            <a:r>
              <a:rPr lang="zh-CN" altLang="en-US">
                <a:solidFill>
                  <a:schemeClr val="bg1"/>
                </a:solidFill>
              </a:rPr>
              <a:t>：将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转换为浮点数（如</a:t>
            </a:r>
            <a:r>
              <a:rPr lang="en-US" altLang="zh-CN">
                <a:solidFill>
                  <a:schemeClr val="bg1"/>
                </a:solidFill>
              </a:rPr>
              <a:t> float("3.14") = 3.14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str(x)</a:t>
            </a:r>
            <a:r>
              <a:rPr lang="zh-CN" altLang="en-US">
                <a:solidFill>
                  <a:schemeClr val="bg1"/>
                </a:solidFill>
              </a:rPr>
              <a:t>：将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转换为字符串（如</a:t>
            </a:r>
            <a:r>
              <a:rPr lang="en-US" altLang="zh-CN">
                <a:solidFill>
                  <a:schemeClr val="bg1"/>
                </a:solidFill>
              </a:rPr>
              <a:t> str(123) = "123"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bool(x)</a:t>
            </a:r>
            <a:r>
              <a:rPr lang="zh-CN" altLang="en-US">
                <a:solidFill>
                  <a:schemeClr val="bg1"/>
                </a:solidFill>
              </a:rPr>
              <a:t>：将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转换为布尔值（空值、</a:t>
            </a:r>
            <a:r>
              <a:rPr lang="en-US" altLang="zh-CN">
                <a:solidFill>
                  <a:schemeClr val="bg1"/>
                </a:solidFill>
              </a:rPr>
              <a:t>0 </a:t>
            </a:r>
            <a:r>
              <a:rPr lang="zh-CN" altLang="en-US">
                <a:solidFill>
                  <a:schemeClr val="bg1"/>
                </a:solidFill>
              </a:rPr>
              <a:t>等转换为</a:t>
            </a:r>
            <a:r>
              <a:rPr lang="en-US" altLang="zh-CN">
                <a:solidFill>
                  <a:schemeClr val="bg1"/>
                </a:solidFill>
              </a:rPr>
              <a:t> False</a:t>
            </a:r>
            <a:r>
              <a:rPr lang="zh-CN" altLang="en-US">
                <a:solidFill>
                  <a:schemeClr val="bg1"/>
                </a:solidFill>
              </a:rPr>
              <a:t>，其余为</a:t>
            </a:r>
            <a:r>
              <a:rPr lang="en-US" altLang="zh-CN">
                <a:solidFill>
                  <a:schemeClr val="bg1"/>
                </a:solidFill>
              </a:rPr>
              <a:t> True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list(x)/tuple(x)/set(x)</a:t>
            </a:r>
            <a:r>
              <a:rPr lang="zh-CN" altLang="en-US">
                <a:solidFill>
                  <a:schemeClr val="bg1"/>
                </a:solidFill>
              </a:rPr>
              <a:t>：将可迭代对象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转换为列表</a:t>
            </a:r>
            <a:r>
              <a:rPr lang="en-US" altLang="zh-CN">
                <a:solidFill>
                  <a:schemeClr val="bg1"/>
                </a:solidFill>
              </a:rPr>
              <a:t> / </a:t>
            </a:r>
            <a:r>
              <a:rPr lang="zh-CN" altLang="en-US">
                <a:solidFill>
                  <a:schemeClr val="bg1"/>
                </a:solidFill>
              </a:rPr>
              <a:t>元组</a:t>
            </a:r>
            <a:r>
              <a:rPr lang="en-US" altLang="zh-CN">
                <a:solidFill>
                  <a:schemeClr val="bg1"/>
                </a:solidFill>
              </a:rPr>
              <a:t> / </a:t>
            </a:r>
            <a:r>
              <a:rPr lang="zh-CN" altLang="en-US">
                <a:solidFill>
                  <a:schemeClr val="bg1"/>
                </a:solidFill>
              </a:rPr>
              <a:t>集合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数值操作函数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abs(x)</a:t>
            </a:r>
            <a:r>
              <a:rPr lang="zh-CN" altLang="en-US">
                <a:solidFill>
                  <a:schemeClr val="bg1"/>
                </a:solidFill>
              </a:rPr>
              <a:t>：返回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的绝对值（如</a:t>
            </a:r>
            <a:r>
              <a:rPr lang="en-US" altLang="zh-CN">
                <a:solidFill>
                  <a:schemeClr val="bg1"/>
                </a:solidFill>
              </a:rPr>
              <a:t> abs(-5) =5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max(iterable)/min(iterable)</a:t>
            </a:r>
            <a:r>
              <a:rPr lang="zh-CN" altLang="en-US">
                <a:solidFill>
                  <a:schemeClr val="bg1"/>
                </a:solidFill>
              </a:rPr>
              <a:t>：返回可迭代对象中的最大</a:t>
            </a:r>
            <a:r>
              <a:rPr lang="en-US" altLang="zh-CN">
                <a:solidFill>
                  <a:schemeClr val="bg1"/>
                </a:solidFill>
              </a:rPr>
              <a:t> / </a:t>
            </a:r>
            <a:r>
              <a:rPr lang="zh-CN" altLang="en-US">
                <a:solidFill>
                  <a:schemeClr val="bg1"/>
                </a:solidFill>
              </a:rPr>
              <a:t>最小值（如</a:t>
            </a:r>
            <a:r>
              <a:rPr lang="en-US" altLang="zh-CN">
                <a:solidFill>
                  <a:schemeClr val="bg1"/>
                </a:solidFill>
              </a:rPr>
              <a:t> max([1,3,2]) =3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sum(iterable)</a:t>
            </a:r>
            <a:r>
              <a:rPr lang="zh-CN" altLang="en-US">
                <a:solidFill>
                  <a:schemeClr val="bg1"/>
                </a:solidFill>
              </a:rPr>
              <a:t>：返回可迭代对象中元素的和（如</a:t>
            </a:r>
            <a:r>
              <a:rPr lang="en-US" altLang="zh-CN">
                <a:solidFill>
                  <a:schemeClr val="bg1"/>
                </a:solidFill>
              </a:rPr>
              <a:t> sum([1,2,3]) =6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round(x, n)</a:t>
            </a:r>
            <a:r>
              <a:rPr lang="zh-CN" altLang="en-US">
                <a:solidFill>
                  <a:schemeClr val="bg1"/>
                </a:solidFill>
              </a:rPr>
              <a:t>：将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四舍五入到</a:t>
            </a:r>
            <a:r>
              <a:rPr lang="en-US" altLang="zh-CN">
                <a:solidFill>
                  <a:schemeClr val="bg1"/>
                </a:solidFill>
              </a:rPr>
              <a:t> n </a:t>
            </a:r>
            <a:r>
              <a:rPr lang="zh-CN" altLang="en-US">
                <a:solidFill>
                  <a:schemeClr val="bg1"/>
                </a:solidFill>
              </a:rPr>
              <a:t>位小数（如</a:t>
            </a:r>
            <a:r>
              <a:rPr lang="en-US" altLang="zh-CN">
                <a:solidFill>
                  <a:schemeClr val="bg1"/>
                </a:solidFill>
              </a:rPr>
              <a:t> round(3.1415, 2) = 3.14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输入输出函数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print(*objects)</a:t>
            </a:r>
            <a:r>
              <a:rPr lang="zh-CN" altLang="en-US">
                <a:solidFill>
                  <a:schemeClr val="bg1"/>
                </a:solidFill>
              </a:rPr>
              <a:t>：输出内容到控制台（如</a:t>
            </a:r>
            <a:r>
              <a:rPr lang="en-US" altLang="zh-CN">
                <a:solidFill>
                  <a:schemeClr val="bg1"/>
                </a:solidFill>
              </a:rPr>
              <a:t> print("Hello") </a:t>
            </a:r>
            <a:r>
              <a:rPr lang="zh-CN" altLang="en-US">
                <a:solidFill>
                  <a:schemeClr val="bg1"/>
                </a:solidFill>
              </a:rPr>
              <a:t>打印</a:t>
            </a:r>
            <a:r>
              <a:rPr lang="en-US" altLang="zh-CN">
                <a:solidFill>
                  <a:schemeClr val="bg1"/>
                </a:solidFill>
              </a:rPr>
              <a:t> Hello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input(prompt)</a:t>
            </a:r>
            <a:r>
              <a:rPr lang="zh-CN" altLang="en-US">
                <a:solidFill>
                  <a:schemeClr val="bg1"/>
                </a:solidFill>
              </a:rPr>
              <a:t>：接收用户输入，返回字符串（如</a:t>
            </a:r>
            <a:r>
              <a:rPr lang="en-US" altLang="zh-CN">
                <a:solidFill>
                  <a:schemeClr val="bg1"/>
                </a:solidFill>
              </a:rPr>
              <a:t> name = input("</a:t>
            </a:r>
            <a:r>
              <a:rPr lang="zh-CN" altLang="en-US">
                <a:solidFill>
                  <a:schemeClr val="bg1"/>
                </a:solidFill>
              </a:rPr>
              <a:t>请输入姓名：</a:t>
            </a:r>
            <a:r>
              <a:rPr lang="en-US" altLang="zh-CN">
                <a:solidFill>
                  <a:schemeClr val="bg1"/>
                </a:solidFill>
              </a:rPr>
              <a:t>")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5. </a:t>
            </a:r>
            <a:r>
              <a:rPr lang="zh-CN" altLang="en-US">
                <a:solidFill>
                  <a:schemeClr val="bg1"/>
                </a:solidFill>
              </a:rPr>
              <a:t>其他常用函数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type(x)</a:t>
            </a:r>
            <a:r>
              <a:rPr lang="zh-CN" altLang="en-US">
                <a:solidFill>
                  <a:schemeClr val="bg1"/>
                </a:solidFill>
              </a:rPr>
              <a:t>：返回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的数据类型（如</a:t>
            </a:r>
            <a:r>
              <a:rPr lang="en-US" altLang="zh-CN">
                <a:solidFill>
                  <a:schemeClr val="bg1"/>
                </a:solidFill>
              </a:rPr>
              <a:t> type(123) </a:t>
            </a:r>
            <a:r>
              <a:rPr lang="zh-CN" altLang="en-US">
                <a:solidFill>
                  <a:schemeClr val="bg1"/>
                </a:solidFill>
              </a:rPr>
              <a:t>结果为</a:t>
            </a:r>
            <a:r>
              <a:rPr lang="en-US" altLang="zh-CN">
                <a:solidFill>
                  <a:schemeClr val="bg1"/>
                </a:solidFill>
              </a:rPr>
              <a:t> int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isinstance(x, type)</a:t>
            </a:r>
            <a:r>
              <a:rPr lang="zh-CN" altLang="en-US">
                <a:solidFill>
                  <a:schemeClr val="bg1"/>
                </a:solidFill>
              </a:rPr>
              <a:t>：判断</a:t>
            </a:r>
            <a:r>
              <a:rPr lang="en-US" altLang="zh-CN">
                <a:solidFill>
                  <a:schemeClr val="bg1"/>
                </a:solidFill>
              </a:rPr>
              <a:t> x </a:t>
            </a:r>
            <a:r>
              <a:rPr lang="zh-CN" altLang="en-US">
                <a:solidFill>
                  <a:schemeClr val="bg1"/>
                </a:solidFill>
              </a:rPr>
              <a:t>是否为指定类型（如</a:t>
            </a:r>
            <a:r>
              <a:rPr lang="en-US" altLang="zh-CN">
                <a:solidFill>
                  <a:schemeClr val="bg1"/>
                </a:solidFill>
              </a:rPr>
              <a:t> isinstance("abc", str) </a:t>
            </a:r>
            <a:r>
              <a:rPr lang="zh-CN" altLang="en-US">
                <a:solidFill>
                  <a:schemeClr val="bg1"/>
                </a:solidFill>
              </a:rPr>
              <a:t>结果为</a:t>
            </a:r>
            <a:r>
              <a:rPr lang="en-US" altLang="zh-CN">
                <a:solidFill>
                  <a:schemeClr val="bg1"/>
                </a:solidFill>
              </a:rPr>
              <a:t> True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sorted(iterable)</a:t>
            </a:r>
            <a:r>
              <a:rPr lang="zh-CN" altLang="en-US">
                <a:solidFill>
                  <a:schemeClr val="bg1"/>
                </a:solidFill>
              </a:rPr>
              <a:t>：返回排序后的列表（如</a:t>
            </a:r>
            <a:r>
              <a:rPr lang="en-US" altLang="zh-CN">
                <a:solidFill>
                  <a:schemeClr val="bg1"/>
                </a:solidFill>
              </a:rPr>
              <a:t> sorted([3,1,2]) </a:t>
            </a:r>
            <a:r>
              <a:rPr lang="zh-CN" altLang="en-US">
                <a:solidFill>
                  <a:schemeClr val="bg1"/>
                </a:solidFill>
              </a:rPr>
              <a:t>结果为</a:t>
            </a:r>
            <a:r>
              <a:rPr lang="en-US" altLang="zh-CN">
                <a:solidFill>
                  <a:schemeClr val="bg1"/>
                </a:solidFill>
              </a:rPr>
              <a:t> [1,2,3]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845" y="1543685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</a:rPr>
              <a:t>if-else</a:t>
            </a:r>
            <a:r>
              <a:rPr lang="zh-CN" altLang="en-US" sz="2000">
                <a:solidFill>
                  <a:schemeClr val="bg1"/>
                </a:solidFill>
              </a:rPr>
              <a:t>的基本语法结构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if </a:t>
            </a:r>
            <a:r>
              <a:rPr lang="zh-CN" altLang="en-US" sz="2000">
                <a:solidFill>
                  <a:schemeClr val="bg1"/>
                </a:solidFill>
              </a:rPr>
              <a:t>条件表达式</a:t>
            </a:r>
            <a:r>
              <a:rPr lang="en-US" altLang="zh-CN" sz="2000">
                <a:solidFill>
                  <a:schemeClr val="bg1"/>
                </a:solidFill>
              </a:rPr>
              <a:t>: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# </a:t>
            </a:r>
            <a:r>
              <a:rPr lang="zh-CN" altLang="en-US" sz="2000">
                <a:solidFill>
                  <a:schemeClr val="bg1"/>
                </a:solidFill>
              </a:rPr>
              <a:t>当条件表达式为</a:t>
            </a:r>
            <a:r>
              <a:rPr lang="en-US" altLang="zh-CN" sz="2000">
                <a:solidFill>
                  <a:schemeClr val="bg1"/>
                </a:solidFill>
              </a:rPr>
              <a:t> True </a:t>
            </a:r>
            <a:r>
              <a:rPr lang="zh-CN" altLang="en-US" sz="2000">
                <a:solidFill>
                  <a:schemeClr val="bg1"/>
                </a:solidFill>
              </a:rPr>
              <a:t>时，执行的代码块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</a:t>
            </a:r>
            <a:r>
              <a:rPr lang="zh-CN" altLang="en-US" sz="2000">
                <a:solidFill>
                  <a:schemeClr val="bg1"/>
                </a:solidFill>
              </a:rPr>
              <a:t>执行语句</a:t>
            </a:r>
            <a:r>
              <a:rPr lang="en-US" altLang="zh-CN" sz="2000">
                <a:solidFill>
                  <a:schemeClr val="bg1"/>
                </a:solidFill>
              </a:rPr>
              <a:t>1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</a:t>
            </a:r>
            <a:r>
              <a:rPr lang="zh-CN" altLang="en-US" sz="2000">
                <a:solidFill>
                  <a:schemeClr val="bg1"/>
                </a:solidFill>
              </a:rPr>
              <a:t>执行语句</a:t>
            </a:r>
            <a:r>
              <a:rPr lang="en-US" altLang="zh-CN" sz="2000">
                <a:solidFill>
                  <a:schemeClr val="bg1"/>
                </a:solidFill>
              </a:rPr>
              <a:t>2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...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else: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# </a:t>
            </a:r>
            <a:r>
              <a:rPr lang="zh-CN" altLang="en-US" sz="2000">
                <a:solidFill>
                  <a:schemeClr val="bg1"/>
                </a:solidFill>
              </a:rPr>
              <a:t>当条件表达式为</a:t>
            </a:r>
            <a:r>
              <a:rPr lang="en-US" altLang="zh-CN" sz="2000">
                <a:solidFill>
                  <a:schemeClr val="bg1"/>
                </a:solidFill>
              </a:rPr>
              <a:t> False </a:t>
            </a:r>
            <a:r>
              <a:rPr lang="zh-CN" altLang="en-US" sz="2000">
                <a:solidFill>
                  <a:schemeClr val="bg1"/>
                </a:solidFill>
              </a:rPr>
              <a:t>时，执行的代码块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</a:t>
            </a:r>
            <a:r>
              <a:rPr lang="zh-CN" altLang="en-US" sz="2000">
                <a:solidFill>
                  <a:schemeClr val="bg1"/>
                </a:solidFill>
              </a:rPr>
              <a:t>执行语句</a:t>
            </a:r>
            <a:r>
              <a:rPr lang="en-US" altLang="zh-CN" sz="2000">
                <a:solidFill>
                  <a:schemeClr val="bg1"/>
                </a:solidFill>
              </a:rPr>
              <a:t>3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</a:t>
            </a:r>
            <a:r>
              <a:rPr lang="zh-CN" altLang="en-US" sz="2000">
                <a:solidFill>
                  <a:schemeClr val="bg1"/>
                </a:solidFill>
              </a:rPr>
              <a:t>执行语句</a:t>
            </a:r>
            <a:r>
              <a:rPr lang="en-US" altLang="zh-CN" sz="2000">
                <a:solidFill>
                  <a:schemeClr val="bg1"/>
                </a:solidFill>
              </a:rPr>
              <a:t>4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...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07050" y="1543685"/>
            <a:ext cx="619442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示例代码：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mood_index = int(input("</a:t>
            </a:r>
            <a:r>
              <a:rPr lang="zh-CN" altLang="en-US" sz="2000">
                <a:solidFill>
                  <a:srgbClr val="92D050"/>
                </a:solidFill>
              </a:rPr>
              <a:t>对象今天的心情指数是：</a:t>
            </a:r>
            <a:r>
              <a:rPr lang="en-US" altLang="zh-CN" sz="2000">
                <a:solidFill>
                  <a:srgbClr val="92D050"/>
                </a:solidFill>
              </a:rPr>
              <a:t>"))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if mood_index &gt;= 60: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print("</a:t>
            </a:r>
            <a:r>
              <a:rPr lang="zh-CN" altLang="en-US" sz="2000">
                <a:solidFill>
                  <a:srgbClr val="92D050"/>
                </a:solidFill>
              </a:rPr>
              <a:t>恭喜，今晚应该可以打游戏。英雄联盟，启动！</a:t>
            </a:r>
            <a:r>
              <a:rPr lang="en-US" altLang="zh-CN" sz="2000">
                <a:solidFill>
                  <a:srgbClr val="92D050"/>
                </a:solidFill>
              </a:rPr>
              <a:t>")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else:</a:t>
            </a:r>
            <a:r>
              <a:rPr lang="en-US" altLang="zh-CN" sz="2000">
                <a:solidFill>
                  <a:srgbClr val="00B050"/>
                </a:solidFill>
              </a:rPr>
              <a:t> </a:t>
            </a:r>
            <a:r>
              <a:rPr lang="en-US" altLang="zh-CN" sz="2000">
                <a:solidFill>
                  <a:srgbClr val="FFC014"/>
                </a:solidFill>
              </a:rPr>
              <a:t> # mood_index &lt; 60</a:t>
            </a:r>
            <a:endParaRPr lang="en-US" altLang="zh-CN" sz="2000">
              <a:solidFill>
                <a:srgbClr val="FF0000"/>
              </a:solidFill>
            </a:endParaRPr>
          </a:p>
          <a:p>
            <a:r>
              <a:rPr lang="en-US" altLang="zh-CN" sz="2000">
                <a:solidFill>
                  <a:srgbClr val="00B050"/>
                </a:solidFill>
              </a:rPr>
              <a:t>    </a:t>
            </a:r>
            <a:r>
              <a:rPr lang="en-US" altLang="zh-CN" sz="2000">
                <a:solidFill>
                  <a:srgbClr val="92D050"/>
                </a:solidFill>
              </a:rPr>
              <a:t>print("</a:t>
            </a:r>
            <a:r>
              <a:rPr lang="zh-CN" altLang="en-US" sz="2000">
                <a:solidFill>
                  <a:srgbClr val="92D050"/>
                </a:solidFill>
              </a:rPr>
              <a:t>为了自个儿小命，还是别打了。</a:t>
            </a:r>
            <a:r>
              <a:rPr lang="en-US" altLang="zh-CN" sz="2000">
                <a:solidFill>
                  <a:srgbClr val="92D050"/>
                </a:solidFill>
              </a:rPr>
              <a:t>")</a:t>
            </a:r>
            <a:endParaRPr lang="en-US" altLang="zh-CN" sz="2000">
              <a:solidFill>
                <a:srgbClr val="92D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9615" y="929005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3.1</a:t>
            </a:r>
            <a:r>
              <a:rPr lang="zh-CN" altLang="en-US">
                <a:solidFill>
                  <a:schemeClr val="bg1"/>
                </a:solidFill>
              </a:rPr>
              <a:t>基础的</a:t>
            </a:r>
            <a:r>
              <a:rPr lang="en-US" altLang="zh-CN">
                <a:solidFill>
                  <a:schemeClr val="bg1"/>
                </a:solidFill>
              </a:rPr>
              <a:t>if-else</a:t>
            </a:r>
            <a:r>
              <a:rPr lang="zh-CN" altLang="en-US">
                <a:solidFill>
                  <a:schemeClr val="bg1"/>
                </a:solidFill>
              </a:rPr>
              <a:t>结构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语句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</a:rPr>
              <a:t>3.2</a:t>
            </a:r>
            <a:r>
              <a:rPr lang="zh-CN" altLang="en-US" sz="2000">
                <a:solidFill>
                  <a:schemeClr val="bg1"/>
                </a:solidFill>
              </a:rPr>
              <a:t>嵌套</a:t>
            </a:r>
            <a:r>
              <a:rPr lang="en-US" altLang="zh-CN" sz="2000">
                <a:solidFill>
                  <a:schemeClr val="bg1"/>
                </a:solidFill>
              </a:rPr>
              <a:t>/</a:t>
            </a:r>
            <a:r>
              <a:rPr lang="zh-CN" altLang="en-US" sz="2000">
                <a:solidFill>
                  <a:schemeClr val="bg1"/>
                </a:solidFill>
              </a:rPr>
              <a:t>多条件的判断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1880" y="1512570"/>
            <a:ext cx="5686425" cy="4777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</a:rPr>
              <a:t>if-elif-elif-else </a:t>
            </a:r>
            <a:r>
              <a:rPr lang="zh-CN" altLang="en-US" sz="2000">
                <a:solidFill>
                  <a:schemeClr val="bg1"/>
                </a:solidFill>
              </a:rPr>
              <a:t>复合结构：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if [</a:t>
            </a:r>
            <a:r>
              <a:rPr lang="zh-CN" altLang="en-US" sz="2000">
                <a:solidFill>
                  <a:schemeClr val="bg1"/>
                </a:solidFill>
              </a:rPr>
              <a:t>条件一</a:t>
            </a:r>
            <a:r>
              <a:rPr lang="en-US" altLang="zh-CN" sz="2000">
                <a:solidFill>
                  <a:schemeClr val="bg1"/>
                </a:solidFill>
              </a:rPr>
              <a:t>]: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[</a:t>
            </a:r>
            <a:r>
              <a:rPr lang="zh-CN" altLang="en-US" sz="2000">
                <a:solidFill>
                  <a:schemeClr val="bg1"/>
                </a:solidFill>
              </a:rPr>
              <a:t>语句</a:t>
            </a:r>
            <a:r>
              <a:rPr lang="en-US" altLang="zh-CN" sz="2000">
                <a:solidFill>
                  <a:schemeClr val="bg1"/>
                </a:solidFill>
              </a:rPr>
              <a:t>A]</a:t>
            </a:r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elif [</a:t>
            </a:r>
            <a:r>
              <a:rPr lang="zh-CN" altLang="en-US" sz="2000">
                <a:solidFill>
                  <a:schemeClr val="bg1"/>
                </a:solidFill>
              </a:rPr>
              <a:t>条件二</a:t>
            </a:r>
            <a:r>
              <a:rPr lang="en-US" altLang="zh-CN" sz="2000">
                <a:solidFill>
                  <a:schemeClr val="bg1"/>
                </a:solidFill>
              </a:rPr>
              <a:t>]: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[</a:t>
            </a:r>
            <a:r>
              <a:rPr lang="zh-CN" altLang="en-US" sz="2000">
                <a:solidFill>
                  <a:schemeClr val="bg1"/>
                </a:solidFill>
              </a:rPr>
              <a:t>语句</a:t>
            </a:r>
            <a:r>
              <a:rPr lang="en-US" altLang="zh-CN" sz="2000">
                <a:solidFill>
                  <a:schemeClr val="bg1"/>
                </a:solidFill>
              </a:rPr>
              <a:t>B]</a:t>
            </a:r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elif [</a:t>
            </a:r>
            <a:r>
              <a:rPr lang="zh-CN" altLang="en-US" sz="2000">
                <a:solidFill>
                  <a:schemeClr val="bg1"/>
                </a:solidFill>
              </a:rPr>
              <a:t>条件三</a:t>
            </a:r>
            <a:r>
              <a:rPr lang="en-US" altLang="zh-CN" sz="2000">
                <a:solidFill>
                  <a:schemeClr val="bg1"/>
                </a:solidFill>
              </a:rPr>
              <a:t>]: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[</a:t>
            </a:r>
            <a:r>
              <a:rPr lang="zh-CN" altLang="en-US" sz="2000">
                <a:solidFill>
                  <a:schemeClr val="bg1"/>
                </a:solidFill>
              </a:rPr>
              <a:t>语句</a:t>
            </a:r>
            <a:r>
              <a:rPr lang="en-US" altLang="zh-CN" sz="2000">
                <a:solidFill>
                  <a:schemeClr val="bg1"/>
                </a:solidFill>
              </a:rPr>
              <a:t>C]</a:t>
            </a:r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else: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    [</a:t>
            </a:r>
            <a:r>
              <a:rPr lang="zh-CN" altLang="en-US" sz="2000">
                <a:solidFill>
                  <a:schemeClr val="bg1"/>
                </a:solidFill>
              </a:rPr>
              <a:t>语句</a:t>
            </a:r>
            <a:r>
              <a:rPr lang="en-US" altLang="zh-CN" sz="2000">
                <a:solidFill>
                  <a:schemeClr val="bg1"/>
                </a:solidFill>
              </a:rPr>
              <a:t>D]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66410" y="1555750"/>
            <a:ext cx="5686425" cy="4777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C014"/>
                </a:solidFill>
              </a:rPr>
              <a:t># BMI = </a:t>
            </a:r>
            <a:r>
              <a:rPr lang="zh-CN" altLang="en-US">
                <a:solidFill>
                  <a:srgbClr val="FFC014"/>
                </a:solidFill>
              </a:rPr>
              <a:t>体重</a:t>
            </a:r>
            <a:r>
              <a:rPr lang="en-US" altLang="zh-CN">
                <a:solidFill>
                  <a:srgbClr val="FFC014"/>
                </a:solidFill>
              </a:rPr>
              <a:t> / (</a:t>
            </a:r>
            <a:r>
              <a:rPr lang="zh-CN" altLang="en-US">
                <a:solidFill>
                  <a:srgbClr val="FFC014"/>
                </a:solidFill>
              </a:rPr>
              <a:t>身高</a:t>
            </a:r>
            <a:r>
              <a:rPr lang="en-US" altLang="zh-CN">
                <a:solidFill>
                  <a:srgbClr val="FFC014"/>
                </a:solidFill>
              </a:rPr>
              <a:t> ** 2)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user_weight = float(input("</a:t>
            </a:r>
            <a:r>
              <a:rPr lang="zh-CN" altLang="en-US">
                <a:solidFill>
                  <a:srgbClr val="92D050"/>
                </a:solidFill>
              </a:rPr>
              <a:t>请输入您的体重（单位：</a:t>
            </a:r>
            <a:r>
              <a:rPr lang="en-US" altLang="zh-CN">
                <a:solidFill>
                  <a:srgbClr val="92D050"/>
                </a:solidFill>
              </a:rPr>
              <a:t>kg</a:t>
            </a:r>
            <a:r>
              <a:rPr lang="zh-CN" altLang="en-US">
                <a:solidFill>
                  <a:srgbClr val="92D050"/>
                </a:solidFill>
              </a:rPr>
              <a:t>）：</a:t>
            </a:r>
            <a:r>
              <a:rPr lang="en-US" altLang="zh-CN">
                <a:solidFill>
                  <a:srgbClr val="92D050"/>
                </a:solidFill>
              </a:rPr>
              <a:t>"))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user_height = float(input("</a:t>
            </a:r>
            <a:r>
              <a:rPr lang="zh-CN" altLang="en-US">
                <a:solidFill>
                  <a:srgbClr val="92D050"/>
                </a:solidFill>
              </a:rPr>
              <a:t>请输入您的身高（单位：</a:t>
            </a:r>
            <a:r>
              <a:rPr lang="en-US" altLang="zh-CN">
                <a:solidFill>
                  <a:srgbClr val="92D050"/>
                </a:solidFill>
              </a:rPr>
              <a:t>m</a:t>
            </a:r>
            <a:r>
              <a:rPr lang="zh-CN" altLang="en-US">
                <a:solidFill>
                  <a:srgbClr val="92D050"/>
                </a:solidFill>
              </a:rPr>
              <a:t>）：</a:t>
            </a:r>
            <a:r>
              <a:rPr lang="en-US" altLang="zh-CN">
                <a:solidFill>
                  <a:srgbClr val="92D050"/>
                </a:solidFill>
              </a:rPr>
              <a:t>"))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user_BMI = user_weight / (user_height) ** 2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print("</a:t>
            </a:r>
            <a:r>
              <a:rPr lang="zh-CN" altLang="en-US">
                <a:solidFill>
                  <a:srgbClr val="92D050"/>
                </a:solidFill>
              </a:rPr>
              <a:t>您的</a:t>
            </a:r>
            <a:r>
              <a:rPr lang="en-US" altLang="zh-CN">
                <a:solidFill>
                  <a:srgbClr val="92D050"/>
                </a:solidFill>
              </a:rPr>
              <a:t>BMI</a:t>
            </a:r>
            <a:r>
              <a:rPr lang="zh-CN" altLang="en-US">
                <a:solidFill>
                  <a:srgbClr val="92D050"/>
                </a:solidFill>
              </a:rPr>
              <a:t>值为：</a:t>
            </a:r>
            <a:r>
              <a:rPr lang="en-US" altLang="zh-CN">
                <a:solidFill>
                  <a:srgbClr val="92D050"/>
                </a:solidFill>
              </a:rPr>
              <a:t>" + str(user_BMI))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偏瘦</a:t>
            </a:r>
            <a:r>
              <a:rPr lang="en-US" altLang="zh-CN">
                <a:solidFill>
                  <a:srgbClr val="FFC014"/>
                </a:solidFill>
              </a:rPr>
              <a:t>: user_BMI &lt;= 18.5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正常</a:t>
            </a:r>
            <a:r>
              <a:rPr lang="en-US" altLang="zh-CN">
                <a:solidFill>
                  <a:srgbClr val="FFC014"/>
                </a:solidFill>
              </a:rPr>
              <a:t>: 18.5 &lt; user_BMI &lt;= 25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偏胖</a:t>
            </a:r>
            <a:r>
              <a:rPr lang="en-US" altLang="zh-CN">
                <a:solidFill>
                  <a:srgbClr val="FFC014"/>
                </a:solidFill>
              </a:rPr>
              <a:t>: 25 &lt; user_BMI &lt;= 30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肥胖</a:t>
            </a:r>
            <a:r>
              <a:rPr lang="en-US" altLang="zh-CN">
                <a:solidFill>
                  <a:srgbClr val="FFC014"/>
                </a:solidFill>
              </a:rPr>
              <a:t>: user_BMI &gt; 30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if user_BMI &lt;= 18.5: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print("</a:t>
            </a:r>
            <a:r>
              <a:rPr lang="zh-CN" altLang="en-US">
                <a:solidFill>
                  <a:srgbClr val="92D050"/>
                </a:solidFill>
              </a:rPr>
              <a:t>此</a:t>
            </a:r>
            <a:r>
              <a:rPr lang="en-US" altLang="zh-CN">
                <a:solidFill>
                  <a:srgbClr val="92D050"/>
                </a:solidFill>
              </a:rPr>
              <a:t>BMI</a:t>
            </a:r>
            <a:r>
              <a:rPr lang="zh-CN" altLang="en-US">
                <a:solidFill>
                  <a:srgbClr val="92D050"/>
                </a:solidFill>
              </a:rPr>
              <a:t>值属于偏瘦范围。</a:t>
            </a:r>
            <a:r>
              <a:rPr lang="en-US" altLang="zh-CN">
                <a:solidFill>
                  <a:srgbClr val="92D050"/>
                </a:solidFill>
              </a:rPr>
              <a:t>")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elif 18.5 &lt; user_BMI &lt;= 25: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print("</a:t>
            </a:r>
            <a:r>
              <a:rPr lang="zh-CN" altLang="en-US">
                <a:solidFill>
                  <a:srgbClr val="92D050"/>
                </a:solidFill>
              </a:rPr>
              <a:t>此</a:t>
            </a:r>
            <a:r>
              <a:rPr lang="en-US" altLang="zh-CN">
                <a:solidFill>
                  <a:srgbClr val="92D050"/>
                </a:solidFill>
              </a:rPr>
              <a:t>BMI</a:t>
            </a:r>
            <a:r>
              <a:rPr lang="zh-CN" altLang="en-US">
                <a:solidFill>
                  <a:srgbClr val="92D050"/>
                </a:solidFill>
              </a:rPr>
              <a:t>值属于正常范围。</a:t>
            </a:r>
            <a:r>
              <a:rPr lang="en-US" altLang="zh-CN">
                <a:solidFill>
                  <a:srgbClr val="92D050"/>
                </a:solidFill>
              </a:rPr>
              <a:t>")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elif 25 &lt; user_BMI &lt;= 30: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print("</a:t>
            </a:r>
            <a:r>
              <a:rPr lang="zh-CN" altLang="en-US">
                <a:solidFill>
                  <a:srgbClr val="92D050"/>
                </a:solidFill>
              </a:rPr>
              <a:t>此</a:t>
            </a:r>
            <a:r>
              <a:rPr lang="en-US" altLang="zh-CN">
                <a:solidFill>
                  <a:srgbClr val="92D050"/>
                </a:solidFill>
              </a:rPr>
              <a:t>BMI</a:t>
            </a:r>
            <a:r>
              <a:rPr lang="zh-CN" altLang="en-US">
                <a:solidFill>
                  <a:srgbClr val="92D050"/>
                </a:solidFill>
              </a:rPr>
              <a:t>值属于正常范围。</a:t>
            </a:r>
            <a:r>
              <a:rPr lang="en-US" altLang="zh-CN">
                <a:solidFill>
                  <a:srgbClr val="92D050"/>
                </a:solidFill>
              </a:rPr>
              <a:t>")</a:t>
            </a:r>
            <a:endParaRPr lang="en-US" altLang="zh-CN">
              <a:solidFill>
                <a:srgbClr val="92D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65470" y="118745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C014"/>
                </a:solidFill>
                <a:ea typeface="宋体" panose="02010600030101010101" pitchFamily="2" charset="-122"/>
              </a:rPr>
              <a:t>示例代码：</a:t>
            </a:r>
            <a:endParaRPr lang="zh-CN" altLang="en-US">
              <a:solidFill>
                <a:srgbClr val="FFC014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的列表与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字典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3.1</a:t>
            </a:r>
            <a:r>
              <a:rPr lang="zh-CN" altLang="en-US">
                <a:solidFill>
                  <a:schemeClr val="bg1"/>
                </a:solidFill>
              </a:rPr>
              <a:t>列表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9925" y="1450975"/>
            <a:ext cx="484441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一、列表（</a:t>
            </a:r>
            <a:r>
              <a:rPr lang="en-US" altLang="zh-CN" sz="2000">
                <a:solidFill>
                  <a:schemeClr val="bg1"/>
                </a:solidFill>
              </a:rPr>
              <a:t>List</a:t>
            </a:r>
            <a:r>
              <a:rPr lang="zh-CN" altLang="en-US" sz="2000">
                <a:solidFill>
                  <a:schemeClr val="bg1"/>
                </a:solidFill>
              </a:rPr>
              <a:t>）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列表是有序的、可变的元素集合，元素可以是任意数据类型（整数、字符串、列表等），通过索引访问元素。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特点：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有序性</a:t>
            </a:r>
            <a:r>
              <a:rPr lang="zh-CN" altLang="en-US" sz="2000">
                <a:solidFill>
                  <a:schemeClr val="bg1"/>
                </a:solidFill>
              </a:rPr>
              <a:t>：元素按插入顺序排列，可通过索引（从</a:t>
            </a:r>
            <a:r>
              <a:rPr lang="en-US" altLang="zh-CN" sz="2000">
                <a:solidFill>
                  <a:schemeClr val="bg1"/>
                </a:solidFill>
              </a:rPr>
              <a:t> 0 </a:t>
            </a:r>
            <a:r>
              <a:rPr lang="zh-CN" altLang="en-US" sz="2000">
                <a:solidFill>
                  <a:schemeClr val="bg1"/>
                </a:solidFill>
              </a:rPr>
              <a:t>开始）访问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可变性</a:t>
            </a:r>
            <a:r>
              <a:rPr lang="zh-CN" altLang="en-US" sz="2000">
                <a:solidFill>
                  <a:schemeClr val="bg1"/>
                </a:solidFill>
              </a:rPr>
              <a:t>：可修改、添加、删除元素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元素可重复</a:t>
            </a:r>
            <a:r>
              <a:rPr lang="zh-CN" altLang="en-US" sz="2000">
                <a:solidFill>
                  <a:schemeClr val="bg1"/>
                </a:solidFill>
              </a:rPr>
              <a:t>：允许包含相同的值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用方括号</a:t>
            </a:r>
            <a:r>
              <a:rPr lang="en-US" altLang="zh-CN" sz="2000">
                <a:solidFill>
                  <a:schemeClr val="bg1"/>
                </a:solidFill>
              </a:rPr>
              <a:t> [] </a:t>
            </a:r>
            <a:r>
              <a:rPr lang="zh-CN" altLang="en-US" sz="2000">
                <a:solidFill>
                  <a:schemeClr val="bg1"/>
                </a:solidFill>
              </a:rPr>
              <a:t>定义，元素之间用逗号分隔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66410" y="487680"/>
            <a:ext cx="484441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基本操作：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定义列表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fruits = ["apple", "banana", "cherry"]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访问元素（通过索引）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print(fruits[0])  # </a:t>
            </a:r>
            <a:r>
              <a:rPr lang="zh-CN" altLang="en-US">
                <a:solidFill>
                  <a:srgbClr val="92D050"/>
                </a:solidFill>
              </a:rPr>
              <a:t>输出：</a:t>
            </a:r>
            <a:r>
              <a:rPr lang="en-US" altLang="zh-CN">
                <a:solidFill>
                  <a:srgbClr val="92D050"/>
                </a:solidFill>
              </a:rPr>
              <a:t>apple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修改元素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fruits[1] = "orange"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添加元素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fruits.append("grape")  # </a:t>
            </a:r>
            <a:r>
              <a:rPr lang="zh-CN" altLang="en-US">
                <a:solidFill>
                  <a:srgbClr val="92D050"/>
                </a:solidFill>
              </a:rPr>
              <a:t>末尾添加</a:t>
            </a:r>
            <a:endParaRPr lang="zh-CN" altLang="en-US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fruits.insert(1, "mango")  # </a:t>
            </a:r>
            <a:r>
              <a:rPr lang="zh-CN" altLang="en-US">
                <a:solidFill>
                  <a:srgbClr val="92D050"/>
                </a:solidFill>
              </a:rPr>
              <a:t>指定位置插入</a:t>
            </a:r>
            <a:endParaRPr lang="zh-CN" altLang="en-US">
              <a:solidFill>
                <a:srgbClr val="92D05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删除元素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fruits.remove("cherry")  # </a:t>
            </a:r>
            <a:r>
              <a:rPr lang="zh-CN" altLang="en-US">
                <a:solidFill>
                  <a:srgbClr val="92D050"/>
                </a:solidFill>
              </a:rPr>
              <a:t>删除指定值</a:t>
            </a:r>
            <a:endParaRPr lang="zh-CN" altLang="en-US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del fruits[0]  # </a:t>
            </a:r>
            <a:r>
              <a:rPr lang="zh-CN" altLang="en-US">
                <a:solidFill>
                  <a:srgbClr val="92D050"/>
                </a:solidFill>
              </a:rPr>
              <a:t>删除指定索引元素</a:t>
            </a:r>
            <a:endParaRPr lang="zh-CN" altLang="en-US">
              <a:solidFill>
                <a:srgbClr val="92D050"/>
              </a:solidFill>
            </a:endParaRPr>
          </a:p>
          <a:p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其他常用操作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print(len(fruits))  # </a:t>
            </a:r>
            <a:r>
              <a:rPr lang="zh-CN" altLang="en-US">
                <a:solidFill>
                  <a:srgbClr val="92D050"/>
                </a:solidFill>
              </a:rPr>
              <a:t>长度：</a:t>
            </a:r>
            <a:r>
              <a:rPr lang="en-US" altLang="zh-CN">
                <a:solidFill>
                  <a:srgbClr val="92D050"/>
                </a:solidFill>
              </a:rPr>
              <a:t>3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print("apple" in fruits)  # </a:t>
            </a:r>
            <a:r>
              <a:rPr lang="zh-CN" altLang="en-US">
                <a:solidFill>
                  <a:srgbClr val="92D050"/>
                </a:solidFill>
              </a:rPr>
              <a:t>判断是否包含：</a:t>
            </a:r>
            <a:r>
              <a:rPr lang="en-US" altLang="zh-CN">
                <a:solidFill>
                  <a:srgbClr val="92D050"/>
                </a:solidFill>
              </a:rPr>
              <a:t>False</a:t>
            </a:r>
            <a:endParaRPr lang="en-US" altLang="zh-CN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的列表与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字典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3.2Python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zh-CN" altLang="en-US">
                <a:solidFill>
                  <a:schemeClr val="bg1"/>
                </a:solidFill>
              </a:rPr>
              <a:t>字典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95" y="13233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二、字典（</a:t>
            </a:r>
            <a:r>
              <a:rPr lang="en-US" altLang="zh-CN" sz="2000">
                <a:solidFill>
                  <a:schemeClr val="bg1"/>
                </a:solidFill>
              </a:rPr>
              <a:t>Dictionary</a:t>
            </a:r>
            <a:r>
              <a:rPr lang="zh-CN" altLang="en-US" sz="2000">
                <a:solidFill>
                  <a:schemeClr val="bg1"/>
                </a:solidFill>
              </a:rPr>
              <a:t>）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字典是无序的、可变的键值对集合，通过键（</a:t>
            </a:r>
            <a:r>
              <a:rPr lang="en-US" altLang="zh-CN" sz="2000">
                <a:solidFill>
                  <a:schemeClr val="bg1"/>
                </a:solidFill>
              </a:rPr>
              <a:t>key</a:t>
            </a:r>
            <a:r>
              <a:rPr lang="zh-CN" altLang="en-US" sz="2000">
                <a:solidFill>
                  <a:schemeClr val="bg1"/>
                </a:solidFill>
              </a:rPr>
              <a:t>）</a:t>
            </a:r>
            <a:r>
              <a:rPr lang="en-US" altLang="zh-CN" sz="2000">
                <a:solidFill>
                  <a:schemeClr val="bg1"/>
                </a:solidFill>
              </a:rPr>
              <a:t> </a:t>
            </a:r>
            <a:r>
              <a:rPr lang="zh-CN" altLang="en-US" sz="2000">
                <a:solidFill>
                  <a:schemeClr val="bg1"/>
                </a:solidFill>
              </a:rPr>
              <a:t>访问值（</a:t>
            </a:r>
            <a:r>
              <a:rPr lang="en-US" altLang="zh-CN" sz="2000">
                <a:solidFill>
                  <a:schemeClr val="bg1"/>
                </a:solidFill>
              </a:rPr>
              <a:t>value</a:t>
            </a:r>
            <a:r>
              <a:rPr lang="zh-CN" altLang="en-US" sz="2000">
                <a:solidFill>
                  <a:schemeClr val="bg1"/>
                </a:solidFill>
              </a:rPr>
              <a:t>），类似现实中的</a:t>
            </a:r>
            <a:r>
              <a:rPr lang="en-US" altLang="zh-CN" sz="2000">
                <a:solidFill>
                  <a:schemeClr val="bg1"/>
                </a:solidFill>
              </a:rPr>
              <a:t> “</a:t>
            </a:r>
            <a:r>
              <a:rPr lang="zh-CN" altLang="en-US" sz="2000">
                <a:solidFill>
                  <a:schemeClr val="bg1"/>
                </a:solidFill>
              </a:rPr>
              <a:t>字典</a:t>
            </a:r>
            <a:r>
              <a:rPr lang="en-US" altLang="zh-CN" sz="2000">
                <a:solidFill>
                  <a:schemeClr val="bg1"/>
                </a:solidFill>
              </a:rPr>
              <a:t>”</a:t>
            </a:r>
            <a:r>
              <a:rPr lang="zh-CN" altLang="en-US" sz="2000">
                <a:solidFill>
                  <a:schemeClr val="bg1"/>
                </a:solidFill>
              </a:rPr>
              <a:t>（关键词对应解释）。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特点：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无序性</a:t>
            </a:r>
            <a:r>
              <a:rPr lang="zh-CN" altLang="en-US" sz="2000">
                <a:solidFill>
                  <a:schemeClr val="bg1"/>
                </a:solidFill>
              </a:rPr>
              <a:t>：</a:t>
            </a:r>
            <a:r>
              <a:rPr lang="en-US" altLang="zh-CN" sz="2000">
                <a:solidFill>
                  <a:schemeClr val="bg1"/>
                </a:solidFill>
              </a:rPr>
              <a:t>Python 3.7+ </a:t>
            </a:r>
            <a:r>
              <a:rPr lang="zh-CN" altLang="en-US" sz="2000">
                <a:solidFill>
                  <a:schemeClr val="bg1"/>
                </a:solidFill>
              </a:rPr>
              <a:t>后保证插入顺序，但本质通过键访问，与顺序无关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键值对结构</a:t>
            </a:r>
            <a:r>
              <a:rPr lang="zh-CN" altLang="en-US" sz="2000">
                <a:solidFill>
                  <a:schemeClr val="bg1"/>
                </a:solidFill>
              </a:rPr>
              <a:t>：每个元素是</a:t>
            </a:r>
            <a:r>
              <a:rPr lang="en-US" altLang="zh-CN" sz="2000">
                <a:solidFill>
                  <a:schemeClr val="bg1"/>
                </a:solidFill>
              </a:rPr>
              <a:t> key: value </a:t>
            </a:r>
            <a:r>
              <a:rPr lang="zh-CN" altLang="en-US" sz="2000">
                <a:solidFill>
                  <a:schemeClr val="bg1"/>
                </a:solidFill>
              </a:rPr>
              <a:t>形式，键唯一且不可变（常用字符串、数字），值可任意类型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可变性</a:t>
            </a:r>
            <a:r>
              <a:rPr lang="zh-CN" altLang="en-US" sz="2000">
                <a:solidFill>
                  <a:schemeClr val="bg1"/>
                </a:solidFill>
              </a:rPr>
              <a:t>：可修改、添加、删除键值对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用花括号</a:t>
            </a:r>
            <a:r>
              <a:rPr lang="en-US" altLang="zh-CN" sz="2000">
                <a:solidFill>
                  <a:schemeClr val="bg1"/>
                </a:solidFill>
              </a:rPr>
              <a:t> {} </a:t>
            </a:r>
            <a:r>
              <a:rPr lang="zh-CN" altLang="en-US" sz="2000">
                <a:solidFill>
                  <a:schemeClr val="bg1"/>
                </a:solidFill>
              </a:rPr>
              <a:t>定义，键值对之间用逗号分隔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6375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基本操作：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person = {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"name": "Alice",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"age": 25,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"is_student": False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}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访问值（通过键）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print(person["name"])</a:t>
            </a:r>
            <a:r>
              <a:rPr lang="en-US" altLang="zh-CN">
                <a:solidFill>
                  <a:srgbClr val="00B050"/>
                </a:solidFill>
              </a:rPr>
              <a:t>  </a:t>
            </a:r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输出：</a:t>
            </a:r>
            <a:r>
              <a:rPr lang="en-US" altLang="zh-CN">
                <a:solidFill>
                  <a:srgbClr val="FFC014"/>
                </a:solidFill>
              </a:rPr>
              <a:t>Alice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print(person.get("age"))  </a:t>
            </a:r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输出：</a:t>
            </a:r>
            <a:r>
              <a:rPr lang="en-US" altLang="zh-CN">
                <a:solidFill>
                  <a:srgbClr val="FFC014"/>
                </a:solidFill>
              </a:rPr>
              <a:t>25</a:t>
            </a:r>
            <a:r>
              <a:rPr lang="zh-CN" altLang="en-US">
                <a:solidFill>
                  <a:srgbClr val="FFC014"/>
                </a:solidFill>
              </a:rPr>
              <a:t>（</a:t>
            </a:r>
            <a:r>
              <a:rPr lang="en-US" altLang="zh-CN">
                <a:solidFill>
                  <a:srgbClr val="FFC014"/>
                </a:solidFill>
              </a:rPr>
              <a:t>get</a:t>
            </a:r>
            <a:r>
              <a:rPr lang="zh-CN" altLang="en-US">
                <a:solidFill>
                  <a:srgbClr val="FFC014"/>
                </a:solidFill>
              </a:rPr>
              <a:t>方法更安全，键不存在时返回</a:t>
            </a:r>
            <a:r>
              <a:rPr lang="en-US" altLang="zh-CN">
                <a:solidFill>
                  <a:srgbClr val="FFC014"/>
                </a:solidFill>
              </a:rPr>
              <a:t>None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endParaRPr lang="zh-CN" altLang="en-US">
              <a:solidFill>
                <a:srgbClr val="FFC014"/>
              </a:solidFill>
            </a:endParaRPr>
          </a:p>
          <a:p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修改</a:t>
            </a:r>
            <a:r>
              <a:rPr lang="zh-CN" altLang="en-US">
                <a:solidFill>
                  <a:srgbClr val="FFC014"/>
                </a:solidFill>
              </a:rPr>
              <a:t>值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person["age"] = 26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00B050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添加键值对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person["gender"] = "female"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删除键值对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del person["is_student"]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person.pop("gender") 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弹出并返回值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4.1for</a:t>
            </a:r>
            <a:r>
              <a:rPr lang="zh-CN" altLang="en-US">
                <a:solidFill>
                  <a:schemeClr val="bg1"/>
                </a:solidFill>
              </a:rPr>
              <a:t>循环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95" y="13233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 Python </a:t>
            </a:r>
            <a:r>
              <a:rPr lang="zh-CN" altLang="en-US" sz="2000">
                <a:solidFill>
                  <a:schemeClr val="bg1"/>
                </a:solidFill>
              </a:rPr>
              <a:t>中，</a:t>
            </a:r>
            <a:r>
              <a:rPr lang="en-US" altLang="zh-CN" sz="2000">
                <a:solidFill>
                  <a:schemeClr val="bg1"/>
                </a:solidFill>
              </a:rPr>
              <a:t>for </a:t>
            </a:r>
            <a:r>
              <a:rPr lang="zh-CN" altLang="en-US" sz="2000">
                <a:solidFill>
                  <a:schemeClr val="bg1"/>
                </a:solidFill>
              </a:rPr>
              <a:t>循环是一种用于遍历序列</a:t>
            </a:r>
            <a:r>
              <a:rPr lang="zh-CN" altLang="en-US" sz="2000">
                <a:solidFill>
                  <a:srgbClr val="FFC014"/>
                </a:solidFill>
              </a:rPr>
              <a:t>（如列表、元组、字符串）</a:t>
            </a:r>
            <a:r>
              <a:rPr lang="zh-CN" altLang="en-US" sz="2000">
                <a:solidFill>
                  <a:schemeClr val="bg1"/>
                </a:solidFill>
              </a:rPr>
              <a:t>或其他可迭代对象的控制流语句。它可以按照顺序逐个访问对象中的元素，直到所有元素都被处理完毕。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基本语法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for </a:t>
            </a:r>
            <a:r>
              <a:rPr lang="zh-CN" altLang="en-US" sz="2000">
                <a:solidFill>
                  <a:srgbClr val="92D050"/>
                </a:solidFill>
              </a:rPr>
              <a:t>变量</a:t>
            </a:r>
            <a:r>
              <a:rPr lang="en-US" altLang="zh-CN" sz="2000">
                <a:solidFill>
                  <a:srgbClr val="92D050"/>
                </a:solidFill>
              </a:rPr>
              <a:t> in </a:t>
            </a:r>
            <a:r>
              <a:rPr lang="zh-CN" altLang="en-US" sz="2000">
                <a:solidFill>
                  <a:srgbClr val="92D050"/>
                </a:solidFill>
              </a:rPr>
              <a:t>可迭代对象</a:t>
            </a:r>
            <a:r>
              <a:rPr lang="en-US" altLang="zh-CN" sz="2000">
                <a:solidFill>
                  <a:srgbClr val="92D050"/>
                </a:solidFill>
              </a:rPr>
              <a:t>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# </a:t>
            </a:r>
            <a:r>
              <a:rPr lang="zh-CN" altLang="en-US" sz="2000">
                <a:solidFill>
                  <a:srgbClr val="92D050"/>
                </a:solidFill>
              </a:rPr>
              <a:t>循环体（缩进的代码块）</a:t>
            </a:r>
            <a:endParaRPr lang="zh-CN" altLang="en-US" sz="2000">
              <a:solidFill>
                <a:srgbClr val="92D050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变量</a:t>
            </a:r>
            <a:r>
              <a:rPr lang="zh-CN" altLang="en-US" sz="2000">
                <a:solidFill>
                  <a:schemeClr val="bg1"/>
                </a:solidFill>
              </a:rPr>
              <a:t>：每次循环时，从可迭代对象中取出的一个元素会赋值给这个变量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rgbClr val="FFC014"/>
                </a:solidFill>
              </a:rPr>
              <a:t>可迭代对象</a:t>
            </a:r>
            <a:r>
              <a:rPr lang="zh-CN" altLang="en-US" sz="2000">
                <a:solidFill>
                  <a:schemeClr val="bg1"/>
                </a:solidFill>
              </a:rPr>
              <a:t>：可以是列表、元组、字符串、字典、集合等，也可以是</a:t>
            </a:r>
            <a:r>
              <a:rPr lang="en-US" altLang="zh-CN" sz="2000">
                <a:solidFill>
                  <a:schemeClr val="bg1"/>
                </a:solidFill>
              </a:rPr>
              <a:t> range() </a:t>
            </a:r>
            <a:r>
              <a:rPr lang="zh-CN" altLang="en-US" sz="2000">
                <a:solidFill>
                  <a:schemeClr val="bg1"/>
                </a:solidFill>
              </a:rPr>
              <a:t>函数生成的序列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05550" y="80899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遍历列表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fruits = ["</a:t>
            </a:r>
            <a:r>
              <a:rPr lang="zh-CN" altLang="en-US">
                <a:solidFill>
                  <a:srgbClr val="92D050"/>
                </a:solidFill>
              </a:rPr>
              <a:t>苹果</a:t>
            </a:r>
            <a:r>
              <a:rPr lang="en-US" altLang="zh-CN">
                <a:solidFill>
                  <a:srgbClr val="92D050"/>
                </a:solidFill>
              </a:rPr>
              <a:t>", "</a:t>
            </a:r>
            <a:r>
              <a:rPr lang="zh-CN" altLang="en-US">
                <a:solidFill>
                  <a:srgbClr val="92D050"/>
                </a:solidFill>
              </a:rPr>
              <a:t>香蕉</a:t>
            </a:r>
            <a:r>
              <a:rPr lang="en-US" altLang="zh-CN">
                <a:solidFill>
                  <a:srgbClr val="92D050"/>
                </a:solidFill>
              </a:rPr>
              <a:t>", "</a:t>
            </a:r>
            <a:r>
              <a:rPr lang="zh-CN" altLang="en-US">
                <a:solidFill>
                  <a:srgbClr val="92D050"/>
                </a:solidFill>
              </a:rPr>
              <a:t>橙子</a:t>
            </a:r>
            <a:r>
              <a:rPr lang="en-US" altLang="zh-CN">
                <a:solidFill>
                  <a:srgbClr val="92D050"/>
                </a:solidFill>
              </a:rPr>
              <a:t>"]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for fruit in fruits: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print(fruit)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输出：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苹果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香蕉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橙子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使用</a:t>
            </a:r>
            <a:r>
              <a:rPr lang="en-US" altLang="zh-CN">
                <a:solidFill>
                  <a:schemeClr val="bg1"/>
                </a:solidFill>
              </a:rPr>
              <a:t> range () </a:t>
            </a:r>
            <a:r>
              <a:rPr lang="zh-CN" altLang="en-US">
                <a:solidFill>
                  <a:schemeClr val="bg1"/>
                </a:solidFill>
              </a:rPr>
              <a:t>函数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range() </a:t>
            </a:r>
            <a:r>
              <a:rPr lang="zh-CN" altLang="en-US">
                <a:solidFill>
                  <a:schemeClr val="bg1"/>
                </a:solidFill>
              </a:rPr>
              <a:t>可以生成一个数字序列，常用于需要指定循环次数的场景：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打印</a:t>
            </a:r>
            <a:r>
              <a:rPr lang="en-US" altLang="zh-CN">
                <a:solidFill>
                  <a:srgbClr val="FFC014"/>
                </a:solidFill>
              </a:rPr>
              <a:t> 0 </a:t>
            </a:r>
            <a:r>
              <a:rPr lang="zh-CN" altLang="en-US">
                <a:solidFill>
                  <a:srgbClr val="FFC014"/>
                </a:solidFill>
              </a:rPr>
              <a:t>到</a:t>
            </a:r>
            <a:r>
              <a:rPr lang="en-US" altLang="zh-CN">
                <a:solidFill>
                  <a:srgbClr val="FFC014"/>
                </a:solidFill>
              </a:rPr>
              <a:t> 4</a:t>
            </a:r>
            <a:r>
              <a:rPr lang="zh-CN" altLang="en-US">
                <a:solidFill>
                  <a:srgbClr val="FFC014"/>
                </a:solidFill>
              </a:rPr>
              <a:t>（不包含</a:t>
            </a:r>
            <a:r>
              <a:rPr lang="en-US" altLang="zh-CN">
                <a:solidFill>
                  <a:srgbClr val="FFC014"/>
                </a:solidFill>
              </a:rPr>
              <a:t> 5</a:t>
            </a:r>
            <a:r>
              <a:rPr lang="zh-CN" altLang="en-US">
                <a:solidFill>
                  <a:srgbClr val="FFC014"/>
                </a:solidFill>
              </a:rPr>
              <a:t>）</a:t>
            </a:r>
            <a:endParaRPr lang="zh-CN" altLang="en-US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for i in range(5):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print(i)</a:t>
            </a:r>
            <a:endParaRPr lang="en-US" altLang="zh-CN">
              <a:solidFill>
                <a:srgbClr val="92D050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打印</a:t>
            </a:r>
            <a:r>
              <a:rPr lang="en-US" altLang="zh-CN">
                <a:solidFill>
                  <a:srgbClr val="FFC014"/>
                </a:solidFill>
              </a:rPr>
              <a:t> 2 </a:t>
            </a:r>
            <a:r>
              <a:rPr lang="zh-CN" altLang="en-US">
                <a:solidFill>
                  <a:srgbClr val="FFC014"/>
                </a:solidFill>
              </a:rPr>
              <a:t>到</a:t>
            </a:r>
            <a:r>
              <a:rPr lang="en-US" altLang="zh-CN">
                <a:solidFill>
                  <a:srgbClr val="FFC014"/>
                </a:solidFill>
              </a:rPr>
              <a:t> 6</a:t>
            </a:r>
            <a:r>
              <a:rPr lang="zh-CN" altLang="en-US">
                <a:solidFill>
                  <a:srgbClr val="FFC014"/>
                </a:solidFill>
              </a:rPr>
              <a:t>（不包含</a:t>
            </a:r>
            <a:r>
              <a:rPr lang="en-US" altLang="zh-CN">
                <a:solidFill>
                  <a:srgbClr val="FFC014"/>
                </a:solidFill>
              </a:rPr>
              <a:t> 7</a:t>
            </a:r>
            <a:r>
              <a:rPr lang="zh-CN" altLang="en-US">
                <a:solidFill>
                  <a:srgbClr val="FFC014"/>
                </a:solidFill>
              </a:rPr>
              <a:t>），步长为</a:t>
            </a:r>
            <a:r>
              <a:rPr lang="en-US" altLang="zh-CN">
                <a:solidFill>
                  <a:srgbClr val="FFC014"/>
                </a:solidFill>
              </a:rPr>
              <a:t> 2</a:t>
            </a:r>
            <a:endParaRPr lang="en-US" altLang="zh-CN">
              <a:solidFill>
                <a:srgbClr val="FFC014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for i in range(2, 7, 2):</a:t>
            </a:r>
            <a:endParaRPr lang="en-US" altLang="zh-CN">
              <a:solidFill>
                <a:srgbClr val="92D050"/>
              </a:solidFill>
            </a:endParaRPr>
          </a:p>
          <a:p>
            <a:r>
              <a:rPr lang="en-US" altLang="zh-CN">
                <a:solidFill>
                  <a:srgbClr val="92D050"/>
                </a:solidFill>
              </a:rPr>
              <a:t>    print(i)  </a:t>
            </a:r>
            <a:r>
              <a:rPr lang="en-US" altLang="zh-CN">
                <a:solidFill>
                  <a:srgbClr val="FFC014"/>
                </a:solidFill>
              </a:rPr>
              <a:t># </a:t>
            </a:r>
            <a:r>
              <a:rPr lang="zh-CN" altLang="en-US">
                <a:solidFill>
                  <a:srgbClr val="FFC014"/>
                </a:solidFill>
              </a:rPr>
              <a:t>输出</a:t>
            </a:r>
            <a:r>
              <a:rPr lang="en-US" altLang="zh-CN">
                <a:solidFill>
                  <a:srgbClr val="FFC014"/>
                </a:solidFill>
              </a:rPr>
              <a:t> 2, 4, 6</a:t>
            </a:r>
            <a:endParaRPr lang="en-US" altLang="zh-CN">
              <a:solidFill>
                <a:srgbClr val="FFC014"/>
              </a:solidFill>
            </a:endParaRPr>
          </a:p>
          <a:p>
            <a:endParaRPr lang="en-US" altLang="zh-CN">
              <a:solidFill>
                <a:srgbClr val="FFC01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4.1for</a:t>
            </a:r>
            <a:r>
              <a:rPr lang="zh-CN" altLang="en-US">
                <a:solidFill>
                  <a:schemeClr val="bg1"/>
                </a:solidFill>
              </a:rPr>
              <a:t>循环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95" y="13233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与</a:t>
            </a:r>
            <a:r>
              <a:rPr lang="en-US" altLang="zh-CN" sz="2000">
                <a:solidFill>
                  <a:schemeClr val="bg1"/>
                </a:solidFill>
              </a:rPr>
              <a:t> for </a:t>
            </a:r>
            <a:r>
              <a:rPr lang="zh-CN" altLang="en-US" sz="2000">
                <a:solidFill>
                  <a:schemeClr val="bg1"/>
                </a:solidFill>
              </a:rPr>
              <a:t>循环配合使用的关键字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break</a:t>
            </a:r>
            <a:r>
              <a:rPr lang="zh-CN" altLang="en-US" sz="2000">
                <a:solidFill>
                  <a:schemeClr val="bg1"/>
                </a:solidFill>
              </a:rPr>
              <a:t>：立即终止当前循环，跳出循环体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for i in range(10):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if i == 5: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    break  # </a:t>
            </a:r>
            <a:r>
              <a:rPr lang="zh-CN" altLang="en-US" sz="2000">
                <a:solidFill>
                  <a:srgbClr val="92D050"/>
                </a:solidFill>
              </a:rPr>
              <a:t>当</a:t>
            </a:r>
            <a:r>
              <a:rPr lang="en-US" altLang="zh-CN" sz="2000">
                <a:solidFill>
                  <a:srgbClr val="92D050"/>
                </a:solidFill>
              </a:rPr>
              <a:t> i </a:t>
            </a:r>
            <a:r>
              <a:rPr lang="zh-CN" altLang="en-US" sz="2000">
                <a:solidFill>
                  <a:srgbClr val="92D050"/>
                </a:solidFill>
              </a:rPr>
              <a:t>等于</a:t>
            </a:r>
            <a:r>
              <a:rPr lang="en-US" altLang="zh-CN" sz="2000">
                <a:solidFill>
                  <a:srgbClr val="92D050"/>
                </a:solidFill>
              </a:rPr>
              <a:t> 5 </a:t>
            </a:r>
            <a:r>
              <a:rPr lang="zh-CN" altLang="en-US" sz="2000">
                <a:solidFill>
                  <a:srgbClr val="92D050"/>
                </a:solidFill>
              </a:rPr>
              <a:t>时终止循环</a:t>
            </a:r>
            <a:endParaRPr lang="zh-CN" altLang="en-US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print(i)</a:t>
            </a:r>
            <a:endParaRPr lang="en-US" altLang="zh-CN" sz="2000">
              <a:solidFill>
                <a:srgbClr val="92D050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continue</a:t>
            </a:r>
            <a:r>
              <a:rPr lang="zh-CN" altLang="en-US" sz="2000">
                <a:solidFill>
                  <a:schemeClr val="bg1"/>
                </a:solidFill>
              </a:rPr>
              <a:t>：跳过当前循环中的剩余语句，直接进入下一次循环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for i in range(10):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if i % 2 == 0: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00B050"/>
                </a:solidFill>
              </a:rPr>
              <a:t>    </a:t>
            </a:r>
            <a:r>
              <a:rPr lang="en-US" altLang="zh-CN" sz="2000">
                <a:solidFill>
                  <a:srgbClr val="92D050"/>
                </a:solidFill>
              </a:rPr>
              <a:t>    continue </a:t>
            </a:r>
            <a:r>
              <a:rPr lang="en-US" altLang="zh-CN" sz="2000">
                <a:solidFill>
                  <a:srgbClr val="FFC014"/>
                </a:solidFill>
              </a:rPr>
              <a:t> # </a:t>
            </a:r>
            <a:r>
              <a:rPr lang="zh-CN" altLang="en-US" sz="2000">
                <a:solidFill>
                  <a:srgbClr val="FFC014"/>
                </a:solidFill>
              </a:rPr>
              <a:t>跳过偶数</a:t>
            </a:r>
            <a:endParaRPr lang="zh-CN" altLang="en-US" sz="2000">
              <a:solidFill>
                <a:srgbClr val="FFC014"/>
              </a:solidFill>
            </a:endParaRPr>
          </a:p>
          <a:p>
            <a:r>
              <a:rPr lang="en-US" altLang="zh-CN" sz="2000">
                <a:solidFill>
                  <a:srgbClr val="00B050"/>
                </a:solidFill>
              </a:rPr>
              <a:t>  </a:t>
            </a:r>
            <a:r>
              <a:rPr lang="en-US" altLang="zh-CN" sz="2000">
                <a:solidFill>
                  <a:srgbClr val="92D050"/>
                </a:solidFill>
              </a:rPr>
              <a:t>  print(i)  </a:t>
            </a:r>
            <a:r>
              <a:rPr lang="en-US" altLang="zh-CN" sz="2000">
                <a:solidFill>
                  <a:srgbClr val="FFC014"/>
                </a:solidFill>
              </a:rPr>
              <a:t># </a:t>
            </a:r>
            <a:r>
              <a:rPr lang="zh-CN" altLang="en-US" sz="2000">
                <a:solidFill>
                  <a:srgbClr val="FFC014"/>
                </a:solidFill>
              </a:rPr>
              <a:t>只打印奇数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87060" y="13233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else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：循环正常结束（不是通过</a:t>
            </a:r>
            <a:r>
              <a:rPr lang="en-US" altLang="zh-CN" sz="2000">
                <a:solidFill>
                  <a:schemeClr val="bg1"/>
                </a:solidFill>
                <a:sym typeface="+mn-ea"/>
              </a:rPr>
              <a:t> break 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终止）时执行的代码块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for i in range(3):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    print(i)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else: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    print("</a:t>
            </a:r>
            <a:r>
              <a:rPr lang="zh-CN" altLang="en-US" sz="2000">
                <a:solidFill>
                  <a:srgbClr val="92D050"/>
                </a:solidFill>
                <a:sym typeface="+mn-ea"/>
              </a:rPr>
              <a:t>循环正常结束</a:t>
            </a:r>
            <a:r>
              <a:rPr lang="en-US" altLang="zh-CN" sz="2000">
                <a:solidFill>
                  <a:srgbClr val="92D050"/>
                </a:solidFill>
                <a:sym typeface="+mn-ea"/>
              </a:rPr>
              <a:t>")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FFC014"/>
                </a:solidFill>
                <a:sym typeface="+mn-ea"/>
              </a:rPr>
              <a:t># </a:t>
            </a:r>
            <a:r>
              <a:rPr lang="zh-CN" altLang="en-US" sz="2000">
                <a:solidFill>
                  <a:srgbClr val="FFC014"/>
                </a:solidFill>
                <a:sym typeface="+mn-ea"/>
              </a:rPr>
              <a:t>会执行</a:t>
            </a:r>
            <a:endParaRPr lang="zh-CN" altLang="en-US" sz="2000">
              <a:solidFill>
                <a:srgbClr val="FFC014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630" y="89154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4.2while</a:t>
            </a:r>
            <a:r>
              <a:rPr lang="zh-CN" altLang="en-US">
                <a:solidFill>
                  <a:schemeClr val="bg1"/>
                </a:solidFill>
              </a:rPr>
              <a:t>循环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95" y="13233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 Python </a:t>
            </a:r>
            <a:r>
              <a:rPr lang="zh-CN" altLang="en-US" sz="2000">
                <a:solidFill>
                  <a:schemeClr val="bg1"/>
                </a:solidFill>
              </a:rPr>
              <a:t>中，</a:t>
            </a:r>
            <a:r>
              <a:rPr lang="en-US" altLang="zh-CN" sz="2000">
                <a:solidFill>
                  <a:schemeClr val="bg1"/>
                </a:solidFill>
              </a:rPr>
              <a:t>while </a:t>
            </a:r>
            <a:r>
              <a:rPr lang="zh-CN" altLang="en-US" sz="2000">
                <a:solidFill>
                  <a:schemeClr val="bg1"/>
                </a:solidFill>
              </a:rPr>
              <a:t>循环是一种基于</a:t>
            </a:r>
            <a:r>
              <a:rPr lang="zh-CN" altLang="en-US" sz="2000">
                <a:solidFill>
                  <a:srgbClr val="FFC014"/>
                </a:solidFill>
              </a:rPr>
              <a:t>条件</a:t>
            </a:r>
            <a:r>
              <a:rPr lang="zh-CN" altLang="en-US" sz="2000">
                <a:solidFill>
                  <a:schemeClr val="bg1"/>
                </a:solidFill>
              </a:rPr>
              <a:t>判断的循环结构，只要指定的条件为</a:t>
            </a:r>
            <a:r>
              <a:rPr lang="zh-CN" altLang="en-US" sz="2000">
                <a:solidFill>
                  <a:srgbClr val="FFC014"/>
                </a:solidFill>
              </a:rPr>
              <a:t>真（</a:t>
            </a:r>
            <a:r>
              <a:rPr lang="en-US" altLang="zh-CN" sz="2000">
                <a:solidFill>
                  <a:srgbClr val="FFC014"/>
                </a:solidFill>
              </a:rPr>
              <a:t>True</a:t>
            </a:r>
            <a:r>
              <a:rPr lang="zh-CN" altLang="en-US" sz="2000">
                <a:solidFill>
                  <a:srgbClr val="FFC014"/>
                </a:solidFill>
              </a:rPr>
              <a:t>）</a:t>
            </a:r>
            <a:r>
              <a:rPr lang="zh-CN" altLang="en-US" sz="2000">
                <a:solidFill>
                  <a:schemeClr val="bg1"/>
                </a:solidFill>
              </a:rPr>
              <a:t>，就会重复执行循环体内的代码块。当条件变为</a:t>
            </a:r>
            <a:r>
              <a:rPr lang="zh-CN" altLang="en-US" sz="2000">
                <a:solidFill>
                  <a:srgbClr val="FFC014"/>
                </a:solidFill>
              </a:rPr>
              <a:t>假（</a:t>
            </a:r>
            <a:r>
              <a:rPr lang="en-US" altLang="zh-CN" sz="2000">
                <a:solidFill>
                  <a:srgbClr val="FFC014"/>
                </a:solidFill>
              </a:rPr>
              <a:t>False</a:t>
            </a:r>
            <a:r>
              <a:rPr lang="zh-CN" altLang="en-US" sz="2000">
                <a:solidFill>
                  <a:srgbClr val="FFC014"/>
                </a:solidFill>
              </a:rPr>
              <a:t>）</a:t>
            </a:r>
            <a:r>
              <a:rPr lang="zh-CN" altLang="en-US" sz="2000">
                <a:solidFill>
                  <a:schemeClr val="bg1"/>
                </a:solidFill>
              </a:rPr>
              <a:t>时，循环终止，程序继续执行循环体后面的代码。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基本语法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while </a:t>
            </a:r>
            <a:r>
              <a:rPr lang="zh-CN" altLang="en-US" sz="2000">
                <a:solidFill>
                  <a:srgbClr val="92D050"/>
                </a:solidFill>
              </a:rPr>
              <a:t>条件表达式</a:t>
            </a:r>
            <a:r>
              <a:rPr lang="en-US" altLang="zh-CN" sz="2000">
                <a:solidFill>
                  <a:srgbClr val="92D050"/>
                </a:solidFill>
              </a:rPr>
              <a:t>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# </a:t>
            </a:r>
            <a:r>
              <a:rPr lang="zh-CN" altLang="en-US" sz="2000">
                <a:solidFill>
                  <a:srgbClr val="92D050"/>
                </a:solidFill>
              </a:rPr>
              <a:t>循环体（缩进的代码块）</a:t>
            </a:r>
            <a:endParaRPr lang="zh-CN" altLang="en-US" sz="2000">
              <a:solidFill>
                <a:srgbClr val="92D050"/>
              </a:solidFill>
            </a:endParaRPr>
          </a:p>
          <a:p>
            <a:endParaRPr lang="en-US" altLang="zh-CN" sz="2000">
              <a:solidFill>
                <a:srgbClr val="00B050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条件表达式：每次循环开始前会判断该表达式的真假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当条件为</a:t>
            </a:r>
            <a:r>
              <a:rPr lang="en-US" altLang="zh-CN" sz="2000">
                <a:solidFill>
                  <a:schemeClr val="bg1"/>
                </a:solidFill>
              </a:rPr>
              <a:t> True </a:t>
            </a:r>
            <a:r>
              <a:rPr lang="zh-CN" altLang="en-US" sz="2000">
                <a:solidFill>
                  <a:schemeClr val="bg1"/>
                </a:solidFill>
              </a:rPr>
              <a:t>时，</a:t>
            </a:r>
            <a:r>
              <a:rPr lang="zh-CN" altLang="en-US" sz="2000">
                <a:solidFill>
                  <a:srgbClr val="FFC014"/>
                </a:solidFill>
              </a:rPr>
              <a:t>执行循环体</a:t>
            </a:r>
            <a:r>
              <a:rPr lang="zh-CN" altLang="en-US" sz="2000">
                <a:solidFill>
                  <a:schemeClr val="bg1"/>
                </a:solidFill>
              </a:rPr>
              <a:t>；执行完毕后再次判断条件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当条件为</a:t>
            </a:r>
            <a:r>
              <a:rPr lang="en-US" altLang="zh-CN" sz="2000">
                <a:solidFill>
                  <a:schemeClr val="bg1"/>
                </a:solidFill>
              </a:rPr>
              <a:t> False </a:t>
            </a:r>
            <a:r>
              <a:rPr lang="zh-CN" altLang="en-US" sz="2000">
                <a:solidFill>
                  <a:schemeClr val="bg1"/>
                </a:solidFill>
              </a:rPr>
              <a:t>时，</a:t>
            </a:r>
            <a:r>
              <a:rPr lang="zh-CN" altLang="en-US" sz="2000">
                <a:solidFill>
                  <a:srgbClr val="FFC014"/>
                </a:solidFill>
              </a:rPr>
              <a:t>跳出循环</a:t>
            </a:r>
            <a:r>
              <a:rPr lang="zh-CN" altLang="en-US" sz="2000">
                <a:solidFill>
                  <a:schemeClr val="bg1"/>
                </a:solidFill>
              </a:rPr>
              <a:t>，继续执行后续代码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132334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  <a:sym typeface="+mn-ea"/>
              </a:rPr>
              <a:t>基本示例：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endParaRPr lang="en-US" altLang="zh-CN" sz="2000">
              <a:solidFill>
                <a:schemeClr val="bg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bg1"/>
                </a:solidFill>
                <a:sym typeface="+mn-ea"/>
              </a:rPr>
              <a:t>用户输入控制的循环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  <a:p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password = "123456"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input_pwd = ""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while input_pwd != password: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    input_pwd = input("</a:t>
            </a:r>
            <a:r>
              <a:rPr lang="zh-CN" altLang="en-US" sz="2000">
                <a:solidFill>
                  <a:srgbClr val="92D050"/>
                </a:solidFill>
                <a:sym typeface="+mn-ea"/>
              </a:rPr>
              <a:t>请输入密码</a:t>
            </a:r>
            <a:r>
              <a:rPr lang="en-US" altLang="zh-CN" sz="2000">
                <a:solidFill>
                  <a:srgbClr val="92D050"/>
                </a:solidFill>
                <a:sym typeface="+mn-ea"/>
              </a:rPr>
              <a:t>: ")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    if input_pwd != password: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        print("</a:t>
            </a:r>
            <a:r>
              <a:rPr lang="zh-CN" altLang="en-US" sz="2000">
                <a:solidFill>
                  <a:srgbClr val="92D050"/>
                </a:solidFill>
                <a:sym typeface="+mn-ea"/>
              </a:rPr>
              <a:t>密码错误，请重新输入</a:t>
            </a:r>
            <a:r>
              <a:rPr lang="en-US" altLang="zh-CN" sz="2000">
                <a:solidFill>
                  <a:srgbClr val="92D050"/>
                </a:solidFill>
                <a:sym typeface="+mn-ea"/>
              </a:rPr>
              <a:t>")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r>
              <a:rPr lang="en-US" altLang="zh-CN" sz="2000">
                <a:solidFill>
                  <a:srgbClr val="92D050"/>
                </a:solidFill>
                <a:sym typeface="+mn-ea"/>
              </a:rPr>
              <a:t>print("</a:t>
            </a:r>
            <a:r>
              <a:rPr lang="zh-CN" altLang="en-US" sz="2000">
                <a:solidFill>
                  <a:srgbClr val="92D050"/>
                </a:solidFill>
                <a:sym typeface="+mn-ea"/>
              </a:rPr>
              <a:t>密码正确，登录成功</a:t>
            </a:r>
            <a:r>
              <a:rPr lang="en-US" altLang="zh-CN" sz="2000">
                <a:solidFill>
                  <a:srgbClr val="92D050"/>
                </a:solidFill>
                <a:sym typeface="+mn-ea"/>
              </a:rPr>
              <a:t>")</a:t>
            </a:r>
            <a:endParaRPr lang="en-US" altLang="zh-CN" sz="2000">
              <a:solidFill>
                <a:srgbClr val="92D050"/>
              </a:solidFill>
              <a:sym typeface="+mn-ea"/>
            </a:endParaRPr>
          </a:p>
          <a:p>
            <a:endParaRPr lang="en-US" altLang="zh-CN" sz="2000">
              <a:solidFill>
                <a:srgbClr val="92D05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4.Python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8680" y="821690"/>
            <a:ext cx="583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4.2while</a:t>
            </a:r>
            <a:r>
              <a:rPr lang="zh-CN" altLang="en-US">
                <a:solidFill>
                  <a:schemeClr val="bg1"/>
                </a:solidFill>
              </a:rPr>
              <a:t>循环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860" y="125349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与</a:t>
            </a:r>
            <a:r>
              <a:rPr lang="en-US" altLang="zh-CN" sz="2000">
                <a:solidFill>
                  <a:schemeClr val="bg1"/>
                </a:solidFill>
              </a:rPr>
              <a:t> while </a:t>
            </a:r>
            <a:r>
              <a:rPr lang="zh-CN" altLang="en-US" sz="2000">
                <a:solidFill>
                  <a:schemeClr val="bg1"/>
                </a:solidFill>
              </a:rPr>
              <a:t>循环配合使用的关键字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break</a:t>
            </a:r>
            <a:r>
              <a:rPr lang="zh-CN" altLang="en-US" sz="2000">
                <a:solidFill>
                  <a:schemeClr val="bg1"/>
                </a:solidFill>
              </a:rPr>
              <a:t>：立即终止循环，无论条件是否为真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count = 0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while count &lt; 10: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print(count)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if count == 3: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    break  # </a:t>
            </a:r>
            <a:r>
              <a:rPr lang="zh-CN" altLang="en-US" sz="2000">
                <a:solidFill>
                  <a:srgbClr val="92D050"/>
                </a:solidFill>
              </a:rPr>
              <a:t>当</a:t>
            </a:r>
            <a:r>
              <a:rPr lang="en-US" altLang="zh-CN" sz="2000">
                <a:solidFill>
                  <a:srgbClr val="92D050"/>
                </a:solidFill>
              </a:rPr>
              <a:t>count</a:t>
            </a:r>
            <a:r>
              <a:rPr lang="zh-CN" altLang="en-US" sz="2000">
                <a:solidFill>
                  <a:srgbClr val="92D050"/>
                </a:solidFill>
              </a:rPr>
              <a:t>等于</a:t>
            </a:r>
            <a:r>
              <a:rPr lang="en-US" altLang="zh-CN" sz="2000">
                <a:solidFill>
                  <a:srgbClr val="92D050"/>
                </a:solidFill>
              </a:rPr>
              <a:t>3</a:t>
            </a:r>
            <a:r>
              <a:rPr lang="zh-CN" altLang="en-US" sz="2000">
                <a:solidFill>
                  <a:srgbClr val="92D050"/>
                </a:solidFill>
              </a:rPr>
              <a:t>时强制退出循环</a:t>
            </a:r>
            <a:endParaRPr lang="zh-CN" altLang="en-US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count += 1</a:t>
            </a:r>
            <a:endParaRPr lang="en-US" altLang="zh-CN" sz="2000">
              <a:solidFill>
                <a:srgbClr val="92D050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输出：</a:t>
            </a:r>
            <a:r>
              <a:rPr lang="en-US" altLang="zh-CN" sz="2000">
                <a:solidFill>
                  <a:schemeClr val="bg1"/>
                </a:solidFill>
              </a:rPr>
              <a:t>0 1 2 3</a:t>
            </a:r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88100" y="384810"/>
            <a:ext cx="5155565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92D050"/>
                </a:solidFill>
              </a:rPr>
              <a:t>continue</a:t>
            </a:r>
            <a:r>
              <a:rPr lang="zh-CN" altLang="en-US" sz="2000">
                <a:solidFill>
                  <a:schemeClr val="bg1"/>
                </a:solidFill>
              </a:rPr>
              <a:t>：跳过当前循环的剩余部分，直接进入下一次循环判断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count = 0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while count &lt; 5: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count += 1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if count == 3: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    continue  # </a:t>
            </a:r>
            <a:r>
              <a:rPr lang="zh-CN" altLang="en-US" sz="2000">
                <a:solidFill>
                  <a:srgbClr val="92D050"/>
                </a:solidFill>
              </a:rPr>
              <a:t>跳过</a:t>
            </a:r>
            <a:r>
              <a:rPr lang="en-US" altLang="zh-CN" sz="2000">
                <a:solidFill>
                  <a:srgbClr val="92D050"/>
                </a:solidFill>
              </a:rPr>
              <a:t>count=3</a:t>
            </a:r>
            <a:r>
              <a:rPr lang="zh-CN" altLang="en-US" sz="2000">
                <a:solidFill>
                  <a:srgbClr val="92D050"/>
                </a:solidFill>
              </a:rPr>
              <a:t>的情况</a:t>
            </a:r>
            <a:endParaRPr lang="zh-CN" altLang="en-US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print(count)</a:t>
            </a:r>
            <a:endParaRPr lang="en-US" altLang="zh-CN" sz="2000">
              <a:solidFill>
                <a:srgbClr val="92D050"/>
              </a:solidFill>
            </a:endParaRPr>
          </a:p>
          <a:p>
            <a:endParaRPr lang="en-US" altLang="zh-CN" sz="2000">
              <a:solidFill>
                <a:srgbClr val="00B050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输出：</a:t>
            </a:r>
            <a:r>
              <a:rPr lang="en-US" altLang="zh-CN" sz="2000">
                <a:solidFill>
                  <a:schemeClr val="bg1"/>
                </a:solidFill>
              </a:rPr>
              <a:t>1 2 4 5</a:t>
            </a:r>
            <a:endParaRPr lang="en-US" altLang="zh-CN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else</a:t>
            </a:r>
            <a:r>
              <a:rPr lang="zh-CN" altLang="en-US" sz="2000">
                <a:solidFill>
                  <a:schemeClr val="bg1"/>
                </a:solidFill>
              </a:rPr>
              <a:t>：当循环因条件为假而自然结束时执行（如果通过</a:t>
            </a:r>
            <a:r>
              <a:rPr lang="en-US" altLang="zh-CN" sz="2000">
                <a:solidFill>
                  <a:schemeClr val="bg1"/>
                </a:solidFill>
              </a:rPr>
              <a:t> break </a:t>
            </a:r>
            <a:r>
              <a:rPr lang="zh-CN" altLang="en-US" sz="2000">
                <a:solidFill>
                  <a:schemeClr val="bg1"/>
                </a:solidFill>
              </a:rPr>
              <a:t>终止则不执行）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count = 0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while count &lt; 3: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print(count)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count += 1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else:</a:t>
            </a:r>
            <a:endParaRPr lang="en-US" altLang="zh-CN" sz="2000">
              <a:solidFill>
                <a:srgbClr val="92D050"/>
              </a:solidFill>
            </a:endParaRPr>
          </a:p>
          <a:p>
            <a:r>
              <a:rPr lang="en-US" altLang="zh-CN" sz="2000">
                <a:solidFill>
                  <a:srgbClr val="92D050"/>
                </a:solidFill>
              </a:rPr>
              <a:t>    print("</a:t>
            </a:r>
            <a:r>
              <a:rPr lang="zh-CN" altLang="en-US" sz="2000">
                <a:solidFill>
                  <a:srgbClr val="92D050"/>
                </a:solidFill>
              </a:rPr>
              <a:t>循环正常结束</a:t>
            </a:r>
            <a:r>
              <a:rPr lang="en-US" altLang="zh-CN" sz="2000">
                <a:solidFill>
                  <a:srgbClr val="92D050"/>
                </a:solidFill>
              </a:rPr>
              <a:t>")</a:t>
            </a:r>
            <a:r>
              <a:rPr lang="en-US" altLang="zh-CN" sz="2000">
                <a:solidFill>
                  <a:srgbClr val="00B050"/>
                </a:solidFill>
              </a:rPr>
              <a:t>  </a:t>
            </a:r>
            <a:r>
              <a:rPr lang="en-US" altLang="zh-CN" sz="2000">
                <a:solidFill>
                  <a:srgbClr val="FFC014"/>
                </a:solidFill>
              </a:rPr>
              <a:t># </a:t>
            </a:r>
            <a:r>
              <a:rPr lang="zh-CN" altLang="en-US" sz="2000">
                <a:solidFill>
                  <a:srgbClr val="FFC014"/>
                </a:solidFill>
              </a:rPr>
              <a:t>会执行</a:t>
            </a:r>
            <a:endParaRPr lang="zh-CN" altLang="en-US" sz="2000">
              <a:solidFill>
                <a:srgbClr val="FFC01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680" y="307961"/>
            <a:ext cx="51995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学习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资料</a:t>
            </a: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87675" y="851535"/>
            <a:ext cx="2769870" cy="573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C014"/>
                </a:solidFill>
              </a:rPr>
              <a:t>BV1Jgf6YvE8e</a:t>
            </a:r>
            <a:endParaRPr lang="en-US" altLang="zh-CN" sz="2000">
              <a:solidFill>
                <a:srgbClr val="FFC014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765" y="1338580"/>
            <a:ext cx="8666480" cy="51847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5800" y="851535"/>
            <a:ext cx="2769870" cy="573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bg1"/>
                </a:solidFill>
              </a:rPr>
              <a:t>复制打开</a:t>
            </a:r>
            <a:r>
              <a:rPr lang="en-US" altLang="zh-CN" sz="2000">
                <a:solidFill>
                  <a:schemeClr val="bg1"/>
                </a:solidFill>
              </a:rPr>
              <a:t>B</a:t>
            </a:r>
            <a:r>
              <a:rPr lang="zh-CN" altLang="en-US" sz="2000">
                <a:solidFill>
                  <a:schemeClr val="bg1"/>
                </a:solidFill>
              </a:rPr>
              <a:t>站</a:t>
            </a:r>
            <a:r>
              <a:rPr lang="zh-CN" altLang="en-US" sz="2000">
                <a:solidFill>
                  <a:schemeClr val="bg1"/>
                </a:solidFill>
              </a:rPr>
              <a:t>即可：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146550" y="3165709"/>
            <a:ext cx="420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https://github.com/ultralytics/ultralytics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"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Content Placeholder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"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0" name="Title 6"/>
          <p:cNvSpPr txBox="1"/>
          <p:nvPr/>
        </p:nvSpPr>
        <p:spPr>
          <a:xfrm>
            <a:off x="3114676" y="2095499"/>
            <a:ext cx="7553324" cy="14144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bg1"/>
                </a:solidFill>
                <a:effectLst>
                  <a:glow rad="127000">
                    <a:srgbClr val="0669FD">
                      <a:alpha val="50000"/>
                    </a:srgbClr>
                  </a:glo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glow rad="127000">
                    <a:srgbClr val="0669FD">
                      <a:alpha val="50000"/>
                    </a:srgbClr>
                  </a:glo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感谢参加培训学习</a:t>
            </a:r>
            <a:b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glow rad="127000">
                    <a:srgbClr val="0669FD">
                      <a:alpha val="50000"/>
                    </a:srgbClr>
                  </a:glo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</a:b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glow rad="127000">
                    <a:srgbClr val="0669FD">
                      <a:alpha val="50000"/>
                    </a:srgbClr>
                  </a:glo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祝考核</a:t>
            </a: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>
                  <a:glow rad="127000">
                    <a:srgbClr val="0669FD">
                      <a:alpha val="50000"/>
                    </a:srgbClr>
                  </a:glo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顺利</a:t>
            </a: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>
                <a:glow rad="127000">
                  <a:srgbClr val="0669FD">
                    <a:alpha val="5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50" y="1776985"/>
            <a:ext cx="1825053" cy="1825053"/>
          </a:xfrm>
          <a:prstGeom prst="rect">
            <a:avLst/>
          </a:prstGeom>
          <a:effectLst>
            <a:glow rad="317500">
              <a:sysClr val="window" lastClr="FFFFFF">
                <a:alpha val="70000"/>
              </a:sys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2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3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4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5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6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7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8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9.xml><?xml version="1.0" encoding="utf-8"?>
<p:tagLst xmlns:p="http://schemas.openxmlformats.org/presentationml/2006/main">
  <p:tag name="KSO_WM_DIAGRAM_VIRTUALLY_FRAME" val="{&quot;height&quot;:246.35755905511814,&quot;left&quot;:334.8531496062992,&quot;top&quot;:130.50708661417323,&quot;width&quot;:251.2944094488189}"/>
</p:tagLst>
</file>

<file path=ppt/tags/tag10.xml><?xml version="1.0" encoding="utf-8"?>
<p:tagLst xmlns:p="http://schemas.openxmlformats.org/presentationml/2006/main">
  <p:tag name="TABLE_ENDDRAG_ORIGIN_RECT" val="883*269"/>
  <p:tag name="TABLE_ENDDRAG_RECT" val="55*77*883*269"/>
</p:tagLst>
</file>

<file path=ppt/tags/tag11.xml><?xml version="1.0" encoding="utf-8"?>
<p:tagLst xmlns:p="http://schemas.openxmlformats.org/presentationml/2006/main">
  <p:tag name="TABLE_ENDDRAG_ORIGIN_RECT" val="883*250"/>
  <p:tag name="TABLE_ENDDRAG_RECT" val="28*340*883*25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8425</Words>
  <Application>WPS 演示</Application>
  <PresentationFormat>宽屏</PresentationFormat>
  <Paragraphs>604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等线</vt:lpstr>
      <vt:lpstr>Symbol</vt:lpstr>
      <vt:lpstr>Arial</vt:lpstr>
      <vt:lpstr>华光毛体行楷</vt:lpstr>
      <vt:lpstr>Source Han Sans</vt:lpstr>
      <vt:lpstr>OPPOSans H</vt:lpstr>
      <vt:lpstr>Segoe Print</vt:lpstr>
      <vt:lpstr>Source Han Sans CN Bold</vt:lpstr>
      <vt:lpstr>华文楷体</vt:lpstr>
      <vt:lpstr>Times New Roman</vt:lpstr>
      <vt:lpstr>仿宋</vt:lpstr>
      <vt:lpstr>Calibri</vt:lpstr>
      <vt:lpstr>DejaVu Sans</vt:lpstr>
      <vt:lpstr>微软雅黑</vt:lpstr>
      <vt:lpstr>Arial Unicode MS</vt:lpstr>
      <vt:lpstr>华文中宋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 j</dc:creator>
  <cp:lastModifiedBy>£</cp:lastModifiedBy>
  <cp:revision>30</cp:revision>
  <dcterms:created xsi:type="dcterms:W3CDTF">2025-09-08T01:58:00Z</dcterms:created>
  <dcterms:modified xsi:type="dcterms:W3CDTF">2025-10-18T07:44:08Z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51</vt:r8>
  </property>
  <property fmtid="{D5CDD505-2E9C-101B-9397-08002B2CF9AE}" pid="4" name="ICV">
    <vt:lpwstr>0E1F55AC9D3544CBAA120D5BA5252974_12</vt:lpwstr>
  </property>
  <property fmtid="{D5CDD505-2E9C-101B-9397-08002B2CF9AE}" pid="5" name="KSOProductBuildVer">
    <vt:lpwstr>2052-12.1.0.23125</vt:lpwstr>
  </property>
</Properties>
</file>